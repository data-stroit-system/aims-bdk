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  <p:sldMasterId id="2147483696" r:id="rId2"/>
  </p:sldMasterIdLst>
  <p:notesMasterIdLst>
    <p:notesMasterId r:id="rId30"/>
  </p:notesMasterIdLst>
  <p:sldIdLst>
    <p:sldId id="257" r:id="rId3"/>
    <p:sldId id="411" r:id="rId4"/>
    <p:sldId id="412" r:id="rId5"/>
    <p:sldId id="413" r:id="rId6"/>
    <p:sldId id="379" r:id="rId7"/>
    <p:sldId id="383" r:id="rId8"/>
    <p:sldId id="384" r:id="rId9"/>
    <p:sldId id="386" r:id="rId10"/>
    <p:sldId id="409" r:id="rId11"/>
    <p:sldId id="392" r:id="rId12"/>
    <p:sldId id="393" r:id="rId13"/>
    <p:sldId id="405" r:id="rId14"/>
    <p:sldId id="406" r:id="rId15"/>
    <p:sldId id="407" r:id="rId16"/>
    <p:sldId id="415" r:id="rId17"/>
    <p:sldId id="395" r:id="rId18"/>
    <p:sldId id="401" r:id="rId19"/>
    <p:sldId id="410" r:id="rId20"/>
    <p:sldId id="397" r:id="rId21"/>
    <p:sldId id="398" r:id="rId22"/>
    <p:sldId id="399" r:id="rId23"/>
    <p:sldId id="400" r:id="rId24"/>
    <p:sldId id="403" r:id="rId25"/>
    <p:sldId id="416" r:id="rId26"/>
    <p:sldId id="402" r:id="rId27"/>
    <p:sldId id="414" r:id="rId28"/>
    <p:sldId id="404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66CC"/>
    <a:srgbClr val="FFEF94"/>
    <a:srgbClr val="2D6A87"/>
    <a:srgbClr val="6E98A7"/>
    <a:srgbClr val="DE2328"/>
    <a:srgbClr val="CC3300"/>
    <a:srgbClr val="336699"/>
    <a:srgbClr val="CE232B"/>
    <a:srgbClr val="23536B"/>
    <a:srgbClr val="DE76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86" autoAdjust="0"/>
    <p:restoredTop sz="96104" autoAdjust="0"/>
  </p:normalViewPr>
  <p:slideViewPr>
    <p:cSldViewPr snapToGrid="0">
      <p:cViewPr varScale="1">
        <p:scale>
          <a:sx n="105" d="100"/>
          <a:sy n="105" d="100"/>
        </p:scale>
        <p:origin x="56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D2A8B0-5D97-4E29-8083-2714566FCB07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6F5ABD-96C1-47DC-BBDD-71C2C92B2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267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A45FF-3DB6-6CBB-C706-FD19531E6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8E7DCA-4EDC-0538-22B3-9B8154DED9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303EEF-D389-1EEC-D05F-CC0EB3F10E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Halaman Sign in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47341F-2CD3-08B7-4980-76F36031F2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6F5ABD-96C1-47DC-BBDD-71C2C92B244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2726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B6561-5EBD-1282-D7FD-3B7423F1C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1DCCB6-2B9D-C7E7-2A97-FEA4FC63CA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624809-2EE8-86CF-9E4F-DE07719E3D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Halaman Sign in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31C851-2331-9E03-E1FE-22C7E2E369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6F5ABD-96C1-47DC-BBDD-71C2C92B244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66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Halaman Sign in</a:t>
            </a:r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6F5ABD-96C1-47DC-BBDD-71C2C92B244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4459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94F2E-8386-7AB4-A7C8-93752117A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CFD515-3D0B-E4DF-B2AB-D4C1B410B0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A0DFD3-0FA9-AF69-37D5-870AD565E9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Halaman dashboard / home</a:t>
            </a:r>
          </a:p>
          <a:p>
            <a:r>
              <a:rPr lang="en-US" dirty="0"/>
              <a:t>Action: N/A</a:t>
            </a:r>
          </a:p>
          <a:p>
            <a:r>
              <a:rPr lang="en-US" dirty="0" err="1"/>
              <a:t>Muncul</a:t>
            </a:r>
            <a:r>
              <a:rPr lang="en-US" dirty="0"/>
              <a:t> </a:t>
            </a:r>
            <a:r>
              <a:rPr lang="en-US" dirty="0" err="1"/>
              <a:t>peta</a:t>
            </a:r>
            <a:r>
              <a:rPr lang="en-US" dirty="0"/>
              <a:t> </a:t>
            </a:r>
            <a:r>
              <a:rPr lang="en-US" dirty="0" err="1"/>
              <a:t>Badak</a:t>
            </a:r>
            <a:r>
              <a:rPr lang="en-US" dirty="0"/>
              <a:t> NGL </a:t>
            </a:r>
            <a:r>
              <a:rPr lang="en-US" dirty="0" err="1"/>
              <a:t>keseluruhan</a:t>
            </a:r>
            <a:endParaRPr lang="en-US" dirty="0"/>
          </a:p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40460B-FD12-89F5-E51F-EE6FE42926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6F5ABD-96C1-47DC-BBDD-71C2C92B244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0771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AAFBA4-EFF6-4AE6-C91F-9DA6AFC7A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F5947F-CE30-DC69-56D2-10146E4A0A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ECDF57-9F34-279A-1859-43D788E469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Halaman Dashboard</a:t>
            </a:r>
          </a:p>
          <a:p>
            <a:r>
              <a:rPr lang="en-US" dirty="0"/>
              <a:t>Action: </a:t>
            </a:r>
            <a:r>
              <a:rPr lang="en-US" dirty="0" err="1"/>
              <a:t>Klik</a:t>
            </a:r>
            <a:r>
              <a:rPr lang="en-US" dirty="0"/>
              <a:t> </a:t>
            </a:r>
            <a:r>
              <a:rPr lang="en-US" b="1" dirty="0" err="1"/>
              <a:t>Spesfik</a:t>
            </a:r>
            <a:r>
              <a:rPr lang="en-US" b="1" dirty="0"/>
              <a:t> Plant </a:t>
            </a:r>
            <a:r>
              <a:rPr lang="en-US" dirty="0"/>
              <a:t>pada </a:t>
            </a:r>
            <a:r>
              <a:rPr lang="en-US" b="1" dirty="0"/>
              <a:t>Asset Tree</a:t>
            </a:r>
          </a:p>
          <a:p>
            <a:r>
              <a:rPr lang="en-ID" b="0" dirty="0" err="1"/>
              <a:t>Muncul</a:t>
            </a:r>
            <a:r>
              <a:rPr lang="en-ID" b="0" dirty="0"/>
              <a:t> </a:t>
            </a:r>
            <a:r>
              <a:rPr lang="en-ID" b="0" dirty="0" err="1"/>
              <a:t>lokasi</a:t>
            </a:r>
            <a:r>
              <a:rPr lang="en-ID" b="0" dirty="0"/>
              <a:t> pada </a:t>
            </a:r>
            <a:r>
              <a:rPr lang="en-ID" b="0" dirty="0" err="1"/>
              <a:t>peta</a:t>
            </a:r>
            <a:r>
              <a:rPr lang="en-ID" b="0" dirty="0"/>
              <a:t> asset-asset yang </a:t>
            </a:r>
            <a:r>
              <a:rPr lang="en-ID" b="0" dirty="0" err="1"/>
              <a:t>masuk</a:t>
            </a:r>
            <a:r>
              <a:rPr lang="en-ID" b="0" dirty="0"/>
              <a:t> </a:t>
            </a:r>
            <a:r>
              <a:rPr lang="en-ID" b="0" dirty="0" err="1"/>
              <a:t>dalam</a:t>
            </a:r>
            <a:r>
              <a:rPr lang="en-ID" b="0" dirty="0"/>
              <a:t> </a:t>
            </a:r>
            <a:r>
              <a:rPr lang="en-ID" b="0" dirty="0" err="1"/>
              <a:t>kelompok</a:t>
            </a:r>
            <a:r>
              <a:rPr lang="en-ID" b="0" dirty="0"/>
              <a:t> </a:t>
            </a:r>
            <a:r>
              <a:rPr lang="en-ID" b="1" dirty="0" err="1"/>
              <a:t>spesifik</a:t>
            </a:r>
            <a:r>
              <a:rPr lang="en-ID" b="1" dirty="0"/>
              <a:t> Plant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47DE0D-765A-D63E-F905-CE5960313A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6F5ABD-96C1-47DC-BBDD-71C2C92B244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5770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85F9F-6036-FBC2-72BF-926DE86E5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5D1A9C-A620-62E3-B1FA-CE4B67713E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EEB99F-4359-865D-D749-1FB8896C87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Action: </a:t>
            </a:r>
            <a:r>
              <a:rPr lang="en-US" dirty="0" err="1"/>
              <a:t>Klik</a:t>
            </a:r>
            <a:r>
              <a:rPr lang="en-US" dirty="0"/>
              <a:t> </a:t>
            </a:r>
            <a:r>
              <a:rPr lang="en-US" b="1" dirty="0" err="1"/>
              <a:t>Spesifik</a:t>
            </a:r>
            <a:r>
              <a:rPr lang="en-US" b="1" dirty="0"/>
              <a:t> Asset </a:t>
            </a:r>
            <a:r>
              <a:rPr lang="en-US" dirty="0"/>
              <a:t>pada </a:t>
            </a:r>
            <a:r>
              <a:rPr lang="en-US" b="1" dirty="0"/>
              <a:t>Asset Tree</a:t>
            </a:r>
          </a:p>
          <a:p>
            <a:r>
              <a:rPr lang="en-US" dirty="0"/>
              <a:t>←||→	: Geser window</a:t>
            </a:r>
          </a:p>
          <a:p>
            <a:r>
              <a:rPr lang="en-US" dirty="0"/>
              <a:t>Peta </a:t>
            </a:r>
            <a:r>
              <a:rPr lang="en-US" dirty="0" err="1"/>
              <a:t>menghilight</a:t>
            </a:r>
            <a:r>
              <a:rPr lang="en-US" dirty="0"/>
              <a:t> </a:t>
            </a:r>
            <a:r>
              <a:rPr lang="en-US" b="1" dirty="0"/>
              <a:t>specific asset</a:t>
            </a:r>
          </a:p>
          <a:p>
            <a:r>
              <a:rPr lang="en-ID" dirty="0"/>
              <a:t>Kolom description </a:t>
            </a:r>
            <a:r>
              <a:rPr lang="en-ID" dirty="0" err="1"/>
              <a:t>menampilkan</a:t>
            </a:r>
            <a:r>
              <a:rPr lang="en-ID" dirty="0"/>
              <a:t> data </a:t>
            </a:r>
            <a:r>
              <a:rPr lang="en-ID" dirty="0" err="1"/>
              <a:t>umum</a:t>
            </a:r>
            <a:r>
              <a:rPr lang="en-ID" dirty="0"/>
              <a:t> asset.</a:t>
            </a:r>
          </a:p>
          <a:p>
            <a:r>
              <a:rPr lang="en-ID" dirty="0"/>
              <a:t>Asset detail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membawa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menu asset details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CAA557-75A7-4AE2-9BA2-8528A80BF2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6F5ABD-96C1-47DC-BBDD-71C2C92B244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2907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853A3E-F5E9-2484-6863-9A2B96E22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AF23C6-2A36-6F59-394B-F5308D5B68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87ECD7-2ECE-038F-6178-F695B89695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Action: </a:t>
            </a:r>
            <a:r>
              <a:rPr lang="en-US" dirty="0" err="1"/>
              <a:t>Klik</a:t>
            </a:r>
            <a:r>
              <a:rPr lang="en-US" dirty="0"/>
              <a:t> </a:t>
            </a:r>
            <a:r>
              <a:rPr lang="en-US" b="1" dirty="0"/>
              <a:t>Asset Details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halaman</a:t>
            </a:r>
            <a:r>
              <a:rPr lang="en-US" dirty="0"/>
              <a:t> sebelumnya</a:t>
            </a:r>
          </a:p>
          <a:p>
            <a:r>
              <a:rPr lang="en-US" dirty="0" err="1"/>
              <a:t>Menampilkan</a:t>
            </a:r>
            <a:r>
              <a:rPr lang="en-US" dirty="0"/>
              <a:t> form detail asset </a:t>
            </a:r>
            <a:r>
              <a:rPr lang="en-US" dirty="0" err="1"/>
              <a:t>berupa</a:t>
            </a:r>
            <a:r>
              <a:rPr lang="en-US" dirty="0"/>
              <a:t> asset register, asset attribute, dan </a:t>
            </a:r>
            <a:r>
              <a:rPr lang="en-US" dirty="0" err="1"/>
              <a:t>lokasi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Untuk </a:t>
            </a:r>
            <a:r>
              <a:rPr lang="en-US" dirty="0" err="1"/>
              <a:t>inputan</a:t>
            </a:r>
            <a:r>
              <a:rPr lang="en-US" dirty="0"/>
              <a:t> QR Code </a:t>
            </a:r>
            <a:r>
              <a:rPr lang="en-US" dirty="0" err="1"/>
              <a:t>memerlukan</a:t>
            </a:r>
            <a:r>
              <a:rPr lang="en-US" dirty="0"/>
              <a:t> diskusi dengan mas </a:t>
            </a:r>
            <a:r>
              <a:rPr lang="en-US" dirty="0" err="1"/>
              <a:t>Gadael</a:t>
            </a:r>
            <a:r>
              <a:rPr lang="en-US" dirty="0"/>
              <a:t>/mas Philip/mas Aldi, apakah di generate </a:t>
            </a:r>
            <a:r>
              <a:rPr lang="en-US" dirty="0" err="1"/>
              <a:t>otomatis</a:t>
            </a:r>
            <a:r>
              <a:rPr lang="en-US" dirty="0"/>
              <a:t> dalam SIMS atau di generate </a:t>
            </a:r>
            <a:r>
              <a:rPr lang="en-US" dirty="0" err="1"/>
              <a:t>dilaur</a:t>
            </a:r>
            <a:r>
              <a:rPr lang="en-US" dirty="0"/>
              <a:t> sims dan di input dalam sims.</a:t>
            </a:r>
          </a:p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500D4E-72BD-B03F-1C08-2EF2B64030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6F5ABD-96C1-47DC-BBDD-71C2C92B244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5328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CA175-B8DA-AB3F-9880-1F6D1F1AD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F19FC9-D798-6637-D72F-2105B176EA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A953A5-4B62-A1FB-3023-244B96BC29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Action: </a:t>
            </a:r>
            <a:r>
              <a:rPr lang="en-US" dirty="0" err="1"/>
              <a:t>Klik</a:t>
            </a:r>
            <a:r>
              <a:rPr lang="en-US" dirty="0"/>
              <a:t> </a:t>
            </a:r>
            <a:r>
              <a:rPr lang="en-US" b="1" dirty="0"/>
              <a:t>Edit</a:t>
            </a:r>
            <a:r>
              <a:rPr lang="en-US" dirty="0"/>
              <a:t> pada </a:t>
            </a:r>
            <a:r>
              <a:rPr lang="en-US" dirty="0" err="1"/>
              <a:t>halaman</a:t>
            </a:r>
            <a:r>
              <a:rPr lang="en-US" dirty="0"/>
              <a:t> sebelumnya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AEB9F0-EB4F-6223-C10B-C53A44A7C4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6F5ABD-96C1-47DC-BBDD-71C2C92B244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6600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 di </a:t>
            </a:r>
            <a:r>
              <a:rPr lang="en-US" dirty="0" err="1"/>
              <a:t>usulkan</a:t>
            </a:r>
            <a:r>
              <a:rPr lang="en-US" dirty="0"/>
              <a:t> </a:t>
            </a:r>
            <a:r>
              <a:rPr lang="en-US" dirty="0" err="1"/>
              <a:t>langsung</a:t>
            </a:r>
            <a:r>
              <a:rPr lang="en-US" dirty="0"/>
              <a:t> </a:t>
            </a:r>
            <a:r>
              <a:rPr lang="en-US" dirty="0" err="1"/>
              <a:t>muncul</a:t>
            </a:r>
            <a:r>
              <a:rPr lang="en-US" dirty="0"/>
              <a:t> di </a:t>
            </a:r>
            <a:r>
              <a:rPr lang="en-US" dirty="0" err="1"/>
              <a:t>sebelah</a:t>
            </a:r>
            <a:r>
              <a:rPr lang="en-US" dirty="0"/>
              <a:t> year installed, </a:t>
            </a:r>
          </a:p>
          <a:p>
            <a:r>
              <a:rPr lang="en-US" dirty="0" err="1"/>
              <a:t>Altertnatifnya</a:t>
            </a:r>
            <a:r>
              <a:rPr lang="en-US" dirty="0"/>
              <a:t> dibuatkan </a:t>
            </a:r>
            <a:r>
              <a:rPr lang="en-US" dirty="0" err="1"/>
              <a:t>kolom</a:t>
            </a:r>
            <a:r>
              <a:rPr lang="en-US" dirty="0"/>
              <a:t> </a:t>
            </a:r>
            <a:r>
              <a:rPr lang="en-US" dirty="0" err="1"/>
              <a:t>tersendiri</a:t>
            </a:r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6F5ABD-96C1-47DC-BBDD-71C2C92B244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1775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994356-329A-0115-B4CC-D14DF2ED3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BC19FA-0226-F194-7AE8-069F354813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E93319-1175-E9F2-8723-96132B0482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Condition (GVI) </a:t>
            </a:r>
            <a:r>
              <a:rPr lang="en-US" dirty="0" err="1"/>
              <a:t>bagian</a:t>
            </a:r>
            <a:r>
              <a:rPr lang="en-US" dirty="0"/>
              <a:t> scope dalam SOR,</a:t>
            </a:r>
          </a:p>
          <a:p>
            <a:r>
              <a:rPr lang="en-US" dirty="0" err="1"/>
              <a:t>Tadinya</a:t>
            </a:r>
            <a:r>
              <a:rPr lang="en-US" dirty="0"/>
              <a:t> </a:t>
            </a:r>
            <a:r>
              <a:rPr lang="en-US" dirty="0" err="1"/>
              <a:t>mau</a:t>
            </a:r>
            <a:r>
              <a:rPr lang="en-US" dirty="0"/>
              <a:t> di </a:t>
            </a:r>
            <a:r>
              <a:rPr lang="en-US" dirty="0" err="1"/>
              <a:t>gabung</a:t>
            </a:r>
            <a:r>
              <a:rPr lang="en-US" dirty="0"/>
              <a:t> dalam menu asset register, </a:t>
            </a:r>
            <a:r>
              <a:rPr lang="en-US" dirty="0" err="1"/>
              <a:t>namun</a:t>
            </a:r>
            <a:r>
              <a:rPr lang="en-US" dirty="0"/>
              <a:t> </a:t>
            </a:r>
            <a:r>
              <a:rPr lang="en-US" dirty="0" err="1"/>
              <a:t>terlihat</a:t>
            </a:r>
            <a:r>
              <a:rPr lang="en-US" dirty="0"/>
              <a:t> terlalu </a:t>
            </a:r>
            <a:r>
              <a:rPr lang="en-US" dirty="0" err="1"/>
              <a:t>ramai</a:t>
            </a:r>
            <a:r>
              <a:rPr lang="en-US" dirty="0"/>
              <a:t>, </a:t>
            </a:r>
            <a:r>
              <a:rPr lang="en-US" dirty="0" err="1"/>
              <a:t>jadi</a:t>
            </a:r>
            <a:r>
              <a:rPr lang="en-US" dirty="0"/>
              <a:t> </a:t>
            </a:r>
            <a:r>
              <a:rPr lang="en-US" dirty="0" err="1"/>
              <a:t>diabuatkan</a:t>
            </a:r>
            <a:r>
              <a:rPr lang="en-US" dirty="0"/>
              <a:t> menu </a:t>
            </a:r>
            <a:r>
              <a:rPr lang="en-US" dirty="0" err="1"/>
              <a:t>tersendiri</a:t>
            </a:r>
            <a:r>
              <a:rPr lang="en-US" dirty="0"/>
              <a:t> untuk </a:t>
            </a:r>
            <a:r>
              <a:rPr lang="en-US" dirty="0" err="1"/>
              <a:t>mengakomodir</a:t>
            </a:r>
            <a:r>
              <a:rPr lang="en-US" dirty="0"/>
              <a:t> </a:t>
            </a:r>
            <a:r>
              <a:rPr lang="en-US" dirty="0" err="1"/>
              <a:t>lingkup</a:t>
            </a:r>
            <a:r>
              <a:rPr lang="en-US" dirty="0"/>
              <a:t> kondisi.</a:t>
            </a:r>
          </a:p>
          <a:p>
            <a:endParaRPr lang="en-US" dirty="0"/>
          </a:p>
          <a:p>
            <a:r>
              <a:rPr lang="en-US" dirty="0"/>
              <a:t>Dalam menu ini user </a:t>
            </a:r>
            <a:r>
              <a:rPr lang="en-US" dirty="0" err="1"/>
              <a:t>memasukkan</a:t>
            </a:r>
            <a:r>
              <a:rPr lang="en-US" dirty="0"/>
              <a:t> input kondisi asset, </a:t>
            </a:r>
            <a:r>
              <a:rPr lang="en-US" dirty="0" err="1"/>
              <a:t>catatan</a:t>
            </a:r>
            <a:r>
              <a:rPr lang="en-US" dirty="0"/>
              <a:t> </a:t>
            </a:r>
            <a:r>
              <a:rPr lang="en-US" dirty="0" err="1"/>
              <a:t>hasil</a:t>
            </a:r>
            <a:r>
              <a:rPr lang="en-US" dirty="0"/>
              <a:t> inspeksi dan foto2 </a:t>
            </a:r>
            <a:r>
              <a:rPr lang="en-US" dirty="0" err="1"/>
              <a:t>dokumentasi</a:t>
            </a:r>
            <a:r>
              <a:rPr lang="en-US" dirty="0"/>
              <a:t>.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A9836A-FC12-4045-696B-EC61B0EB4F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6F5ABD-96C1-47DC-BBDD-71C2C92B244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4385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CB0F0-5700-3E95-E318-CDC541E8C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178129-8AB4-58A7-B7C9-6DC603A562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D4FA96-D958-112E-48B1-DBC3C4B22F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4D19A4-63D9-C07B-7779-286CC5116C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6F5ABD-96C1-47DC-BBDD-71C2C92B244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2126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C49D9-15DB-B907-82C2-FAB66397F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995800-1E0C-75AA-FAB0-6FE83247F0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3E4F65-8354-983E-D173-0A965CD2C4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Inspection Module</a:t>
            </a:r>
            <a:r>
              <a:rPr lang="en-US" dirty="0"/>
              <a:t>: Unlocked in the next project phase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F74B9B-5C4D-4430-24DA-611C364B06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6F5ABD-96C1-47DC-BBDD-71C2C92B244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8251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79D91-E42A-D9B3-CF22-2BF761829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8ED7E4-5CFE-E8A5-3D3D-6D98A26ABE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CDB686-7545-98CF-6F9E-A91C406B9E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Risk Based Inspection Module</a:t>
            </a:r>
            <a:r>
              <a:rPr lang="en-US" dirty="0"/>
              <a:t>: Unlocked in the next project phase</a:t>
            </a:r>
            <a:endParaRPr lang="en-ID" dirty="0"/>
          </a:p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2D4F8-B09A-2B06-6DF3-C7B9C8A741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6F5ABD-96C1-47DC-BBDD-71C2C92B244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2784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F8543-2F09-24F7-4EC5-556B63996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E3704C-BD4B-2ABA-1FB0-556A43090C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7BECA7-A970-A2D3-CEA0-F43A984F3B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Technical Document Module</a:t>
            </a:r>
            <a:r>
              <a:rPr lang="en-US" dirty="0"/>
              <a:t>: Unlocked in the next project phase</a:t>
            </a:r>
            <a:endParaRPr lang="en-ID" dirty="0"/>
          </a:p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CD7E35-A54B-C44F-5535-D7BA40A73D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6F5ABD-96C1-47DC-BBDD-71C2C92B244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7930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3BEE2-5886-78A1-7516-D42B3C421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510E49-5EBC-6024-6C43-FEB4C600E2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8FD836-31E7-693E-27B2-E9D7C79ADF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Documentation Module</a:t>
            </a:r>
            <a:r>
              <a:rPr lang="en-US" dirty="0"/>
              <a:t>: Unlocked in the next project phase</a:t>
            </a:r>
            <a:endParaRPr lang="en-ID" dirty="0"/>
          </a:p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333B26-B73C-E994-4F10-462D5BC9B1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6F5ABD-96C1-47DC-BBDD-71C2C92B244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37939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6C7C6-5722-76B5-F02F-AF32510AE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0CD35B-79AF-47BE-6798-C3D450BEF2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877838-16C6-82B2-268C-4B0EED6113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Menu name plate</a:t>
            </a:r>
            <a:r>
              <a:rPr lang="en-ID" dirty="0"/>
              <a:t> </a:t>
            </a:r>
            <a:r>
              <a:rPr lang="en-ID" dirty="0" err="1"/>
              <a:t>menampilkan</a:t>
            </a:r>
            <a:r>
              <a:rPr lang="en-ID" dirty="0"/>
              <a:t> preview name plate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memanggil</a:t>
            </a:r>
            <a:r>
              <a:rPr lang="en-ID" dirty="0"/>
              <a:t> item:</a:t>
            </a:r>
          </a:p>
          <a:p>
            <a:r>
              <a:rPr lang="en-ID" dirty="0"/>
              <a:t>QR Code</a:t>
            </a:r>
          </a:p>
          <a:p>
            <a:r>
              <a:rPr lang="en-ID" dirty="0"/>
              <a:t>Civil asset description</a:t>
            </a:r>
          </a:p>
          <a:p>
            <a:r>
              <a:rPr lang="en-ID" dirty="0"/>
              <a:t>Civil Tag no.</a:t>
            </a:r>
          </a:p>
          <a:p>
            <a:endParaRPr lang="en-ID" dirty="0"/>
          </a:p>
          <a:p>
            <a:r>
              <a:rPr lang="en-ID" dirty="0"/>
              <a:t>Dan </a:t>
            </a:r>
            <a:r>
              <a:rPr lang="en-ID" dirty="0" err="1"/>
              <a:t>terdapat</a:t>
            </a:r>
            <a:r>
              <a:rPr lang="en-ID" dirty="0"/>
              <a:t> menu print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mencetak</a:t>
            </a:r>
            <a:r>
              <a:rPr lang="en-ID" dirty="0"/>
              <a:t> </a:t>
            </a:r>
            <a:r>
              <a:rPr lang="en-ID" dirty="0" err="1"/>
              <a:t>desain</a:t>
            </a:r>
            <a:r>
              <a:rPr lang="en-ID" dirty="0"/>
              <a:t> name plate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0B5BE4-20B1-09A4-2A79-9E43A2E27B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6F5ABD-96C1-47DC-BBDD-71C2C92B244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63226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051CB-7631-05F0-855F-CF8BA1D6A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002B0C-C899-0EDE-376B-1F7FB6E8DC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E15EEA-5FCA-B94F-1742-2BF0CD1BAB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Asset Register</a:t>
            </a:r>
          </a:p>
          <a:p>
            <a:r>
              <a:rPr lang="en-US" dirty="0" err="1"/>
              <a:t>Menarik</a:t>
            </a:r>
            <a:r>
              <a:rPr lang="en-US" dirty="0"/>
              <a:t> data </a:t>
            </a:r>
            <a:r>
              <a:rPr lang="en-US" dirty="0" err="1"/>
              <a:t>seluruh</a:t>
            </a:r>
            <a:r>
              <a:rPr lang="en-US" dirty="0"/>
              <a:t> asset </a:t>
            </a:r>
            <a:r>
              <a:rPr lang="en-US" dirty="0" err="1"/>
              <a:t>badak</a:t>
            </a:r>
            <a:r>
              <a:rPr lang="en-US" dirty="0"/>
              <a:t> yang sudah deregister.</a:t>
            </a:r>
            <a:endParaRPr lang="en-ID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B5C932-1778-C8E9-59A9-243BDC0176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6F5ABD-96C1-47DC-BBDD-71C2C92B2443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049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9427CC-BC45-34F6-6CFC-F698DAC9B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B65517-CBA8-F761-74D2-66112DA2DE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587E0D-B691-33C9-D01F-B31FCBF994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Asset Register</a:t>
            </a:r>
          </a:p>
          <a:p>
            <a:r>
              <a:rPr lang="en-US" dirty="0"/>
              <a:t>Action: </a:t>
            </a:r>
            <a:r>
              <a:rPr lang="en-US" dirty="0" err="1"/>
              <a:t>Klik</a:t>
            </a:r>
            <a:r>
              <a:rPr lang="en-US" dirty="0"/>
              <a:t> </a:t>
            </a:r>
            <a:r>
              <a:rPr lang="en-US" b="1" dirty="0" err="1"/>
              <a:t>Spesfik</a:t>
            </a:r>
            <a:r>
              <a:rPr lang="en-US" b="1" dirty="0"/>
              <a:t> Plant </a:t>
            </a:r>
            <a:r>
              <a:rPr lang="en-US" dirty="0"/>
              <a:t>pada </a:t>
            </a:r>
            <a:r>
              <a:rPr lang="en-US" b="1" dirty="0"/>
              <a:t>Asset Tree</a:t>
            </a:r>
            <a:endParaRPr lang="en-ID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1D2ED0-F288-FFAF-579C-6D6602CA82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6F5ABD-96C1-47DC-BBDD-71C2C92B2443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1022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0"/>
          <p:cNvSpPr>
            <a:spLocks noEditPoints="1"/>
          </p:cNvSpPr>
          <p:nvPr userDrawn="1"/>
        </p:nvSpPr>
        <p:spPr bwMode="auto">
          <a:xfrm>
            <a:off x="9840385" y="5120640"/>
            <a:ext cx="2349500" cy="1061085"/>
          </a:xfrm>
          <a:custGeom>
            <a:avLst/>
            <a:gdLst>
              <a:gd name="T0" fmla="*/ 4 w 555"/>
              <a:gd name="T1" fmla="*/ 0 h 334"/>
              <a:gd name="T2" fmla="*/ 0 w 555"/>
              <a:gd name="T3" fmla="*/ 1 h 334"/>
              <a:gd name="T4" fmla="*/ 4 w 555"/>
              <a:gd name="T5" fmla="*/ 0 h 334"/>
              <a:gd name="T6" fmla="*/ 29 w 555"/>
              <a:gd name="T7" fmla="*/ 0 h 334"/>
              <a:gd name="T8" fmla="*/ 4 w 555"/>
              <a:gd name="T9" fmla="*/ 0 h 334"/>
              <a:gd name="T10" fmla="*/ 8 w 555"/>
              <a:gd name="T11" fmla="*/ 0 h 334"/>
              <a:gd name="T12" fmla="*/ 555 w 555"/>
              <a:gd name="T13" fmla="*/ 334 h 334"/>
              <a:gd name="T14" fmla="*/ 555 w 555"/>
              <a:gd name="T15" fmla="*/ 253 h 334"/>
              <a:gd name="T16" fmla="*/ 29 w 555"/>
              <a:gd name="T17" fmla="*/ 0 h 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55" h="334">
                <a:moveTo>
                  <a:pt x="4" y="0"/>
                </a:moveTo>
                <a:cubicBezTo>
                  <a:pt x="1" y="1"/>
                  <a:pt x="0" y="1"/>
                  <a:pt x="0" y="1"/>
                </a:cubicBezTo>
                <a:cubicBezTo>
                  <a:pt x="1" y="1"/>
                  <a:pt x="2" y="1"/>
                  <a:pt x="4" y="0"/>
                </a:cubicBezTo>
                <a:moveTo>
                  <a:pt x="29" y="0"/>
                </a:moveTo>
                <a:cubicBezTo>
                  <a:pt x="21" y="0"/>
                  <a:pt x="12" y="0"/>
                  <a:pt x="4" y="0"/>
                </a:cubicBezTo>
                <a:cubicBezTo>
                  <a:pt x="5" y="0"/>
                  <a:pt x="6" y="0"/>
                  <a:pt x="8" y="0"/>
                </a:cubicBezTo>
                <a:cubicBezTo>
                  <a:pt x="56" y="0"/>
                  <a:pt x="319" y="16"/>
                  <a:pt x="555" y="334"/>
                </a:cubicBezTo>
                <a:cubicBezTo>
                  <a:pt x="555" y="253"/>
                  <a:pt x="555" y="253"/>
                  <a:pt x="555" y="253"/>
                </a:cubicBezTo>
                <a:cubicBezTo>
                  <a:pt x="393" y="66"/>
                  <a:pt x="213" y="0"/>
                  <a:pt x="29" y="0"/>
                </a:cubicBezTo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atinLnBrk="0"/>
            <a:endParaRPr lang="ko-KR" altLang="en-US" sz="1800">
              <a:solidFill>
                <a:prstClr val="black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913300" y="1897325"/>
            <a:ext cx="6997616" cy="1772070"/>
          </a:xfrm>
        </p:spPr>
        <p:txBody>
          <a:bodyPr anchor="b">
            <a:noAutofit/>
          </a:bodyPr>
          <a:lstStyle>
            <a:lvl1pPr algn="l">
              <a:lnSpc>
                <a:spcPts val="4500"/>
              </a:lnSpc>
              <a:defRPr sz="4000" i="1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Your Title Here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13300" y="3866343"/>
            <a:ext cx="6997616" cy="988827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ts val="1700"/>
              </a:lnSpc>
              <a:spcBef>
                <a:spcPts val="0"/>
              </a:spcBef>
              <a:buNone/>
              <a:defRPr sz="1300" i="1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11366091" y="359861"/>
            <a:ext cx="346096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Freeform 12"/>
          <p:cNvSpPr>
            <a:spLocks/>
          </p:cNvSpPr>
          <p:nvPr userDrawn="1"/>
        </p:nvSpPr>
        <p:spPr bwMode="auto">
          <a:xfrm>
            <a:off x="6024035" y="1482725"/>
            <a:ext cx="143933" cy="107950"/>
          </a:xfrm>
          <a:custGeom>
            <a:avLst/>
            <a:gdLst>
              <a:gd name="T0" fmla="*/ 68 w 68"/>
              <a:gd name="T1" fmla="*/ 26 h 68"/>
              <a:gd name="T2" fmla="*/ 68 w 68"/>
              <a:gd name="T3" fmla="*/ 40 h 68"/>
              <a:gd name="T4" fmla="*/ 40 w 68"/>
              <a:gd name="T5" fmla="*/ 40 h 68"/>
              <a:gd name="T6" fmla="*/ 40 w 68"/>
              <a:gd name="T7" fmla="*/ 68 h 68"/>
              <a:gd name="T8" fmla="*/ 28 w 68"/>
              <a:gd name="T9" fmla="*/ 68 h 68"/>
              <a:gd name="T10" fmla="*/ 28 w 68"/>
              <a:gd name="T11" fmla="*/ 40 h 68"/>
              <a:gd name="T12" fmla="*/ 0 w 68"/>
              <a:gd name="T13" fmla="*/ 40 h 68"/>
              <a:gd name="T14" fmla="*/ 0 w 68"/>
              <a:gd name="T15" fmla="*/ 26 h 68"/>
              <a:gd name="T16" fmla="*/ 28 w 68"/>
              <a:gd name="T17" fmla="*/ 26 h 68"/>
              <a:gd name="T18" fmla="*/ 28 w 68"/>
              <a:gd name="T19" fmla="*/ 0 h 68"/>
              <a:gd name="T20" fmla="*/ 40 w 68"/>
              <a:gd name="T21" fmla="*/ 0 h 68"/>
              <a:gd name="T22" fmla="*/ 40 w 68"/>
              <a:gd name="T23" fmla="*/ 26 h 68"/>
              <a:gd name="T24" fmla="*/ 68 w 68"/>
              <a:gd name="T25" fmla="*/ 26 h 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68" h="68">
                <a:moveTo>
                  <a:pt x="68" y="26"/>
                </a:moveTo>
                <a:lnTo>
                  <a:pt x="68" y="40"/>
                </a:lnTo>
                <a:lnTo>
                  <a:pt x="40" y="40"/>
                </a:lnTo>
                <a:lnTo>
                  <a:pt x="40" y="68"/>
                </a:lnTo>
                <a:lnTo>
                  <a:pt x="28" y="68"/>
                </a:lnTo>
                <a:lnTo>
                  <a:pt x="28" y="40"/>
                </a:lnTo>
                <a:lnTo>
                  <a:pt x="0" y="40"/>
                </a:lnTo>
                <a:lnTo>
                  <a:pt x="0" y="26"/>
                </a:lnTo>
                <a:lnTo>
                  <a:pt x="28" y="26"/>
                </a:lnTo>
                <a:lnTo>
                  <a:pt x="28" y="0"/>
                </a:lnTo>
                <a:lnTo>
                  <a:pt x="40" y="0"/>
                </a:lnTo>
                <a:lnTo>
                  <a:pt x="40" y="26"/>
                </a:lnTo>
                <a:lnTo>
                  <a:pt x="68" y="2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atinLnBrk="0"/>
            <a:endParaRPr lang="ko-KR" altLang="en-US" sz="1800">
              <a:solidFill>
                <a:prstClr val="black"/>
              </a:solidFill>
            </a:endParaRPr>
          </a:p>
        </p:txBody>
      </p:sp>
      <p:sp>
        <p:nvSpPr>
          <p:cNvPr id="28" name="Freeform 13"/>
          <p:cNvSpPr>
            <a:spLocks/>
          </p:cNvSpPr>
          <p:nvPr userDrawn="1"/>
        </p:nvSpPr>
        <p:spPr bwMode="auto">
          <a:xfrm>
            <a:off x="7454902" y="577850"/>
            <a:ext cx="143933" cy="107950"/>
          </a:xfrm>
          <a:custGeom>
            <a:avLst/>
            <a:gdLst>
              <a:gd name="T0" fmla="*/ 68 w 68"/>
              <a:gd name="T1" fmla="*/ 28 h 68"/>
              <a:gd name="T2" fmla="*/ 68 w 68"/>
              <a:gd name="T3" fmla="*/ 42 h 68"/>
              <a:gd name="T4" fmla="*/ 42 w 68"/>
              <a:gd name="T5" fmla="*/ 42 h 68"/>
              <a:gd name="T6" fmla="*/ 42 w 68"/>
              <a:gd name="T7" fmla="*/ 68 h 68"/>
              <a:gd name="T8" fmla="*/ 28 w 68"/>
              <a:gd name="T9" fmla="*/ 68 h 68"/>
              <a:gd name="T10" fmla="*/ 28 w 68"/>
              <a:gd name="T11" fmla="*/ 42 h 68"/>
              <a:gd name="T12" fmla="*/ 0 w 68"/>
              <a:gd name="T13" fmla="*/ 42 h 68"/>
              <a:gd name="T14" fmla="*/ 0 w 68"/>
              <a:gd name="T15" fmla="*/ 28 h 68"/>
              <a:gd name="T16" fmla="*/ 28 w 68"/>
              <a:gd name="T17" fmla="*/ 28 h 68"/>
              <a:gd name="T18" fmla="*/ 28 w 68"/>
              <a:gd name="T19" fmla="*/ 0 h 68"/>
              <a:gd name="T20" fmla="*/ 42 w 68"/>
              <a:gd name="T21" fmla="*/ 0 h 68"/>
              <a:gd name="T22" fmla="*/ 42 w 68"/>
              <a:gd name="T23" fmla="*/ 28 h 68"/>
              <a:gd name="T24" fmla="*/ 68 w 68"/>
              <a:gd name="T25" fmla="*/ 28 h 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68" h="68">
                <a:moveTo>
                  <a:pt x="68" y="28"/>
                </a:moveTo>
                <a:lnTo>
                  <a:pt x="68" y="42"/>
                </a:lnTo>
                <a:lnTo>
                  <a:pt x="42" y="42"/>
                </a:lnTo>
                <a:lnTo>
                  <a:pt x="42" y="68"/>
                </a:lnTo>
                <a:lnTo>
                  <a:pt x="28" y="68"/>
                </a:lnTo>
                <a:lnTo>
                  <a:pt x="28" y="42"/>
                </a:lnTo>
                <a:lnTo>
                  <a:pt x="0" y="42"/>
                </a:lnTo>
                <a:lnTo>
                  <a:pt x="0" y="28"/>
                </a:lnTo>
                <a:lnTo>
                  <a:pt x="28" y="28"/>
                </a:lnTo>
                <a:lnTo>
                  <a:pt x="28" y="0"/>
                </a:lnTo>
                <a:lnTo>
                  <a:pt x="42" y="0"/>
                </a:lnTo>
                <a:lnTo>
                  <a:pt x="42" y="28"/>
                </a:lnTo>
                <a:lnTo>
                  <a:pt x="68" y="2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atinLnBrk="0"/>
            <a:endParaRPr lang="ko-KR" altLang="en-US" sz="1800">
              <a:solidFill>
                <a:prstClr val="black"/>
              </a:solidFill>
            </a:endParaRPr>
          </a:p>
        </p:txBody>
      </p:sp>
      <p:sp>
        <p:nvSpPr>
          <p:cNvPr id="29" name="Freeform 14"/>
          <p:cNvSpPr>
            <a:spLocks/>
          </p:cNvSpPr>
          <p:nvPr userDrawn="1"/>
        </p:nvSpPr>
        <p:spPr bwMode="auto">
          <a:xfrm>
            <a:off x="8280402" y="1136650"/>
            <a:ext cx="143933" cy="107950"/>
          </a:xfrm>
          <a:custGeom>
            <a:avLst/>
            <a:gdLst>
              <a:gd name="T0" fmla="*/ 68 w 68"/>
              <a:gd name="T1" fmla="*/ 28 h 68"/>
              <a:gd name="T2" fmla="*/ 68 w 68"/>
              <a:gd name="T3" fmla="*/ 40 h 68"/>
              <a:gd name="T4" fmla="*/ 40 w 68"/>
              <a:gd name="T5" fmla="*/ 40 h 68"/>
              <a:gd name="T6" fmla="*/ 40 w 68"/>
              <a:gd name="T7" fmla="*/ 68 h 68"/>
              <a:gd name="T8" fmla="*/ 28 w 68"/>
              <a:gd name="T9" fmla="*/ 68 h 68"/>
              <a:gd name="T10" fmla="*/ 28 w 68"/>
              <a:gd name="T11" fmla="*/ 40 h 68"/>
              <a:gd name="T12" fmla="*/ 0 w 68"/>
              <a:gd name="T13" fmla="*/ 40 h 68"/>
              <a:gd name="T14" fmla="*/ 0 w 68"/>
              <a:gd name="T15" fmla="*/ 28 h 68"/>
              <a:gd name="T16" fmla="*/ 28 w 68"/>
              <a:gd name="T17" fmla="*/ 28 h 68"/>
              <a:gd name="T18" fmla="*/ 28 w 68"/>
              <a:gd name="T19" fmla="*/ 0 h 68"/>
              <a:gd name="T20" fmla="*/ 40 w 68"/>
              <a:gd name="T21" fmla="*/ 0 h 68"/>
              <a:gd name="T22" fmla="*/ 40 w 68"/>
              <a:gd name="T23" fmla="*/ 28 h 68"/>
              <a:gd name="T24" fmla="*/ 68 w 68"/>
              <a:gd name="T25" fmla="*/ 28 h 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68" h="68">
                <a:moveTo>
                  <a:pt x="68" y="28"/>
                </a:moveTo>
                <a:lnTo>
                  <a:pt x="68" y="40"/>
                </a:lnTo>
                <a:lnTo>
                  <a:pt x="40" y="40"/>
                </a:lnTo>
                <a:lnTo>
                  <a:pt x="40" y="68"/>
                </a:lnTo>
                <a:lnTo>
                  <a:pt x="28" y="68"/>
                </a:lnTo>
                <a:lnTo>
                  <a:pt x="28" y="40"/>
                </a:lnTo>
                <a:lnTo>
                  <a:pt x="0" y="40"/>
                </a:lnTo>
                <a:lnTo>
                  <a:pt x="0" y="28"/>
                </a:lnTo>
                <a:lnTo>
                  <a:pt x="28" y="28"/>
                </a:lnTo>
                <a:lnTo>
                  <a:pt x="28" y="0"/>
                </a:lnTo>
                <a:lnTo>
                  <a:pt x="40" y="0"/>
                </a:lnTo>
                <a:lnTo>
                  <a:pt x="40" y="28"/>
                </a:lnTo>
                <a:lnTo>
                  <a:pt x="68" y="2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atinLnBrk="0"/>
            <a:endParaRPr lang="ko-KR" altLang="en-US" sz="1800">
              <a:solidFill>
                <a:prstClr val="black"/>
              </a:solidFill>
            </a:endParaRPr>
          </a:p>
        </p:txBody>
      </p:sp>
      <p:sp>
        <p:nvSpPr>
          <p:cNvPr id="30" name="Freeform 15"/>
          <p:cNvSpPr>
            <a:spLocks/>
          </p:cNvSpPr>
          <p:nvPr userDrawn="1"/>
        </p:nvSpPr>
        <p:spPr bwMode="auto">
          <a:xfrm>
            <a:off x="10001251" y="260350"/>
            <a:ext cx="143933" cy="107950"/>
          </a:xfrm>
          <a:custGeom>
            <a:avLst/>
            <a:gdLst>
              <a:gd name="T0" fmla="*/ 68 w 68"/>
              <a:gd name="T1" fmla="*/ 28 h 68"/>
              <a:gd name="T2" fmla="*/ 68 w 68"/>
              <a:gd name="T3" fmla="*/ 40 h 68"/>
              <a:gd name="T4" fmla="*/ 42 w 68"/>
              <a:gd name="T5" fmla="*/ 40 h 68"/>
              <a:gd name="T6" fmla="*/ 42 w 68"/>
              <a:gd name="T7" fmla="*/ 68 h 68"/>
              <a:gd name="T8" fmla="*/ 28 w 68"/>
              <a:gd name="T9" fmla="*/ 68 h 68"/>
              <a:gd name="T10" fmla="*/ 28 w 68"/>
              <a:gd name="T11" fmla="*/ 40 h 68"/>
              <a:gd name="T12" fmla="*/ 0 w 68"/>
              <a:gd name="T13" fmla="*/ 40 h 68"/>
              <a:gd name="T14" fmla="*/ 0 w 68"/>
              <a:gd name="T15" fmla="*/ 28 h 68"/>
              <a:gd name="T16" fmla="*/ 28 w 68"/>
              <a:gd name="T17" fmla="*/ 28 h 68"/>
              <a:gd name="T18" fmla="*/ 28 w 68"/>
              <a:gd name="T19" fmla="*/ 0 h 68"/>
              <a:gd name="T20" fmla="*/ 42 w 68"/>
              <a:gd name="T21" fmla="*/ 0 h 68"/>
              <a:gd name="T22" fmla="*/ 42 w 68"/>
              <a:gd name="T23" fmla="*/ 28 h 68"/>
              <a:gd name="T24" fmla="*/ 68 w 68"/>
              <a:gd name="T25" fmla="*/ 28 h 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68" h="68">
                <a:moveTo>
                  <a:pt x="68" y="28"/>
                </a:moveTo>
                <a:lnTo>
                  <a:pt x="68" y="40"/>
                </a:lnTo>
                <a:lnTo>
                  <a:pt x="42" y="40"/>
                </a:lnTo>
                <a:lnTo>
                  <a:pt x="42" y="68"/>
                </a:lnTo>
                <a:lnTo>
                  <a:pt x="28" y="68"/>
                </a:lnTo>
                <a:lnTo>
                  <a:pt x="28" y="40"/>
                </a:lnTo>
                <a:lnTo>
                  <a:pt x="0" y="40"/>
                </a:lnTo>
                <a:lnTo>
                  <a:pt x="0" y="28"/>
                </a:lnTo>
                <a:lnTo>
                  <a:pt x="28" y="28"/>
                </a:lnTo>
                <a:lnTo>
                  <a:pt x="28" y="0"/>
                </a:lnTo>
                <a:lnTo>
                  <a:pt x="42" y="0"/>
                </a:lnTo>
                <a:lnTo>
                  <a:pt x="42" y="28"/>
                </a:lnTo>
                <a:lnTo>
                  <a:pt x="68" y="2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atinLnBrk="0"/>
            <a:endParaRPr lang="ko-KR" altLang="en-US" sz="1800">
              <a:solidFill>
                <a:prstClr val="black"/>
              </a:solidFill>
            </a:endParaRPr>
          </a:p>
        </p:txBody>
      </p:sp>
      <p:sp>
        <p:nvSpPr>
          <p:cNvPr id="31" name="Freeform 16"/>
          <p:cNvSpPr>
            <a:spLocks/>
          </p:cNvSpPr>
          <p:nvPr userDrawn="1"/>
        </p:nvSpPr>
        <p:spPr bwMode="auto">
          <a:xfrm>
            <a:off x="10217151" y="993775"/>
            <a:ext cx="143933" cy="107950"/>
          </a:xfrm>
          <a:custGeom>
            <a:avLst/>
            <a:gdLst>
              <a:gd name="T0" fmla="*/ 68 w 68"/>
              <a:gd name="T1" fmla="*/ 26 h 68"/>
              <a:gd name="T2" fmla="*/ 68 w 68"/>
              <a:gd name="T3" fmla="*/ 40 h 68"/>
              <a:gd name="T4" fmla="*/ 42 w 68"/>
              <a:gd name="T5" fmla="*/ 40 h 68"/>
              <a:gd name="T6" fmla="*/ 42 w 68"/>
              <a:gd name="T7" fmla="*/ 68 h 68"/>
              <a:gd name="T8" fmla="*/ 28 w 68"/>
              <a:gd name="T9" fmla="*/ 68 h 68"/>
              <a:gd name="T10" fmla="*/ 28 w 68"/>
              <a:gd name="T11" fmla="*/ 40 h 68"/>
              <a:gd name="T12" fmla="*/ 0 w 68"/>
              <a:gd name="T13" fmla="*/ 40 h 68"/>
              <a:gd name="T14" fmla="*/ 0 w 68"/>
              <a:gd name="T15" fmla="*/ 26 h 68"/>
              <a:gd name="T16" fmla="*/ 28 w 68"/>
              <a:gd name="T17" fmla="*/ 26 h 68"/>
              <a:gd name="T18" fmla="*/ 28 w 68"/>
              <a:gd name="T19" fmla="*/ 0 h 68"/>
              <a:gd name="T20" fmla="*/ 42 w 68"/>
              <a:gd name="T21" fmla="*/ 0 h 68"/>
              <a:gd name="T22" fmla="*/ 42 w 68"/>
              <a:gd name="T23" fmla="*/ 26 h 68"/>
              <a:gd name="T24" fmla="*/ 68 w 68"/>
              <a:gd name="T25" fmla="*/ 26 h 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68" h="68">
                <a:moveTo>
                  <a:pt x="68" y="26"/>
                </a:moveTo>
                <a:lnTo>
                  <a:pt x="68" y="40"/>
                </a:lnTo>
                <a:lnTo>
                  <a:pt x="42" y="40"/>
                </a:lnTo>
                <a:lnTo>
                  <a:pt x="42" y="68"/>
                </a:lnTo>
                <a:lnTo>
                  <a:pt x="28" y="68"/>
                </a:lnTo>
                <a:lnTo>
                  <a:pt x="28" y="40"/>
                </a:lnTo>
                <a:lnTo>
                  <a:pt x="0" y="40"/>
                </a:lnTo>
                <a:lnTo>
                  <a:pt x="0" y="26"/>
                </a:lnTo>
                <a:lnTo>
                  <a:pt x="28" y="26"/>
                </a:lnTo>
                <a:lnTo>
                  <a:pt x="28" y="0"/>
                </a:lnTo>
                <a:lnTo>
                  <a:pt x="42" y="0"/>
                </a:lnTo>
                <a:lnTo>
                  <a:pt x="42" y="26"/>
                </a:lnTo>
                <a:lnTo>
                  <a:pt x="68" y="2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atinLnBrk="0"/>
            <a:endParaRPr lang="ko-KR" altLang="en-US" sz="1800">
              <a:solidFill>
                <a:prstClr val="black"/>
              </a:solidFill>
            </a:endParaRPr>
          </a:p>
        </p:txBody>
      </p:sp>
      <p:sp>
        <p:nvSpPr>
          <p:cNvPr id="32" name="Freeform 17"/>
          <p:cNvSpPr>
            <a:spLocks/>
          </p:cNvSpPr>
          <p:nvPr userDrawn="1"/>
        </p:nvSpPr>
        <p:spPr bwMode="auto">
          <a:xfrm>
            <a:off x="11059584" y="2168525"/>
            <a:ext cx="143933" cy="107950"/>
          </a:xfrm>
          <a:custGeom>
            <a:avLst/>
            <a:gdLst>
              <a:gd name="T0" fmla="*/ 68 w 68"/>
              <a:gd name="T1" fmla="*/ 26 h 68"/>
              <a:gd name="T2" fmla="*/ 68 w 68"/>
              <a:gd name="T3" fmla="*/ 40 h 68"/>
              <a:gd name="T4" fmla="*/ 40 w 68"/>
              <a:gd name="T5" fmla="*/ 40 h 68"/>
              <a:gd name="T6" fmla="*/ 40 w 68"/>
              <a:gd name="T7" fmla="*/ 68 h 68"/>
              <a:gd name="T8" fmla="*/ 28 w 68"/>
              <a:gd name="T9" fmla="*/ 68 h 68"/>
              <a:gd name="T10" fmla="*/ 28 w 68"/>
              <a:gd name="T11" fmla="*/ 40 h 68"/>
              <a:gd name="T12" fmla="*/ 0 w 68"/>
              <a:gd name="T13" fmla="*/ 40 h 68"/>
              <a:gd name="T14" fmla="*/ 0 w 68"/>
              <a:gd name="T15" fmla="*/ 26 h 68"/>
              <a:gd name="T16" fmla="*/ 28 w 68"/>
              <a:gd name="T17" fmla="*/ 26 h 68"/>
              <a:gd name="T18" fmla="*/ 28 w 68"/>
              <a:gd name="T19" fmla="*/ 0 h 68"/>
              <a:gd name="T20" fmla="*/ 40 w 68"/>
              <a:gd name="T21" fmla="*/ 0 h 68"/>
              <a:gd name="T22" fmla="*/ 40 w 68"/>
              <a:gd name="T23" fmla="*/ 26 h 68"/>
              <a:gd name="T24" fmla="*/ 68 w 68"/>
              <a:gd name="T25" fmla="*/ 26 h 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68" h="68">
                <a:moveTo>
                  <a:pt x="68" y="26"/>
                </a:moveTo>
                <a:lnTo>
                  <a:pt x="68" y="40"/>
                </a:lnTo>
                <a:lnTo>
                  <a:pt x="40" y="40"/>
                </a:lnTo>
                <a:lnTo>
                  <a:pt x="40" y="68"/>
                </a:lnTo>
                <a:lnTo>
                  <a:pt x="28" y="68"/>
                </a:lnTo>
                <a:lnTo>
                  <a:pt x="28" y="40"/>
                </a:lnTo>
                <a:lnTo>
                  <a:pt x="0" y="40"/>
                </a:lnTo>
                <a:lnTo>
                  <a:pt x="0" y="26"/>
                </a:lnTo>
                <a:lnTo>
                  <a:pt x="28" y="26"/>
                </a:lnTo>
                <a:lnTo>
                  <a:pt x="28" y="0"/>
                </a:lnTo>
                <a:lnTo>
                  <a:pt x="40" y="0"/>
                </a:lnTo>
                <a:lnTo>
                  <a:pt x="40" y="26"/>
                </a:lnTo>
                <a:lnTo>
                  <a:pt x="68" y="2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atinLnBrk="0"/>
            <a:endParaRPr lang="ko-KR" altLang="en-US" sz="1800">
              <a:solidFill>
                <a:prstClr val="black"/>
              </a:solidFill>
            </a:endParaRPr>
          </a:p>
        </p:txBody>
      </p:sp>
      <p:sp>
        <p:nvSpPr>
          <p:cNvPr id="33" name="Freeform 18"/>
          <p:cNvSpPr>
            <a:spLocks/>
          </p:cNvSpPr>
          <p:nvPr userDrawn="1"/>
        </p:nvSpPr>
        <p:spPr bwMode="auto">
          <a:xfrm>
            <a:off x="11580284" y="441325"/>
            <a:ext cx="143933" cy="107950"/>
          </a:xfrm>
          <a:custGeom>
            <a:avLst/>
            <a:gdLst>
              <a:gd name="T0" fmla="*/ 68 w 68"/>
              <a:gd name="T1" fmla="*/ 28 h 68"/>
              <a:gd name="T2" fmla="*/ 68 w 68"/>
              <a:gd name="T3" fmla="*/ 40 h 68"/>
              <a:gd name="T4" fmla="*/ 40 w 68"/>
              <a:gd name="T5" fmla="*/ 40 h 68"/>
              <a:gd name="T6" fmla="*/ 40 w 68"/>
              <a:gd name="T7" fmla="*/ 68 h 68"/>
              <a:gd name="T8" fmla="*/ 26 w 68"/>
              <a:gd name="T9" fmla="*/ 68 h 68"/>
              <a:gd name="T10" fmla="*/ 26 w 68"/>
              <a:gd name="T11" fmla="*/ 40 h 68"/>
              <a:gd name="T12" fmla="*/ 0 w 68"/>
              <a:gd name="T13" fmla="*/ 40 h 68"/>
              <a:gd name="T14" fmla="*/ 0 w 68"/>
              <a:gd name="T15" fmla="*/ 28 h 68"/>
              <a:gd name="T16" fmla="*/ 26 w 68"/>
              <a:gd name="T17" fmla="*/ 28 h 68"/>
              <a:gd name="T18" fmla="*/ 26 w 68"/>
              <a:gd name="T19" fmla="*/ 0 h 68"/>
              <a:gd name="T20" fmla="*/ 40 w 68"/>
              <a:gd name="T21" fmla="*/ 0 h 68"/>
              <a:gd name="T22" fmla="*/ 40 w 68"/>
              <a:gd name="T23" fmla="*/ 28 h 68"/>
              <a:gd name="T24" fmla="*/ 68 w 68"/>
              <a:gd name="T25" fmla="*/ 28 h 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68" h="68">
                <a:moveTo>
                  <a:pt x="68" y="28"/>
                </a:moveTo>
                <a:lnTo>
                  <a:pt x="68" y="40"/>
                </a:lnTo>
                <a:lnTo>
                  <a:pt x="40" y="40"/>
                </a:lnTo>
                <a:lnTo>
                  <a:pt x="40" y="68"/>
                </a:lnTo>
                <a:lnTo>
                  <a:pt x="26" y="68"/>
                </a:lnTo>
                <a:lnTo>
                  <a:pt x="26" y="40"/>
                </a:lnTo>
                <a:lnTo>
                  <a:pt x="0" y="40"/>
                </a:lnTo>
                <a:lnTo>
                  <a:pt x="0" y="28"/>
                </a:lnTo>
                <a:lnTo>
                  <a:pt x="26" y="28"/>
                </a:lnTo>
                <a:lnTo>
                  <a:pt x="26" y="0"/>
                </a:lnTo>
                <a:lnTo>
                  <a:pt x="40" y="0"/>
                </a:lnTo>
                <a:lnTo>
                  <a:pt x="40" y="28"/>
                </a:lnTo>
                <a:lnTo>
                  <a:pt x="68" y="2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atinLnBrk="0"/>
            <a:endParaRPr lang="ko-KR" altLang="en-US" sz="1800">
              <a:solidFill>
                <a:prstClr val="black"/>
              </a:solidFill>
            </a:endParaRPr>
          </a:p>
        </p:txBody>
      </p:sp>
      <p:sp>
        <p:nvSpPr>
          <p:cNvPr id="34" name="Freeform 19"/>
          <p:cNvSpPr>
            <a:spLocks/>
          </p:cNvSpPr>
          <p:nvPr userDrawn="1"/>
        </p:nvSpPr>
        <p:spPr bwMode="auto">
          <a:xfrm>
            <a:off x="5431369" y="698500"/>
            <a:ext cx="190500" cy="146050"/>
          </a:xfrm>
          <a:custGeom>
            <a:avLst/>
            <a:gdLst>
              <a:gd name="T0" fmla="*/ 90 w 90"/>
              <a:gd name="T1" fmla="*/ 36 h 92"/>
              <a:gd name="T2" fmla="*/ 90 w 90"/>
              <a:gd name="T3" fmla="*/ 54 h 92"/>
              <a:gd name="T4" fmla="*/ 54 w 90"/>
              <a:gd name="T5" fmla="*/ 54 h 92"/>
              <a:gd name="T6" fmla="*/ 54 w 90"/>
              <a:gd name="T7" fmla="*/ 92 h 92"/>
              <a:gd name="T8" fmla="*/ 36 w 90"/>
              <a:gd name="T9" fmla="*/ 92 h 92"/>
              <a:gd name="T10" fmla="*/ 36 w 90"/>
              <a:gd name="T11" fmla="*/ 54 h 92"/>
              <a:gd name="T12" fmla="*/ 0 w 90"/>
              <a:gd name="T13" fmla="*/ 54 h 92"/>
              <a:gd name="T14" fmla="*/ 0 w 90"/>
              <a:gd name="T15" fmla="*/ 36 h 92"/>
              <a:gd name="T16" fmla="*/ 36 w 90"/>
              <a:gd name="T17" fmla="*/ 36 h 92"/>
              <a:gd name="T18" fmla="*/ 36 w 90"/>
              <a:gd name="T19" fmla="*/ 0 h 92"/>
              <a:gd name="T20" fmla="*/ 54 w 90"/>
              <a:gd name="T21" fmla="*/ 0 h 92"/>
              <a:gd name="T22" fmla="*/ 54 w 90"/>
              <a:gd name="T23" fmla="*/ 36 h 92"/>
              <a:gd name="T24" fmla="*/ 90 w 90"/>
              <a:gd name="T25" fmla="*/ 36 h 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90" h="92">
                <a:moveTo>
                  <a:pt x="90" y="36"/>
                </a:moveTo>
                <a:lnTo>
                  <a:pt x="90" y="54"/>
                </a:lnTo>
                <a:lnTo>
                  <a:pt x="54" y="54"/>
                </a:lnTo>
                <a:lnTo>
                  <a:pt x="54" y="92"/>
                </a:lnTo>
                <a:lnTo>
                  <a:pt x="36" y="92"/>
                </a:lnTo>
                <a:lnTo>
                  <a:pt x="36" y="54"/>
                </a:lnTo>
                <a:lnTo>
                  <a:pt x="0" y="54"/>
                </a:lnTo>
                <a:lnTo>
                  <a:pt x="0" y="36"/>
                </a:lnTo>
                <a:lnTo>
                  <a:pt x="36" y="36"/>
                </a:lnTo>
                <a:lnTo>
                  <a:pt x="36" y="0"/>
                </a:lnTo>
                <a:lnTo>
                  <a:pt x="54" y="0"/>
                </a:lnTo>
                <a:lnTo>
                  <a:pt x="54" y="36"/>
                </a:lnTo>
                <a:lnTo>
                  <a:pt x="90" y="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atinLnBrk="0"/>
            <a:endParaRPr lang="ko-KR" altLang="en-US" sz="1800">
              <a:solidFill>
                <a:prstClr val="black"/>
              </a:solidFill>
            </a:endParaRPr>
          </a:p>
        </p:txBody>
      </p:sp>
      <p:sp>
        <p:nvSpPr>
          <p:cNvPr id="35" name="Freeform 20"/>
          <p:cNvSpPr>
            <a:spLocks/>
          </p:cNvSpPr>
          <p:nvPr userDrawn="1"/>
        </p:nvSpPr>
        <p:spPr bwMode="auto">
          <a:xfrm>
            <a:off x="7780869" y="1463676"/>
            <a:ext cx="190500" cy="142875"/>
          </a:xfrm>
          <a:custGeom>
            <a:avLst/>
            <a:gdLst>
              <a:gd name="T0" fmla="*/ 90 w 90"/>
              <a:gd name="T1" fmla="*/ 36 h 90"/>
              <a:gd name="T2" fmla="*/ 90 w 90"/>
              <a:gd name="T3" fmla="*/ 54 h 90"/>
              <a:gd name="T4" fmla="*/ 54 w 90"/>
              <a:gd name="T5" fmla="*/ 54 h 90"/>
              <a:gd name="T6" fmla="*/ 54 w 90"/>
              <a:gd name="T7" fmla="*/ 90 h 90"/>
              <a:gd name="T8" fmla="*/ 36 w 90"/>
              <a:gd name="T9" fmla="*/ 90 h 90"/>
              <a:gd name="T10" fmla="*/ 36 w 90"/>
              <a:gd name="T11" fmla="*/ 54 h 90"/>
              <a:gd name="T12" fmla="*/ 0 w 90"/>
              <a:gd name="T13" fmla="*/ 54 h 90"/>
              <a:gd name="T14" fmla="*/ 0 w 90"/>
              <a:gd name="T15" fmla="*/ 36 h 90"/>
              <a:gd name="T16" fmla="*/ 36 w 90"/>
              <a:gd name="T17" fmla="*/ 36 h 90"/>
              <a:gd name="T18" fmla="*/ 36 w 90"/>
              <a:gd name="T19" fmla="*/ 0 h 90"/>
              <a:gd name="T20" fmla="*/ 54 w 90"/>
              <a:gd name="T21" fmla="*/ 0 h 90"/>
              <a:gd name="T22" fmla="*/ 54 w 90"/>
              <a:gd name="T23" fmla="*/ 36 h 90"/>
              <a:gd name="T24" fmla="*/ 90 w 90"/>
              <a:gd name="T25" fmla="*/ 36 h 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90" h="90">
                <a:moveTo>
                  <a:pt x="90" y="36"/>
                </a:moveTo>
                <a:lnTo>
                  <a:pt x="90" y="54"/>
                </a:lnTo>
                <a:lnTo>
                  <a:pt x="54" y="54"/>
                </a:lnTo>
                <a:lnTo>
                  <a:pt x="54" y="90"/>
                </a:lnTo>
                <a:lnTo>
                  <a:pt x="36" y="90"/>
                </a:lnTo>
                <a:lnTo>
                  <a:pt x="36" y="54"/>
                </a:lnTo>
                <a:lnTo>
                  <a:pt x="0" y="54"/>
                </a:lnTo>
                <a:lnTo>
                  <a:pt x="0" y="36"/>
                </a:lnTo>
                <a:lnTo>
                  <a:pt x="36" y="36"/>
                </a:lnTo>
                <a:lnTo>
                  <a:pt x="36" y="0"/>
                </a:lnTo>
                <a:lnTo>
                  <a:pt x="54" y="0"/>
                </a:lnTo>
                <a:lnTo>
                  <a:pt x="54" y="36"/>
                </a:lnTo>
                <a:lnTo>
                  <a:pt x="90" y="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atinLnBrk="0"/>
            <a:endParaRPr lang="ko-KR" altLang="en-US" sz="1800">
              <a:solidFill>
                <a:prstClr val="black"/>
              </a:solidFill>
            </a:endParaRPr>
          </a:p>
        </p:txBody>
      </p:sp>
      <p:sp>
        <p:nvSpPr>
          <p:cNvPr id="36" name="Freeform 21"/>
          <p:cNvSpPr>
            <a:spLocks/>
          </p:cNvSpPr>
          <p:nvPr userDrawn="1"/>
        </p:nvSpPr>
        <p:spPr bwMode="auto">
          <a:xfrm>
            <a:off x="9334501" y="434976"/>
            <a:ext cx="188384" cy="142875"/>
          </a:xfrm>
          <a:custGeom>
            <a:avLst/>
            <a:gdLst>
              <a:gd name="T0" fmla="*/ 89 w 89"/>
              <a:gd name="T1" fmla="*/ 36 h 90"/>
              <a:gd name="T2" fmla="*/ 89 w 89"/>
              <a:gd name="T3" fmla="*/ 54 h 90"/>
              <a:gd name="T4" fmla="*/ 53 w 89"/>
              <a:gd name="T5" fmla="*/ 54 h 90"/>
              <a:gd name="T6" fmla="*/ 53 w 89"/>
              <a:gd name="T7" fmla="*/ 90 h 90"/>
              <a:gd name="T8" fmla="*/ 35 w 89"/>
              <a:gd name="T9" fmla="*/ 90 h 90"/>
              <a:gd name="T10" fmla="*/ 35 w 89"/>
              <a:gd name="T11" fmla="*/ 54 h 90"/>
              <a:gd name="T12" fmla="*/ 0 w 89"/>
              <a:gd name="T13" fmla="*/ 54 h 90"/>
              <a:gd name="T14" fmla="*/ 0 w 89"/>
              <a:gd name="T15" fmla="*/ 36 h 90"/>
              <a:gd name="T16" fmla="*/ 35 w 89"/>
              <a:gd name="T17" fmla="*/ 36 h 90"/>
              <a:gd name="T18" fmla="*/ 35 w 89"/>
              <a:gd name="T19" fmla="*/ 0 h 90"/>
              <a:gd name="T20" fmla="*/ 53 w 89"/>
              <a:gd name="T21" fmla="*/ 0 h 90"/>
              <a:gd name="T22" fmla="*/ 53 w 89"/>
              <a:gd name="T23" fmla="*/ 36 h 90"/>
              <a:gd name="T24" fmla="*/ 89 w 89"/>
              <a:gd name="T25" fmla="*/ 36 h 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89" h="90">
                <a:moveTo>
                  <a:pt x="89" y="36"/>
                </a:moveTo>
                <a:lnTo>
                  <a:pt x="89" y="54"/>
                </a:lnTo>
                <a:lnTo>
                  <a:pt x="53" y="54"/>
                </a:lnTo>
                <a:lnTo>
                  <a:pt x="53" y="90"/>
                </a:lnTo>
                <a:lnTo>
                  <a:pt x="35" y="90"/>
                </a:lnTo>
                <a:lnTo>
                  <a:pt x="35" y="54"/>
                </a:lnTo>
                <a:lnTo>
                  <a:pt x="0" y="54"/>
                </a:lnTo>
                <a:lnTo>
                  <a:pt x="0" y="36"/>
                </a:lnTo>
                <a:lnTo>
                  <a:pt x="35" y="36"/>
                </a:lnTo>
                <a:lnTo>
                  <a:pt x="35" y="0"/>
                </a:lnTo>
                <a:lnTo>
                  <a:pt x="53" y="0"/>
                </a:lnTo>
                <a:lnTo>
                  <a:pt x="53" y="36"/>
                </a:lnTo>
                <a:lnTo>
                  <a:pt x="89" y="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atinLnBrk="0"/>
            <a:endParaRPr lang="ko-KR" altLang="en-US" sz="1800">
              <a:solidFill>
                <a:prstClr val="black"/>
              </a:solidFill>
            </a:endParaRPr>
          </a:p>
        </p:txBody>
      </p:sp>
      <p:sp>
        <p:nvSpPr>
          <p:cNvPr id="37" name="Freeform 22"/>
          <p:cNvSpPr>
            <a:spLocks/>
          </p:cNvSpPr>
          <p:nvPr userDrawn="1"/>
        </p:nvSpPr>
        <p:spPr bwMode="auto">
          <a:xfrm>
            <a:off x="11034184" y="1047751"/>
            <a:ext cx="194733" cy="142875"/>
          </a:xfrm>
          <a:custGeom>
            <a:avLst/>
            <a:gdLst>
              <a:gd name="T0" fmla="*/ 92 w 92"/>
              <a:gd name="T1" fmla="*/ 36 h 90"/>
              <a:gd name="T2" fmla="*/ 92 w 92"/>
              <a:gd name="T3" fmla="*/ 54 h 90"/>
              <a:gd name="T4" fmla="*/ 54 w 92"/>
              <a:gd name="T5" fmla="*/ 54 h 90"/>
              <a:gd name="T6" fmla="*/ 54 w 92"/>
              <a:gd name="T7" fmla="*/ 90 h 90"/>
              <a:gd name="T8" fmla="*/ 38 w 92"/>
              <a:gd name="T9" fmla="*/ 90 h 90"/>
              <a:gd name="T10" fmla="*/ 38 w 92"/>
              <a:gd name="T11" fmla="*/ 54 h 90"/>
              <a:gd name="T12" fmla="*/ 0 w 92"/>
              <a:gd name="T13" fmla="*/ 54 h 90"/>
              <a:gd name="T14" fmla="*/ 0 w 92"/>
              <a:gd name="T15" fmla="*/ 36 h 90"/>
              <a:gd name="T16" fmla="*/ 38 w 92"/>
              <a:gd name="T17" fmla="*/ 36 h 90"/>
              <a:gd name="T18" fmla="*/ 38 w 92"/>
              <a:gd name="T19" fmla="*/ 0 h 90"/>
              <a:gd name="T20" fmla="*/ 54 w 92"/>
              <a:gd name="T21" fmla="*/ 0 h 90"/>
              <a:gd name="T22" fmla="*/ 54 w 92"/>
              <a:gd name="T23" fmla="*/ 36 h 90"/>
              <a:gd name="T24" fmla="*/ 92 w 92"/>
              <a:gd name="T25" fmla="*/ 36 h 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92" h="90">
                <a:moveTo>
                  <a:pt x="92" y="36"/>
                </a:moveTo>
                <a:lnTo>
                  <a:pt x="92" y="54"/>
                </a:lnTo>
                <a:lnTo>
                  <a:pt x="54" y="54"/>
                </a:lnTo>
                <a:lnTo>
                  <a:pt x="54" y="90"/>
                </a:lnTo>
                <a:lnTo>
                  <a:pt x="38" y="90"/>
                </a:lnTo>
                <a:lnTo>
                  <a:pt x="38" y="54"/>
                </a:lnTo>
                <a:lnTo>
                  <a:pt x="0" y="54"/>
                </a:lnTo>
                <a:lnTo>
                  <a:pt x="0" y="36"/>
                </a:lnTo>
                <a:lnTo>
                  <a:pt x="38" y="36"/>
                </a:lnTo>
                <a:lnTo>
                  <a:pt x="38" y="0"/>
                </a:lnTo>
                <a:lnTo>
                  <a:pt x="54" y="0"/>
                </a:lnTo>
                <a:lnTo>
                  <a:pt x="54" y="36"/>
                </a:lnTo>
                <a:lnTo>
                  <a:pt x="92" y="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atinLnBrk="0"/>
            <a:endParaRPr lang="ko-KR" altLang="en-US" sz="1800">
              <a:solidFill>
                <a:prstClr val="black"/>
              </a:solidFill>
            </a:endParaRPr>
          </a:p>
        </p:txBody>
      </p:sp>
      <p:sp>
        <p:nvSpPr>
          <p:cNvPr id="38" name="Freeform 23"/>
          <p:cNvSpPr>
            <a:spLocks/>
          </p:cNvSpPr>
          <p:nvPr userDrawn="1"/>
        </p:nvSpPr>
        <p:spPr bwMode="auto">
          <a:xfrm>
            <a:off x="11711518" y="2816225"/>
            <a:ext cx="190500" cy="146050"/>
          </a:xfrm>
          <a:custGeom>
            <a:avLst/>
            <a:gdLst>
              <a:gd name="T0" fmla="*/ 90 w 90"/>
              <a:gd name="T1" fmla="*/ 38 h 92"/>
              <a:gd name="T2" fmla="*/ 90 w 90"/>
              <a:gd name="T3" fmla="*/ 54 h 92"/>
              <a:gd name="T4" fmla="*/ 54 w 90"/>
              <a:gd name="T5" fmla="*/ 54 h 92"/>
              <a:gd name="T6" fmla="*/ 54 w 90"/>
              <a:gd name="T7" fmla="*/ 92 h 92"/>
              <a:gd name="T8" fmla="*/ 36 w 90"/>
              <a:gd name="T9" fmla="*/ 92 h 92"/>
              <a:gd name="T10" fmla="*/ 36 w 90"/>
              <a:gd name="T11" fmla="*/ 54 h 92"/>
              <a:gd name="T12" fmla="*/ 0 w 90"/>
              <a:gd name="T13" fmla="*/ 54 h 92"/>
              <a:gd name="T14" fmla="*/ 0 w 90"/>
              <a:gd name="T15" fmla="*/ 38 h 92"/>
              <a:gd name="T16" fmla="*/ 36 w 90"/>
              <a:gd name="T17" fmla="*/ 38 h 92"/>
              <a:gd name="T18" fmla="*/ 36 w 90"/>
              <a:gd name="T19" fmla="*/ 0 h 92"/>
              <a:gd name="T20" fmla="*/ 54 w 90"/>
              <a:gd name="T21" fmla="*/ 0 h 92"/>
              <a:gd name="T22" fmla="*/ 54 w 90"/>
              <a:gd name="T23" fmla="*/ 38 h 92"/>
              <a:gd name="T24" fmla="*/ 90 w 90"/>
              <a:gd name="T25" fmla="*/ 38 h 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90" h="92">
                <a:moveTo>
                  <a:pt x="90" y="38"/>
                </a:moveTo>
                <a:lnTo>
                  <a:pt x="90" y="54"/>
                </a:lnTo>
                <a:lnTo>
                  <a:pt x="54" y="54"/>
                </a:lnTo>
                <a:lnTo>
                  <a:pt x="54" y="92"/>
                </a:lnTo>
                <a:lnTo>
                  <a:pt x="36" y="92"/>
                </a:lnTo>
                <a:lnTo>
                  <a:pt x="36" y="54"/>
                </a:lnTo>
                <a:lnTo>
                  <a:pt x="0" y="54"/>
                </a:lnTo>
                <a:lnTo>
                  <a:pt x="0" y="38"/>
                </a:lnTo>
                <a:lnTo>
                  <a:pt x="36" y="38"/>
                </a:lnTo>
                <a:lnTo>
                  <a:pt x="36" y="0"/>
                </a:lnTo>
                <a:lnTo>
                  <a:pt x="54" y="0"/>
                </a:lnTo>
                <a:lnTo>
                  <a:pt x="54" y="38"/>
                </a:lnTo>
                <a:lnTo>
                  <a:pt x="90" y="3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atinLnBrk="0"/>
            <a:endParaRPr lang="ko-KR" altLang="en-US" sz="1800">
              <a:solidFill>
                <a:prstClr val="black"/>
              </a:solidFill>
            </a:endParaRPr>
          </a:p>
        </p:txBody>
      </p:sp>
      <p:sp>
        <p:nvSpPr>
          <p:cNvPr id="39" name="Freeform 6"/>
          <p:cNvSpPr>
            <a:spLocks/>
          </p:cNvSpPr>
          <p:nvPr userDrawn="1"/>
        </p:nvSpPr>
        <p:spPr bwMode="auto">
          <a:xfrm>
            <a:off x="306918" y="0"/>
            <a:ext cx="4756151" cy="5295900"/>
          </a:xfrm>
          <a:custGeom>
            <a:avLst/>
            <a:gdLst>
              <a:gd name="T0" fmla="*/ 114 w 1124"/>
              <a:gd name="T1" fmla="*/ 1275 h 1668"/>
              <a:gd name="T2" fmla="*/ 217 w 1124"/>
              <a:gd name="T3" fmla="*/ 1668 h 1668"/>
              <a:gd name="T4" fmla="*/ 217 w 1124"/>
              <a:gd name="T5" fmla="*/ 1668 h 1668"/>
              <a:gd name="T6" fmla="*/ 14 w 1124"/>
              <a:gd name="T7" fmla="*/ 1043 h 1668"/>
              <a:gd name="T8" fmla="*/ 642 w 1124"/>
              <a:gd name="T9" fmla="*/ 0 h 1668"/>
              <a:gd name="T10" fmla="*/ 1124 w 1124"/>
              <a:gd name="T11" fmla="*/ 0 h 1668"/>
              <a:gd name="T12" fmla="*/ 114 w 1124"/>
              <a:gd name="T13" fmla="*/ 1275 h 16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24" h="1668">
                <a:moveTo>
                  <a:pt x="114" y="1275"/>
                </a:moveTo>
                <a:cubicBezTo>
                  <a:pt x="114" y="1432"/>
                  <a:pt x="151" y="1564"/>
                  <a:pt x="217" y="1668"/>
                </a:cubicBezTo>
                <a:cubicBezTo>
                  <a:pt x="217" y="1668"/>
                  <a:pt x="217" y="1668"/>
                  <a:pt x="217" y="1668"/>
                </a:cubicBezTo>
                <a:cubicBezTo>
                  <a:pt x="85" y="1537"/>
                  <a:pt x="0" y="1337"/>
                  <a:pt x="14" y="1043"/>
                </a:cubicBezTo>
                <a:cubicBezTo>
                  <a:pt x="30" y="707"/>
                  <a:pt x="354" y="299"/>
                  <a:pt x="642" y="0"/>
                </a:cubicBezTo>
                <a:cubicBezTo>
                  <a:pt x="1124" y="0"/>
                  <a:pt x="1124" y="0"/>
                  <a:pt x="1124" y="0"/>
                </a:cubicBezTo>
                <a:cubicBezTo>
                  <a:pt x="671" y="358"/>
                  <a:pt x="114" y="880"/>
                  <a:pt x="114" y="127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atinLnBrk="0"/>
            <a:endParaRPr lang="ko-KR" altLang="en-US" sz="1800">
              <a:solidFill>
                <a:prstClr val="black"/>
              </a:solidFill>
            </a:endParaRPr>
          </a:p>
        </p:txBody>
      </p:sp>
      <p:sp>
        <p:nvSpPr>
          <p:cNvPr id="50" name="Freeform 7"/>
          <p:cNvSpPr>
            <a:spLocks/>
          </p:cNvSpPr>
          <p:nvPr userDrawn="1"/>
        </p:nvSpPr>
        <p:spPr bwMode="auto">
          <a:xfrm>
            <a:off x="1225551" y="5035550"/>
            <a:ext cx="8420100" cy="1466850"/>
          </a:xfrm>
          <a:custGeom>
            <a:avLst/>
            <a:gdLst>
              <a:gd name="T0" fmla="*/ 0 w 1990"/>
              <a:gd name="T1" fmla="*/ 82 h 462"/>
              <a:gd name="T2" fmla="*/ 629 w 1990"/>
              <a:gd name="T3" fmla="*/ 304 h 462"/>
              <a:gd name="T4" fmla="*/ 1990 w 1990"/>
              <a:gd name="T5" fmla="*/ 0 h 462"/>
              <a:gd name="T6" fmla="*/ 1090 w 1990"/>
              <a:gd name="T7" fmla="*/ 304 h 462"/>
              <a:gd name="T8" fmla="*/ 0 w 1990"/>
              <a:gd name="T9" fmla="*/ 82 h 4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990" h="462">
                <a:moveTo>
                  <a:pt x="0" y="82"/>
                </a:moveTo>
                <a:cubicBezTo>
                  <a:pt x="167" y="248"/>
                  <a:pt x="411" y="304"/>
                  <a:pt x="629" y="304"/>
                </a:cubicBezTo>
                <a:cubicBezTo>
                  <a:pt x="999" y="304"/>
                  <a:pt x="1509" y="13"/>
                  <a:pt x="1990" y="0"/>
                </a:cubicBezTo>
                <a:cubicBezTo>
                  <a:pt x="1715" y="48"/>
                  <a:pt x="1454" y="181"/>
                  <a:pt x="1090" y="304"/>
                </a:cubicBezTo>
                <a:cubicBezTo>
                  <a:pt x="625" y="462"/>
                  <a:pt x="192" y="385"/>
                  <a:pt x="0" y="8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atinLnBrk="0"/>
            <a:endParaRPr lang="ko-KR" altLang="en-US" sz="1800">
              <a:solidFill>
                <a:prstClr val="black"/>
              </a:solidFill>
            </a:endParaRPr>
          </a:p>
        </p:txBody>
      </p:sp>
      <p:sp>
        <p:nvSpPr>
          <p:cNvPr id="51" name="Freeform 8"/>
          <p:cNvSpPr>
            <a:spLocks/>
          </p:cNvSpPr>
          <p:nvPr userDrawn="1"/>
        </p:nvSpPr>
        <p:spPr bwMode="auto">
          <a:xfrm>
            <a:off x="9645652" y="4933950"/>
            <a:ext cx="2544233" cy="711200"/>
          </a:xfrm>
          <a:custGeom>
            <a:avLst/>
            <a:gdLst>
              <a:gd name="T0" fmla="*/ 0 w 601"/>
              <a:gd name="T1" fmla="*/ 32 h 224"/>
              <a:gd name="T2" fmla="*/ 601 w 601"/>
              <a:gd name="T3" fmla="*/ 73 h 224"/>
              <a:gd name="T4" fmla="*/ 601 w 601"/>
              <a:gd name="T5" fmla="*/ 224 h 224"/>
              <a:gd name="T6" fmla="*/ 0 w 601"/>
              <a:gd name="T7" fmla="*/ 32 h 2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01" h="224">
                <a:moveTo>
                  <a:pt x="0" y="32"/>
                </a:moveTo>
                <a:cubicBezTo>
                  <a:pt x="183" y="0"/>
                  <a:pt x="371" y="5"/>
                  <a:pt x="601" y="73"/>
                </a:cubicBezTo>
                <a:cubicBezTo>
                  <a:pt x="601" y="224"/>
                  <a:pt x="601" y="224"/>
                  <a:pt x="601" y="224"/>
                </a:cubicBezTo>
                <a:cubicBezTo>
                  <a:pt x="416" y="75"/>
                  <a:pt x="211" y="27"/>
                  <a:pt x="0" y="3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atinLnBrk="0"/>
            <a:endParaRPr lang="ko-KR" altLang="en-US" sz="1800">
              <a:solidFill>
                <a:prstClr val="black"/>
              </a:solidFill>
            </a:endParaRPr>
          </a:p>
        </p:txBody>
      </p:sp>
      <p:sp>
        <p:nvSpPr>
          <p:cNvPr id="53" name="Freeform 10"/>
          <p:cNvSpPr>
            <a:spLocks/>
          </p:cNvSpPr>
          <p:nvPr userDrawn="1"/>
        </p:nvSpPr>
        <p:spPr bwMode="auto">
          <a:xfrm>
            <a:off x="-6348" y="0"/>
            <a:ext cx="3672417" cy="5295900"/>
          </a:xfrm>
          <a:custGeom>
            <a:avLst/>
            <a:gdLst>
              <a:gd name="T0" fmla="*/ 219 w 868"/>
              <a:gd name="T1" fmla="*/ 810 h 1668"/>
              <a:gd name="T2" fmla="*/ 291 w 868"/>
              <a:gd name="T3" fmla="*/ 1668 h 1668"/>
              <a:gd name="T4" fmla="*/ 88 w 868"/>
              <a:gd name="T5" fmla="*/ 1043 h 1668"/>
              <a:gd name="T6" fmla="*/ 716 w 868"/>
              <a:gd name="T7" fmla="*/ 0 h 1668"/>
              <a:gd name="T8" fmla="*/ 868 w 868"/>
              <a:gd name="T9" fmla="*/ 0 h 1668"/>
              <a:gd name="T10" fmla="*/ 219 w 868"/>
              <a:gd name="T11" fmla="*/ 810 h 16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68" h="1668">
                <a:moveTo>
                  <a:pt x="219" y="810"/>
                </a:moveTo>
                <a:cubicBezTo>
                  <a:pt x="0" y="1300"/>
                  <a:pt x="285" y="1660"/>
                  <a:pt x="291" y="1668"/>
                </a:cubicBezTo>
                <a:cubicBezTo>
                  <a:pt x="159" y="1537"/>
                  <a:pt x="74" y="1337"/>
                  <a:pt x="88" y="1043"/>
                </a:cubicBezTo>
                <a:cubicBezTo>
                  <a:pt x="104" y="707"/>
                  <a:pt x="428" y="299"/>
                  <a:pt x="716" y="0"/>
                </a:cubicBezTo>
                <a:cubicBezTo>
                  <a:pt x="868" y="0"/>
                  <a:pt x="868" y="0"/>
                  <a:pt x="868" y="0"/>
                </a:cubicBezTo>
                <a:cubicBezTo>
                  <a:pt x="616" y="238"/>
                  <a:pt x="338" y="544"/>
                  <a:pt x="219" y="810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20000"/>
                </a:schemeClr>
              </a:gs>
              <a:gs pos="50000">
                <a:schemeClr val="tx2">
                  <a:alpha val="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atinLnBrk="0"/>
            <a:endParaRPr lang="ko-KR" altLang="en-US" sz="1800">
              <a:solidFill>
                <a:prstClr val="black"/>
              </a:solidFill>
            </a:endParaRPr>
          </a:p>
        </p:txBody>
      </p:sp>
      <p:sp>
        <p:nvSpPr>
          <p:cNvPr id="54" name="Freeform 11"/>
          <p:cNvSpPr>
            <a:spLocks/>
          </p:cNvSpPr>
          <p:nvPr userDrawn="1"/>
        </p:nvSpPr>
        <p:spPr bwMode="auto">
          <a:xfrm>
            <a:off x="1322918" y="1"/>
            <a:ext cx="1384300" cy="1266825"/>
          </a:xfrm>
          <a:custGeom>
            <a:avLst/>
            <a:gdLst>
              <a:gd name="T0" fmla="*/ 327 w 327"/>
              <a:gd name="T1" fmla="*/ 0 h 399"/>
              <a:gd name="T2" fmla="*/ 0 w 327"/>
              <a:gd name="T3" fmla="*/ 399 h 399"/>
              <a:gd name="T4" fmla="*/ 274 w 327"/>
              <a:gd name="T5" fmla="*/ 0 h 399"/>
              <a:gd name="T6" fmla="*/ 327 w 327"/>
              <a:gd name="T7" fmla="*/ 0 h 3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27" h="399">
                <a:moveTo>
                  <a:pt x="327" y="0"/>
                </a:moveTo>
                <a:cubicBezTo>
                  <a:pt x="205" y="129"/>
                  <a:pt x="80" y="273"/>
                  <a:pt x="0" y="399"/>
                </a:cubicBezTo>
                <a:cubicBezTo>
                  <a:pt x="50" y="316"/>
                  <a:pt x="138" y="178"/>
                  <a:pt x="274" y="0"/>
                </a:cubicBezTo>
                <a:lnTo>
                  <a:pt x="327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atinLnBrk="0"/>
            <a:endParaRPr lang="ko-KR" altLang="en-US" sz="1800">
              <a:solidFill>
                <a:prstClr val="black"/>
              </a:solidFill>
            </a:endParaRPr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2" hasCustomPrompt="1"/>
          </p:nvPr>
        </p:nvSpPr>
        <p:spPr>
          <a:xfrm>
            <a:off x="317050" y="223624"/>
            <a:ext cx="1801271" cy="596582"/>
          </a:xfrm>
        </p:spPr>
        <p:txBody>
          <a:bodyPr lIns="0" tIns="0" rIns="0" bIns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defRPr sz="800" i="1" baseline="0"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lvl="0"/>
            <a:r>
              <a:rPr lang="en-US" altLang="ko-KR"/>
              <a:t>Converting your business from Good to Great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0136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1200151" y="742868"/>
            <a:ext cx="8696267" cy="593682"/>
          </a:xfrm>
        </p:spPr>
        <p:txBody>
          <a:bodyPr anchor="b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Contents</a:t>
            </a:r>
          </a:p>
        </p:txBody>
      </p:sp>
      <p:cxnSp>
        <p:nvCxnSpPr>
          <p:cNvPr id="19" name="Straight Connector 18"/>
          <p:cNvCxnSpPr/>
          <p:nvPr userDrawn="1"/>
        </p:nvCxnSpPr>
        <p:spPr>
          <a:xfrm>
            <a:off x="1200845" y="2929510"/>
            <a:ext cx="7595091" cy="0"/>
          </a:xfrm>
          <a:prstGeom prst="line">
            <a:avLst/>
          </a:prstGeom>
          <a:ln w="3175">
            <a:solidFill>
              <a:schemeClr val="bg1">
                <a:alpha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20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1200846" y="2213160"/>
            <a:ext cx="7608857" cy="553637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ts val="1700"/>
              </a:lnSpc>
              <a:spcBef>
                <a:spcPts val="0"/>
              </a:spcBef>
              <a:buFont typeface="Arial" panose="020B0604020202020204" pitchFamily="34" charset="0"/>
              <a:buNone/>
              <a:defRPr sz="1100" baseline="0">
                <a:solidFill>
                  <a:schemeClr val="bg1">
                    <a:alpha val="50000"/>
                  </a:schemeClr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1100">
                <a:solidFill>
                  <a:schemeClr val="bg2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 sz="1100">
                <a:solidFill>
                  <a:schemeClr val="bg2"/>
                </a:solidFill>
              </a:defRPr>
            </a:lvl3pPr>
            <a:lvl4pPr marL="1371600" indent="0">
              <a:buFont typeface="Arial" panose="020B0604020202020204" pitchFamily="34" charset="0"/>
              <a:buNone/>
              <a:defRPr sz="1100">
                <a:solidFill>
                  <a:schemeClr val="bg2"/>
                </a:solidFill>
              </a:defRPr>
            </a:lvl4pPr>
            <a:lvl5pPr marL="1828800" indent="0">
              <a:buFont typeface="Arial" panose="020B0604020202020204" pitchFamily="34" charset="0"/>
              <a:buNone/>
              <a:defRPr sz="11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Insert Your Text Here</a:t>
            </a:r>
          </a:p>
        </p:txBody>
      </p:sp>
      <p:sp>
        <p:nvSpPr>
          <p:cNvPr id="23" name="Text Placeholder 22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200846" y="3243907"/>
            <a:ext cx="7608857" cy="2148102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spcBef>
                <a:spcPts val="1300"/>
              </a:spcBef>
              <a:defRPr sz="1400" b="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1) Insert Your Text Here</a:t>
            </a:r>
          </a:p>
        </p:txBody>
      </p:sp>
      <p:sp>
        <p:nvSpPr>
          <p:cNvPr id="5" name="Text Placeholder 4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9896417" y="459403"/>
            <a:ext cx="1815769" cy="413702"/>
          </a:xfrm>
        </p:spPr>
        <p:txBody>
          <a:bodyPr lIns="0" tIns="0" rIns="0" bIns="0" anchor="ctr">
            <a:normAutofit/>
          </a:bodyPr>
          <a:lstStyle>
            <a:lvl1pPr marL="0" algn="r" defTabSz="914400" rtl="0" eaLnBrk="1" latinLnBrk="0" hangingPunct="1">
              <a:lnSpc>
                <a:spcPct val="110000"/>
              </a:lnSpc>
              <a:spcBef>
                <a:spcPts val="0"/>
              </a:spcBef>
              <a:defRPr lang="en-US" sz="800" b="0" i="1" kern="1200" dirty="0">
                <a:solidFill>
                  <a:schemeClr val="bg1">
                    <a:alpha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Converting your business </a:t>
            </a:r>
          </a:p>
          <a:p>
            <a:r>
              <a:rPr lang="en-US" dirty="0"/>
              <a:t>from Good to Great.</a:t>
            </a:r>
          </a:p>
        </p:txBody>
      </p:sp>
      <p:grpSp>
        <p:nvGrpSpPr>
          <p:cNvPr id="20" name="그룹 19"/>
          <p:cNvGrpSpPr/>
          <p:nvPr userDrawn="1"/>
        </p:nvGrpSpPr>
        <p:grpSpPr>
          <a:xfrm>
            <a:off x="2118" y="260350"/>
            <a:ext cx="11934476" cy="6597650"/>
            <a:chOff x="1588" y="260350"/>
            <a:chExt cx="8950857" cy="6597650"/>
          </a:xfrm>
        </p:grpSpPr>
        <p:sp>
          <p:nvSpPr>
            <p:cNvPr id="22" name="Freeform 6"/>
            <p:cNvSpPr>
              <a:spLocks/>
            </p:cNvSpPr>
            <p:nvPr userDrawn="1"/>
          </p:nvSpPr>
          <p:spPr bwMode="auto">
            <a:xfrm>
              <a:off x="3762376" y="1644650"/>
              <a:ext cx="4913313" cy="5213350"/>
            </a:xfrm>
            <a:custGeom>
              <a:avLst/>
              <a:gdLst>
                <a:gd name="T0" fmla="*/ 0 w 1548"/>
                <a:gd name="T1" fmla="*/ 1642 h 1642"/>
                <a:gd name="T2" fmla="*/ 571 w 1548"/>
                <a:gd name="T3" fmla="*/ 1642 h 1642"/>
                <a:gd name="T4" fmla="*/ 1534 w 1548"/>
                <a:gd name="T5" fmla="*/ 510 h 1642"/>
                <a:gd name="T6" fmla="*/ 1336 w 1548"/>
                <a:gd name="T7" fmla="*/ 0 h 1642"/>
                <a:gd name="T8" fmla="*/ 1336 w 1548"/>
                <a:gd name="T9" fmla="*/ 0 h 1642"/>
                <a:gd name="T10" fmla="*/ 1437 w 1548"/>
                <a:gd name="T11" fmla="*/ 321 h 1642"/>
                <a:gd name="T12" fmla="*/ 0 w 1548"/>
                <a:gd name="T13" fmla="*/ 1642 h 1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48" h="1642">
                  <a:moveTo>
                    <a:pt x="0" y="1642"/>
                  </a:moveTo>
                  <a:cubicBezTo>
                    <a:pt x="571" y="1642"/>
                    <a:pt x="571" y="1642"/>
                    <a:pt x="571" y="1642"/>
                  </a:cubicBezTo>
                  <a:cubicBezTo>
                    <a:pt x="812" y="1466"/>
                    <a:pt x="1511" y="921"/>
                    <a:pt x="1534" y="510"/>
                  </a:cubicBezTo>
                  <a:cubicBezTo>
                    <a:pt x="1548" y="270"/>
                    <a:pt x="1465" y="107"/>
                    <a:pt x="1336" y="0"/>
                  </a:cubicBezTo>
                  <a:cubicBezTo>
                    <a:pt x="1336" y="0"/>
                    <a:pt x="1336" y="0"/>
                    <a:pt x="1336" y="0"/>
                  </a:cubicBezTo>
                  <a:cubicBezTo>
                    <a:pt x="1401" y="85"/>
                    <a:pt x="1437" y="192"/>
                    <a:pt x="1437" y="321"/>
                  </a:cubicBezTo>
                  <a:cubicBezTo>
                    <a:pt x="1437" y="779"/>
                    <a:pt x="344" y="1444"/>
                    <a:pt x="0" y="164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atinLnBrk="0"/>
              <a:endParaRPr lang="ko-KR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24" name="Freeform 7"/>
            <p:cNvSpPr>
              <a:spLocks/>
            </p:cNvSpPr>
            <p:nvPr userDrawn="1"/>
          </p:nvSpPr>
          <p:spPr bwMode="auto">
            <a:xfrm>
              <a:off x="1858963" y="657225"/>
              <a:ext cx="6143625" cy="1200150"/>
            </a:xfrm>
            <a:custGeom>
              <a:avLst/>
              <a:gdLst>
                <a:gd name="T0" fmla="*/ 1936 w 1936"/>
                <a:gd name="T1" fmla="*/ 311 h 378"/>
                <a:gd name="T2" fmla="*/ 1325 w 1936"/>
                <a:gd name="T3" fmla="*/ 129 h 378"/>
                <a:gd name="T4" fmla="*/ 0 w 1936"/>
                <a:gd name="T5" fmla="*/ 378 h 378"/>
                <a:gd name="T6" fmla="*/ 875 w 1936"/>
                <a:gd name="T7" fmla="*/ 129 h 378"/>
                <a:gd name="T8" fmla="*/ 1936 w 1936"/>
                <a:gd name="T9" fmla="*/ 311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36" h="378">
                  <a:moveTo>
                    <a:pt x="1936" y="311"/>
                  </a:moveTo>
                  <a:cubicBezTo>
                    <a:pt x="1774" y="176"/>
                    <a:pt x="1537" y="129"/>
                    <a:pt x="1325" y="129"/>
                  </a:cubicBezTo>
                  <a:cubicBezTo>
                    <a:pt x="965" y="129"/>
                    <a:pt x="468" y="367"/>
                    <a:pt x="0" y="378"/>
                  </a:cubicBezTo>
                  <a:cubicBezTo>
                    <a:pt x="267" y="338"/>
                    <a:pt x="521" y="230"/>
                    <a:pt x="875" y="129"/>
                  </a:cubicBezTo>
                  <a:cubicBezTo>
                    <a:pt x="1328" y="0"/>
                    <a:pt x="1750" y="63"/>
                    <a:pt x="1936" y="31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atinLnBrk="0"/>
              <a:endParaRPr lang="ko-KR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25" name="Freeform 8"/>
            <p:cNvSpPr>
              <a:spLocks/>
            </p:cNvSpPr>
            <p:nvPr userDrawn="1"/>
          </p:nvSpPr>
          <p:spPr bwMode="auto">
            <a:xfrm>
              <a:off x="1588" y="1358900"/>
              <a:ext cx="1857375" cy="581025"/>
            </a:xfrm>
            <a:custGeom>
              <a:avLst/>
              <a:gdLst>
                <a:gd name="T0" fmla="*/ 585 w 585"/>
                <a:gd name="T1" fmla="*/ 157 h 183"/>
                <a:gd name="T2" fmla="*/ 0 w 585"/>
                <a:gd name="T3" fmla="*/ 123 h 183"/>
                <a:gd name="T4" fmla="*/ 0 w 585"/>
                <a:gd name="T5" fmla="*/ 0 h 183"/>
                <a:gd name="T6" fmla="*/ 585 w 585"/>
                <a:gd name="T7" fmla="*/ 157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85" h="183">
                  <a:moveTo>
                    <a:pt x="585" y="157"/>
                  </a:moveTo>
                  <a:cubicBezTo>
                    <a:pt x="407" y="183"/>
                    <a:pt x="223" y="179"/>
                    <a:pt x="0" y="12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80" y="122"/>
                    <a:pt x="380" y="161"/>
                    <a:pt x="585" y="1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atinLnBrk="0"/>
              <a:endParaRPr lang="ko-KR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26" name="Freeform 9"/>
            <p:cNvSpPr>
              <a:spLocks/>
            </p:cNvSpPr>
            <p:nvPr userDrawn="1"/>
          </p:nvSpPr>
          <p:spPr bwMode="auto">
            <a:xfrm>
              <a:off x="1588" y="920750"/>
              <a:ext cx="1714500" cy="917575"/>
            </a:xfrm>
            <a:custGeom>
              <a:avLst/>
              <a:gdLst>
                <a:gd name="T0" fmla="*/ 0 w 540"/>
                <a:gd name="T1" fmla="*/ 66 h 289"/>
                <a:gd name="T2" fmla="*/ 540 w 540"/>
                <a:gd name="T3" fmla="*/ 272 h 289"/>
                <a:gd name="T4" fmla="*/ 0 w 540"/>
                <a:gd name="T5" fmla="*/ 0 h 289"/>
                <a:gd name="T6" fmla="*/ 0 w 540"/>
                <a:gd name="T7" fmla="*/ 66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40" h="289">
                  <a:moveTo>
                    <a:pt x="0" y="66"/>
                  </a:moveTo>
                  <a:cubicBezTo>
                    <a:pt x="166" y="227"/>
                    <a:pt x="351" y="278"/>
                    <a:pt x="540" y="272"/>
                  </a:cubicBezTo>
                  <a:cubicBezTo>
                    <a:pt x="540" y="272"/>
                    <a:pt x="251" y="289"/>
                    <a:pt x="0" y="0"/>
                  </a:cubicBezTo>
                  <a:lnTo>
                    <a:pt x="0" y="66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atinLnBrk="0"/>
              <a:endParaRPr lang="ko-KR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28" name="Freeform 10"/>
            <p:cNvSpPr>
              <a:spLocks/>
            </p:cNvSpPr>
            <p:nvPr userDrawn="1"/>
          </p:nvSpPr>
          <p:spPr bwMode="auto">
            <a:xfrm>
              <a:off x="4987926" y="1644650"/>
              <a:ext cx="3916363" cy="5213350"/>
            </a:xfrm>
            <a:custGeom>
              <a:avLst/>
              <a:gdLst>
                <a:gd name="T0" fmla="*/ 0 w 1234"/>
                <a:gd name="T1" fmla="*/ 1642 h 1642"/>
                <a:gd name="T2" fmla="*/ 185 w 1234"/>
                <a:gd name="T3" fmla="*/ 1642 h 1642"/>
                <a:gd name="T4" fmla="*/ 1148 w 1234"/>
                <a:gd name="T5" fmla="*/ 510 h 1642"/>
                <a:gd name="T6" fmla="*/ 950 w 1234"/>
                <a:gd name="T7" fmla="*/ 0 h 1642"/>
                <a:gd name="T8" fmla="*/ 1021 w 1234"/>
                <a:gd name="T9" fmla="*/ 700 h 1642"/>
                <a:gd name="T10" fmla="*/ 0 w 1234"/>
                <a:gd name="T11" fmla="*/ 1642 h 1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34" h="1642">
                  <a:moveTo>
                    <a:pt x="0" y="1642"/>
                  </a:moveTo>
                  <a:cubicBezTo>
                    <a:pt x="185" y="1642"/>
                    <a:pt x="185" y="1642"/>
                    <a:pt x="185" y="1642"/>
                  </a:cubicBezTo>
                  <a:cubicBezTo>
                    <a:pt x="426" y="1466"/>
                    <a:pt x="1125" y="921"/>
                    <a:pt x="1148" y="510"/>
                  </a:cubicBezTo>
                  <a:cubicBezTo>
                    <a:pt x="1162" y="270"/>
                    <a:pt x="1079" y="107"/>
                    <a:pt x="950" y="0"/>
                  </a:cubicBezTo>
                  <a:cubicBezTo>
                    <a:pt x="957" y="7"/>
                    <a:pt x="1234" y="300"/>
                    <a:pt x="1021" y="700"/>
                  </a:cubicBezTo>
                  <a:cubicBezTo>
                    <a:pt x="832" y="1055"/>
                    <a:pt x="231" y="1495"/>
                    <a:pt x="0" y="1642"/>
                  </a:cubicBezTo>
                  <a:close/>
                </a:path>
              </a:pathLst>
            </a:custGeom>
            <a:gradFill>
              <a:gsLst>
                <a:gs pos="100000">
                  <a:schemeClr val="tx2">
                    <a:alpha val="20000"/>
                  </a:schemeClr>
                </a:gs>
                <a:gs pos="50000">
                  <a:schemeClr val="tx2">
                    <a:alpha val="0"/>
                  </a:schemeClr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atinLnBrk="0"/>
              <a:endParaRPr lang="ko-KR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29" name="Freeform 11"/>
            <p:cNvSpPr>
              <a:spLocks/>
            </p:cNvSpPr>
            <p:nvPr userDrawn="1"/>
          </p:nvSpPr>
          <p:spPr bwMode="auto">
            <a:xfrm>
              <a:off x="5835651" y="4930775"/>
              <a:ext cx="2097088" cy="1927225"/>
            </a:xfrm>
            <a:custGeom>
              <a:avLst/>
              <a:gdLst>
                <a:gd name="T0" fmla="*/ 0 w 661"/>
                <a:gd name="T1" fmla="*/ 607 h 607"/>
                <a:gd name="T2" fmla="*/ 118 w 661"/>
                <a:gd name="T3" fmla="*/ 607 h 607"/>
                <a:gd name="T4" fmla="*/ 661 w 661"/>
                <a:gd name="T5" fmla="*/ 0 h 607"/>
                <a:gd name="T6" fmla="*/ 0 w 661"/>
                <a:gd name="T7" fmla="*/ 607 h 6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1" h="607">
                  <a:moveTo>
                    <a:pt x="0" y="607"/>
                  </a:moveTo>
                  <a:cubicBezTo>
                    <a:pt x="118" y="607"/>
                    <a:pt x="118" y="607"/>
                    <a:pt x="118" y="607"/>
                  </a:cubicBezTo>
                  <a:cubicBezTo>
                    <a:pt x="417" y="324"/>
                    <a:pt x="585" y="108"/>
                    <a:pt x="661" y="0"/>
                  </a:cubicBezTo>
                  <a:cubicBezTo>
                    <a:pt x="488" y="230"/>
                    <a:pt x="96" y="534"/>
                    <a:pt x="0" y="607"/>
                  </a:cubicBez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atinLnBrk="0"/>
              <a:endParaRPr lang="ko-KR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30" name="Freeform 12"/>
            <p:cNvSpPr>
              <a:spLocks/>
            </p:cNvSpPr>
            <p:nvPr userDrawn="1"/>
          </p:nvSpPr>
          <p:spPr bwMode="auto">
            <a:xfrm>
              <a:off x="8793163" y="1355725"/>
              <a:ext cx="107950" cy="107950"/>
            </a:xfrm>
            <a:custGeom>
              <a:avLst/>
              <a:gdLst>
                <a:gd name="T0" fmla="*/ 68 w 68"/>
                <a:gd name="T1" fmla="*/ 26 h 68"/>
                <a:gd name="T2" fmla="*/ 68 w 68"/>
                <a:gd name="T3" fmla="*/ 40 h 68"/>
                <a:gd name="T4" fmla="*/ 40 w 68"/>
                <a:gd name="T5" fmla="*/ 40 h 68"/>
                <a:gd name="T6" fmla="*/ 40 w 68"/>
                <a:gd name="T7" fmla="*/ 68 h 68"/>
                <a:gd name="T8" fmla="*/ 26 w 68"/>
                <a:gd name="T9" fmla="*/ 68 h 68"/>
                <a:gd name="T10" fmla="*/ 26 w 68"/>
                <a:gd name="T11" fmla="*/ 40 h 68"/>
                <a:gd name="T12" fmla="*/ 0 w 68"/>
                <a:gd name="T13" fmla="*/ 40 h 68"/>
                <a:gd name="T14" fmla="*/ 0 w 68"/>
                <a:gd name="T15" fmla="*/ 26 h 68"/>
                <a:gd name="T16" fmla="*/ 26 w 68"/>
                <a:gd name="T17" fmla="*/ 26 h 68"/>
                <a:gd name="T18" fmla="*/ 26 w 68"/>
                <a:gd name="T19" fmla="*/ 0 h 68"/>
                <a:gd name="T20" fmla="*/ 40 w 68"/>
                <a:gd name="T21" fmla="*/ 0 h 68"/>
                <a:gd name="T22" fmla="*/ 40 w 68"/>
                <a:gd name="T23" fmla="*/ 26 h 68"/>
                <a:gd name="T24" fmla="*/ 68 w 68"/>
                <a:gd name="T25" fmla="*/ 26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8" h="68">
                  <a:moveTo>
                    <a:pt x="68" y="26"/>
                  </a:moveTo>
                  <a:lnTo>
                    <a:pt x="68" y="40"/>
                  </a:lnTo>
                  <a:lnTo>
                    <a:pt x="40" y="40"/>
                  </a:lnTo>
                  <a:lnTo>
                    <a:pt x="40" y="68"/>
                  </a:lnTo>
                  <a:lnTo>
                    <a:pt x="26" y="68"/>
                  </a:lnTo>
                  <a:lnTo>
                    <a:pt x="26" y="40"/>
                  </a:lnTo>
                  <a:lnTo>
                    <a:pt x="0" y="40"/>
                  </a:lnTo>
                  <a:lnTo>
                    <a:pt x="0" y="26"/>
                  </a:lnTo>
                  <a:lnTo>
                    <a:pt x="26" y="26"/>
                  </a:lnTo>
                  <a:lnTo>
                    <a:pt x="26" y="0"/>
                  </a:lnTo>
                  <a:lnTo>
                    <a:pt x="40" y="0"/>
                  </a:lnTo>
                  <a:lnTo>
                    <a:pt x="40" y="26"/>
                  </a:lnTo>
                  <a:lnTo>
                    <a:pt x="68" y="2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atinLnBrk="0"/>
              <a:endParaRPr lang="ko-KR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31" name="Freeform 13"/>
            <p:cNvSpPr>
              <a:spLocks/>
            </p:cNvSpPr>
            <p:nvPr userDrawn="1"/>
          </p:nvSpPr>
          <p:spPr bwMode="auto">
            <a:xfrm>
              <a:off x="5861051" y="454025"/>
              <a:ext cx="107950" cy="107950"/>
            </a:xfrm>
            <a:custGeom>
              <a:avLst/>
              <a:gdLst>
                <a:gd name="T0" fmla="*/ 68 w 68"/>
                <a:gd name="T1" fmla="*/ 26 h 68"/>
                <a:gd name="T2" fmla="*/ 68 w 68"/>
                <a:gd name="T3" fmla="*/ 40 h 68"/>
                <a:gd name="T4" fmla="*/ 40 w 68"/>
                <a:gd name="T5" fmla="*/ 40 h 68"/>
                <a:gd name="T6" fmla="*/ 40 w 68"/>
                <a:gd name="T7" fmla="*/ 68 h 68"/>
                <a:gd name="T8" fmla="*/ 28 w 68"/>
                <a:gd name="T9" fmla="*/ 68 h 68"/>
                <a:gd name="T10" fmla="*/ 28 w 68"/>
                <a:gd name="T11" fmla="*/ 40 h 68"/>
                <a:gd name="T12" fmla="*/ 0 w 68"/>
                <a:gd name="T13" fmla="*/ 40 h 68"/>
                <a:gd name="T14" fmla="*/ 0 w 68"/>
                <a:gd name="T15" fmla="*/ 26 h 68"/>
                <a:gd name="T16" fmla="*/ 28 w 68"/>
                <a:gd name="T17" fmla="*/ 26 h 68"/>
                <a:gd name="T18" fmla="*/ 28 w 68"/>
                <a:gd name="T19" fmla="*/ 0 h 68"/>
                <a:gd name="T20" fmla="*/ 40 w 68"/>
                <a:gd name="T21" fmla="*/ 0 h 68"/>
                <a:gd name="T22" fmla="*/ 40 w 68"/>
                <a:gd name="T23" fmla="*/ 26 h 68"/>
                <a:gd name="T24" fmla="*/ 68 w 68"/>
                <a:gd name="T25" fmla="*/ 26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8" h="68">
                  <a:moveTo>
                    <a:pt x="68" y="26"/>
                  </a:moveTo>
                  <a:lnTo>
                    <a:pt x="68" y="40"/>
                  </a:lnTo>
                  <a:lnTo>
                    <a:pt x="40" y="40"/>
                  </a:lnTo>
                  <a:lnTo>
                    <a:pt x="40" y="68"/>
                  </a:lnTo>
                  <a:lnTo>
                    <a:pt x="28" y="68"/>
                  </a:lnTo>
                  <a:lnTo>
                    <a:pt x="28" y="40"/>
                  </a:lnTo>
                  <a:lnTo>
                    <a:pt x="0" y="40"/>
                  </a:lnTo>
                  <a:lnTo>
                    <a:pt x="0" y="26"/>
                  </a:lnTo>
                  <a:lnTo>
                    <a:pt x="28" y="26"/>
                  </a:lnTo>
                  <a:lnTo>
                    <a:pt x="28" y="0"/>
                  </a:lnTo>
                  <a:lnTo>
                    <a:pt x="40" y="0"/>
                  </a:lnTo>
                  <a:lnTo>
                    <a:pt x="40" y="26"/>
                  </a:lnTo>
                  <a:lnTo>
                    <a:pt x="68" y="2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atinLnBrk="0"/>
              <a:endParaRPr lang="ko-KR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32" name="Freeform 14"/>
            <p:cNvSpPr>
              <a:spLocks/>
            </p:cNvSpPr>
            <p:nvPr userDrawn="1"/>
          </p:nvSpPr>
          <p:spPr bwMode="auto">
            <a:xfrm>
              <a:off x="6343651" y="1301750"/>
              <a:ext cx="107950" cy="107950"/>
            </a:xfrm>
            <a:custGeom>
              <a:avLst/>
              <a:gdLst>
                <a:gd name="T0" fmla="*/ 68 w 68"/>
                <a:gd name="T1" fmla="*/ 26 h 68"/>
                <a:gd name="T2" fmla="*/ 68 w 68"/>
                <a:gd name="T3" fmla="*/ 40 h 68"/>
                <a:gd name="T4" fmla="*/ 40 w 68"/>
                <a:gd name="T5" fmla="*/ 40 h 68"/>
                <a:gd name="T6" fmla="*/ 40 w 68"/>
                <a:gd name="T7" fmla="*/ 68 h 68"/>
                <a:gd name="T8" fmla="*/ 28 w 68"/>
                <a:gd name="T9" fmla="*/ 68 h 68"/>
                <a:gd name="T10" fmla="*/ 28 w 68"/>
                <a:gd name="T11" fmla="*/ 40 h 68"/>
                <a:gd name="T12" fmla="*/ 0 w 68"/>
                <a:gd name="T13" fmla="*/ 40 h 68"/>
                <a:gd name="T14" fmla="*/ 0 w 68"/>
                <a:gd name="T15" fmla="*/ 26 h 68"/>
                <a:gd name="T16" fmla="*/ 28 w 68"/>
                <a:gd name="T17" fmla="*/ 26 h 68"/>
                <a:gd name="T18" fmla="*/ 28 w 68"/>
                <a:gd name="T19" fmla="*/ 0 h 68"/>
                <a:gd name="T20" fmla="*/ 40 w 68"/>
                <a:gd name="T21" fmla="*/ 0 h 68"/>
                <a:gd name="T22" fmla="*/ 40 w 68"/>
                <a:gd name="T23" fmla="*/ 26 h 68"/>
                <a:gd name="T24" fmla="*/ 68 w 68"/>
                <a:gd name="T25" fmla="*/ 26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8" h="68">
                  <a:moveTo>
                    <a:pt x="68" y="26"/>
                  </a:moveTo>
                  <a:lnTo>
                    <a:pt x="68" y="40"/>
                  </a:lnTo>
                  <a:lnTo>
                    <a:pt x="40" y="40"/>
                  </a:lnTo>
                  <a:lnTo>
                    <a:pt x="40" y="68"/>
                  </a:lnTo>
                  <a:lnTo>
                    <a:pt x="28" y="68"/>
                  </a:lnTo>
                  <a:lnTo>
                    <a:pt x="28" y="40"/>
                  </a:lnTo>
                  <a:lnTo>
                    <a:pt x="0" y="40"/>
                  </a:lnTo>
                  <a:lnTo>
                    <a:pt x="0" y="26"/>
                  </a:lnTo>
                  <a:lnTo>
                    <a:pt x="28" y="26"/>
                  </a:lnTo>
                  <a:lnTo>
                    <a:pt x="28" y="0"/>
                  </a:lnTo>
                  <a:lnTo>
                    <a:pt x="40" y="0"/>
                  </a:lnTo>
                  <a:lnTo>
                    <a:pt x="40" y="26"/>
                  </a:lnTo>
                  <a:lnTo>
                    <a:pt x="68" y="2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atinLnBrk="0"/>
              <a:endParaRPr lang="ko-KR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33" name="Freeform 15"/>
            <p:cNvSpPr>
              <a:spLocks/>
            </p:cNvSpPr>
            <p:nvPr userDrawn="1"/>
          </p:nvSpPr>
          <p:spPr bwMode="auto">
            <a:xfrm>
              <a:off x="7500938" y="260350"/>
              <a:ext cx="107950" cy="107950"/>
            </a:xfrm>
            <a:custGeom>
              <a:avLst/>
              <a:gdLst>
                <a:gd name="T0" fmla="*/ 68 w 68"/>
                <a:gd name="T1" fmla="*/ 28 h 68"/>
                <a:gd name="T2" fmla="*/ 68 w 68"/>
                <a:gd name="T3" fmla="*/ 40 h 68"/>
                <a:gd name="T4" fmla="*/ 42 w 68"/>
                <a:gd name="T5" fmla="*/ 40 h 68"/>
                <a:gd name="T6" fmla="*/ 42 w 68"/>
                <a:gd name="T7" fmla="*/ 68 h 68"/>
                <a:gd name="T8" fmla="*/ 28 w 68"/>
                <a:gd name="T9" fmla="*/ 68 h 68"/>
                <a:gd name="T10" fmla="*/ 28 w 68"/>
                <a:gd name="T11" fmla="*/ 40 h 68"/>
                <a:gd name="T12" fmla="*/ 0 w 68"/>
                <a:gd name="T13" fmla="*/ 40 h 68"/>
                <a:gd name="T14" fmla="*/ 0 w 68"/>
                <a:gd name="T15" fmla="*/ 28 h 68"/>
                <a:gd name="T16" fmla="*/ 28 w 68"/>
                <a:gd name="T17" fmla="*/ 28 h 68"/>
                <a:gd name="T18" fmla="*/ 28 w 68"/>
                <a:gd name="T19" fmla="*/ 0 h 68"/>
                <a:gd name="T20" fmla="*/ 42 w 68"/>
                <a:gd name="T21" fmla="*/ 0 h 68"/>
                <a:gd name="T22" fmla="*/ 42 w 68"/>
                <a:gd name="T23" fmla="*/ 28 h 68"/>
                <a:gd name="T24" fmla="*/ 68 w 68"/>
                <a:gd name="T25" fmla="*/ 28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8" h="68">
                  <a:moveTo>
                    <a:pt x="68" y="28"/>
                  </a:moveTo>
                  <a:lnTo>
                    <a:pt x="68" y="40"/>
                  </a:lnTo>
                  <a:lnTo>
                    <a:pt x="42" y="40"/>
                  </a:lnTo>
                  <a:lnTo>
                    <a:pt x="42" y="68"/>
                  </a:lnTo>
                  <a:lnTo>
                    <a:pt x="28" y="68"/>
                  </a:lnTo>
                  <a:lnTo>
                    <a:pt x="28" y="40"/>
                  </a:lnTo>
                  <a:lnTo>
                    <a:pt x="0" y="40"/>
                  </a:lnTo>
                  <a:lnTo>
                    <a:pt x="0" y="28"/>
                  </a:lnTo>
                  <a:lnTo>
                    <a:pt x="28" y="28"/>
                  </a:lnTo>
                  <a:lnTo>
                    <a:pt x="28" y="0"/>
                  </a:lnTo>
                  <a:lnTo>
                    <a:pt x="42" y="0"/>
                  </a:lnTo>
                  <a:lnTo>
                    <a:pt x="42" y="28"/>
                  </a:lnTo>
                  <a:lnTo>
                    <a:pt x="68" y="2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atinLnBrk="0"/>
              <a:endParaRPr lang="ko-KR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34" name="Freeform 16"/>
            <p:cNvSpPr>
              <a:spLocks/>
            </p:cNvSpPr>
            <p:nvPr userDrawn="1"/>
          </p:nvSpPr>
          <p:spPr bwMode="auto">
            <a:xfrm>
              <a:off x="7662863" y="993775"/>
              <a:ext cx="107950" cy="107950"/>
            </a:xfrm>
            <a:custGeom>
              <a:avLst/>
              <a:gdLst>
                <a:gd name="T0" fmla="*/ 68 w 68"/>
                <a:gd name="T1" fmla="*/ 26 h 68"/>
                <a:gd name="T2" fmla="*/ 68 w 68"/>
                <a:gd name="T3" fmla="*/ 40 h 68"/>
                <a:gd name="T4" fmla="*/ 42 w 68"/>
                <a:gd name="T5" fmla="*/ 40 h 68"/>
                <a:gd name="T6" fmla="*/ 42 w 68"/>
                <a:gd name="T7" fmla="*/ 68 h 68"/>
                <a:gd name="T8" fmla="*/ 28 w 68"/>
                <a:gd name="T9" fmla="*/ 68 h 68"/>
                <a:gd name="T10" fmla="*/ 28 w 68"/>
                <a:gd name="T11" fmla="*/ 40 h 68"/>
                <a:gd name="T12" fmla="*/ 0 w 68"/>
                <a:gd name="T13" fmla="*/ 40 h 68"/>
                <a:gd name="T14" fmla="*/ 0 w 68"/>
                <a:gd name="T15" fmla="*/ 26 h 68"/>
                <a:gd name="T16" fmla="*/ 28 w 68"/>
                <a:gd name="T17" fmla="*/ 26 h 68"/>
                <a:gd name="T18" fmla="*/ 28 w 68"/>
                <a:gd name="T19" fmla="*/ 0 h 68"/>
                <a:gd name="T20" fmla="*/ 42 w 68"/>
                <a:gd name="T21" fmla="*/ 0 h 68"/>
                <a:gd name="T22" fmla="*/ 42 w 68"/>
                <a:gd name="T23" fmla="*/ 26 h 68"/>
                <a:gd name="T24" fmla="*/ 68 w 68"/>
                <a:gd name="T25" fmla="*/ 26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8" h="68">
                  <a:moveTo>
                    <a:pt x="68" y="26"/>
                  </a:moveTo>
                  <a:lnTo>
                    <a:pt x="68" y="40"/>
                  </a:lnTo>
                  <a:lnTo>
                    <a:pt x="42" y="40"/>
                  </a:lnTo>
                  <a:lnTo>
                    <a:pt x="42" y="68"/>
                  </a:lnTo>
                  <a:lnTo>
                    <a:pt x="28" y="68"/>
                  </a:lnTo>
                  <a:lnTo>
                    <a:pt x="28" y="40"/>
                  </a:lnTo>
                  <a:lnTo>
                    <a:pt x="0" y="40"/>
                  </a:lnTo>
                  <a:lnTo>
                    <a:pt x="0" y="26"/>
                  </a:lnTo>
                  <a:lnTo>
                    <a:pt x="28" y="26"/>
                  </a:lnTo>
                  <a:lnTo>
                    <a:pt x="28" y="0"/>
                  </a:lnTo>
                  <a:lnTo>
                    <a:pt x="42" y="0"/>
                  </a:lnTo>
                  <a:lnTo>
                    <a:pt x="42" y="26"/>
                  </a:lnTo>
                  <a:lnTo>
                    <a:pt x="68" y="2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atinLnBrk="0"/>
              <a:endParaRPr lang="ko-KR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35" name="Freeform 17"/>
            <p:cNvSpPr>
              <a:spLocks/>
            </p:cNvSpPr>
            <p:nvPr userDrawn="1"/>
          </p:nvSpPr>
          <p:spPr bwMode="auto">
            <a:xfrm>
              <a:off x="7710488" y="2168525"/>
              <a:ext cx="107950" cy="107950"/>
            </a:xfrm>
            <a:custGeom>
              <a:avLst/>
              <a:gdLst>
                <a:gd name="T0" fmla="*/ 68 w 68"/>
                <a:gd name="T1" fmla="*/ 26 h 68"/>
                <a:gd name="T2" fmla="*/ 68 w 68"/>
                <a:gd name="T3" fmla="*/ 40 h 68"/>
                <a:gd name="T4" fmla="*/ 40 w 68"/>
                <a:gd name="T5" fmla="*/ 40 h 68"/>
                <a:gd name="T6" fmla="*/ 40 w 68"/>
                <a:gd name="T7" fmla="*/ 68 h 68"/>
                <a:gd name="T8" fmla="*/ 26 w 68"/>
                <a:gd name="T9" fmla="*/ 68 h 68"/>
                <a:gd name="T10" fmla="*/ 26 w 68"/>
                <a:gd name="T11" fmla="*/ 40 h 68"/>
                <a:gd name="T12" fmla="*/ 0 w 68"/>
                <a:gd name="T13" fmla="*/ 40 h 68"/>
                <a:gd name="T14" fmla="*/ 0 w 68"/>
                <a:gd name="T15" fmla="*/ 26 h 68"/>
                <a:gd name="T16" fmla="*/ 26 w 68"/>
                <a:gd name="T17" fmla="*/ 26 h 68"/>
                <a:gd name="T18" fmla="*/ 26 w 68"/>
                <a:gd name="T19" fmla="*/ 0 h 68"/>
                <a:gd name="T20" fmla="*/ 40 w 68"/>
                <a:gd name="T21" fmla="*/ 0 h 68"/>
                <a:gd name="T22" fmla="*/ 40 w 68"/>
                <a:gd name="T23" fmla="*/ 26 h 68"/>
                <a:gd name="T24" fmla="*/ 68 w 68"/>
                <a:gd name="T25" fmla="*/ 26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8" h="68">
                  <a:moveTo>
                    <a:pt x="68" y="26"/>
                  </a:moveTo>
                  <a:lnTo>
                    <a:pt x="68" y="40"/>
                  </a:lnTo>
                  <a:lnTo>
                    <a:pt x="40" y="40"/>
                  </a:lnTo>
                  <a:lnTo>
                    <a:pt x="40" y="68"/>
                  </a:lnTo>
                  <a:lnTo>
                    <a:pt x="26" y="68"/>
                  </a:lnTo>
                  <a:lnTo>
                    <a:pt x="26" y="40"/>
                  </a:lnTo>
                  <a:lnTo>
                    <a:pt x="0" y="40"/>
                  </a:lnTo>
                  <a:lnTo>
                    <a:pt x="0" y="26"/>
                  </a:lnTo>
                  <a:lnTo>
                    <a:pt x="26" y="26"/>
                  </a:lnTo>
                  <a:lnTo>
                    <a:pt x="26" y="0"/>
                  </a:lnTo>
                  <a:lnTo>
                    <a:pt x="40" y="0"/>
                  </a:lnTo>
                  <a:lnTo>
                    <a:pt x="40" y="26"/>
                  </a:lnTo>
                  <a:lnTo>
                    <a:pt x="68" y="2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atinLnBrk="0"/>
              <a:endParaRPr lang="ko-KR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36" name="Freeform 18"/>
            <p:cNvSpPr>
              <a:spLocks/>
            </p:cNvSpPr>
            <p:nvPr userDrawn="1"/>
          </p:nvSpPr>
          <p:spPr bwMode="auto">
            <a:xfrm>
              <a:off x="8844495" y="299740"/>
              <a:ext cx="107950" cy="107950"/>
            </a:xfrm>
            <a:custGeom>
              <a:avLst/>
              <a:gdLst>
                <a:gd name="T0" fmla="*/ 68 w 68"/>
                <a:gd name="T1" fmla="*/ 28 h 68"/>
                <a:gd name="T2" fmla="*/ 68 w 68"/>
                <a:gd name="T3" fmla="*/ 40 h 68"/>
                <a:gd name="T4" fmla="*/ 40 w 68"/>
                <a:gd name="T5" fmla="*/ 40 h 68"/>
                <a:gd name="T6" fmla="*/ 40 w 68"/>
                <a:gd name="T7" fmla="*/ 68 h 68"/>
                <a:gd name="T8" fmla="*/ 26 w 68"/>
                <a:gd name="T9" fmla="*/ 68 h 68"/>
                <a:gd name="T10" fmla="*/ 26 w 68"/>
                <a:gd name="T11" fmla="*/ 40 h 68"/>
                <a:gd name="T12" fmla="*/ 0 w 68"/>
                <a:gd name="T13" fmla="*/ 40 h 68"/>
                <a:gd name="T14" fmla="*/ 0 w 68"/>
                <a:gd name="T15" fmla="*/ 28 h 68"/>
                <a:gd name="T16" fmla="*/ 26 w 68"/>
                <a:gd name="T17" fmla="*/ 28 h 68"/>
                <a:gd name="T18" fmla="*/ 26 w 68"/>
                <a:gd name="T19" fmla="*/ 0 h 68"/>
                <a:gd name="T20" fmla="*/ 40 w 68"/>
                <a:gd name="T21" fmla="*/ 0 h 68"/>
                <a:gd name="T22" fmla="*/ 40 w 68"/>
                <a:gd name="T23" fmla="*/ 28 h 68"/>
                <a:gd name="T24" fmla="*/ 68 w 68"/>
                <a:gd name="T25" fmla="*/ 28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8" h="68">
                  <a:moveTo>
                    <a:pt x="68" y="28"/>
                  </a:moveTo>
                  <a:lnTo>
                    <a:pt x="68" y="40"/>
                  </a:lnTo>
                  <a:lnTo>
                    <a:pt x="40" y="40"/>
                  </a:lnTo>
                  <a:lnTo>
                    <a:pt x="40" y="68"/>
                  </a:lnTo>
                  <a:lnTo>
                    <a:pt x="26" y="68"/>
                  </a:lnTo>
                  <a:lnTo>
                    <a:pt x="26" y="40"/>
                  </a:lnTo>
                  <a:lnTo>
                    <a:pt x="0" y="40"/>
                  </a:lnTo>
                  <a:lnTo>
                    <a:pt x="0" y="28"/>
                  </a:lnTo>
                  <a:lnTo>
                    <a:pt x="26" y="28"/>
                  </a:lnTo>
                  <a:lnTo>
                    <a:pt x="26" y="0"/>
                  </a:lnTo>
                  <a:lnTo>
                    <a:pt x="40" y="0"/>
                  </a:lnTo>
                  <a:lnTo>
                    <a:pt x="40" y="28"/>
                  </a:lnTo>
                  <a:lnTo>
                    <a:pt x="68" y="2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atinLnBrk="0"/>
              <a:endParaRPr lang="ko-KR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37" name="Freeform 19"/>
            <p:cNvSpPr>
              <a:spLocks/>
            </p:cNvSpPr>
            <p:nvPr userDrawn="1"/>
          </p:nvSpPr>
          <p:spPr bwMode="auto">
            <a:xfrm>
              <a:off x="7072313" y="1628775"/>
              <a:ext cx="142875" cy="142875"/>
            </a:xfrm>
            <a:custGeom>
              <a:avLst/>
              <a:gdLst>
                <a:gd name="T0" fmla="*/ 90 w 90"/>
                <a:gd name="T1" fmla="*/ 36 h 90"/>
                <a:gd name="T2" fmla="*/ 90 w 90"/>
                <a:gd name="T3" fmla="*/ 54 h 90"/>
                <a:gd name="T4" fmla="*/ 54 w 90"/>
                <a:gd name="T5" fmla="*/ 54 h 90"/>
                <a:gd name="T6" fmla="*/ 54 w 90"/>
                <a:gd name="T7" fmla="*/ 90 h 90"/>
                <a:gd name="T8" fmla="*/ 36 w 90"/>
                <a:gd name="T9" fmla="*/ 90 h 90"/>
                <a:gd name="T10" fmla="*/ 36 w 90"/>
                <a:gd name="T11" fmla="*/ 54 h 90"/>
                <a:gd name="T12" fmla="*/ 0 w 90"/>
                <a:gd name="T13" fmla="*/ 54 h 90"/>
                <a:gd name="T14" fmla="*/ 0 w 90"/>
                <a:gd name="T15" fmla="*/ 36 h 90"/>
                <a:gd name="T16" fmla="*/ 36 w 90"/>
                <a:gd name="T17" fmla="*/ 36 h 90"/>
                <a:gd name="T18" fmla="*/ 36 w 90"/>
                <a:gd name="T19" fmla="*/ 0 h 90"/>
                <a:gd name="T20" fmla="*/ 54 w 90"/>
                <a:gd name="T21" fmla="*/ 0 h 90"/>
                <a:gd name="T22" fmla="*/ 54 w 90"/>
                <a:gd name="T23" fmla="*/ 36 h 90"/>
                <a:gd name="T24" fmla="*/ 90 w 90"/>
                <a:gd name="T25" fmla="*/ 36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0" h="90">
                  <a:moveTo>
                    <a:pt x="90" y="36"/>
                  </a:moveTo>
                  <a:lnTo>
                    <a:pt x="90" y="54"/>
                  </a:lnTo>
                  <a:lnTo>
                    <a:pt x="54" y="54"/>
                  </a:lnTo>
                  <a:lnTo>
                    <a:pt x="54" y="90"/>
                  </a:lnTo>
                  <a:lnTo>
                    <a:pt x="36" y="90"/>
                  </a:lnTo>
                  <a:lnTo>
                    <a:pt x="36" y="54"/>
                  </a:lnTo>
                  <a:lnTo>
                    <a:pt x="0" y="54"/>
                  </a:lnTo>
                  <a:lnTo>
                    <a:pt x="0" y="36"/>
                  </a:lnTo>
                  <a:lnTo>
                    <a:pt x="36" y="36"/>
                  </a:lnTo>
                  <a:lnTo>
                    <a:pt x="36" y="0"/>
                  </a:lnTo>
                  <a:lnTo>
                    <a:pt x="54" y="0"/>
                  </a:lnTo>
                  <a:lnTo>
                    <a:pt x="54" y="36"/>
                  </a:lnTo>
                  <a:lnTo>
                    <a:pt x="90" y="3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atinLnBrk="0"/>
              <a:endParaRPr lang="ko-KR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38" name="Freeform 20"/>
            <p:cNvSpPr>
              <a:spLocks/>
            </p:cNvSpPr>
            <p:nvPr userDrawn="1"/>
          </p:nvSpPr>
          <p:spPr bwMode="auto">
            <a:xfrm>
              <a:off x="5969001" y="1628775"/>
              <a:ext cx="142875" cy="142875"/>
            </a:xfrm>
            <a:custGeom>
              <a:avLst/>
              <a:gdLst>
                <a:gd name="T0" fmla="*/ 90 w 90"/>
                <a:gd name="T1" fmla="*/ 36 h 90"/>
                <a:gd name="T2" fmla="*/ 90 w 90"/>
                <a:gd name="T3" fmla="*/ 54 h 90"/>
                <a:gd name="T4" fmla="*/ 54 w 90"/>
                <a:gd name="T5" fmla="*/ 54 h 90"/>
                <a:gd name="T6" fmla="*/ 54 w 90"/>
                <a:gd name="T7" fmla="*/ 90 h 90"/>
                <a:gd name="T8" fmla="*/ 36 w 90"/>
                <a:gd name="T9" fmla="*/ 90 h 90"/>
                <a:gd name="T10" fmla="*/ 36 w 90"/>
                <a:gd name="T11" fmla="*/ 54 h 90"/>
                <a:gd name="T12" fmla="*/ 0 w 90"/>
                <a:gd name="T13" fmla="*/ 54 h 90"/>
                <a:gd name="T14" fmla="*/ 0 w 90"/>
                <a:gd name="T15" fmla="*/ 36 h 90"/>
                <a:gd name="T16" fmla="*/ 36 w 90"/>
                <a:gd name="T17" fmla="*/ 36 h 90"/>
                <a:gd name="T18" fmla="*/ 36 w 90"/>
                <a:gd name="T19" fmla="*/ 0 h 90"/>
                <a:gd name="T20" fmla="*/ 54 w 90"/>
                <a:gd name="T21" fmla="*/ 0 h 90"/>
                <a:gd name="T22" fmla="*/ 54 w 90"/>
                <a:gd name="T23" fmla="*/ 36 h 90"/>
                <a:gd name="T24" fmla="*/ 90 w 90"/>
                <a:gd name="T25" fmla="*/ 36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0" h="90">
                  <a:moveTo>
                    <a:pt x="90" y="36"/>
                  </a:moveTo>
                  <a:lnTo>
                    <a:pt x="90" y="54"/>
                  </a:lnTo>
                  <a:lnTo>
                    <a:pt x="54" y="54"/>
                  </a:lnTo>
                  <a:lnTo>
                    <a:pt x="54" y="90"/>
                  </a:lnTo>
                  <a:lnTo>
                    <a:pt x="36" y="90"/>
                  </a:lnTo>
                  <a:lnTo>
                    <a:pt x="36" y="54"/>
                  </a:lnTo>
                  <a:lnTo>
                    <a:pt x="0" y="54"/>
                  </a:lnTo>
                  <a:lnTo>
                    <a:pt x="0" y="36"/>
                  </a:lnTo>
                  <a:lnTo>
                    <a:pt x="36" y="36"/>
                  </a:lnTo>
                  <a:lnTo>
                    <a:pt x="36" y="0"/>
                  </a:lnTo>
                  <a:lnTo>
                    <a:pt x="54" y="0"/>
                  </a:lnTo>
                  <a:lnTo>
                    <a:pt x="54" y="36"/>
                  </a:lnTo>
                  <a:lnTo>
                    <a:pt x="90" y="3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atinLnBrk="0"/>
              <a:endParaRPr lang="ko-KR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39" name="Freeform 21"/>
            <p:cNvSpPr>
              <a:spLocks/>
            </p:cNvSpPr>
            <p:nvPr userDrawn="1"/>
          </p:nvSpPr>
          <p:spPr bwMode="auto">
            <a:xfrm>
              <a:off x="7000876" y="434975"/>
              <a:ext cx="141288" cy="142875"/>
            </a:xfrm>
            <a:custGeom>
              <a:avLst/>
              <a:gdLst>
                <a:gd name="T0" fmla="*/ 89 w 89"/>
                <a:gd name="T1" fmla="*/ 36 h 90"/>
                <a:gd name="T2" fmla="*/ 89 w 89"/>
                <a:gd name="T3" fmla="*/ 54 h 90"/>
                <a:gd name="T4" fmla="*/ 53 w 89"/>
                <a:gd name="T5" fmla="*/ 54 h 90"/>
                <a:gd name="T6" fmla="*/ 53 w 89"/>
                <a:gd name="T7" fmla="*/ 90 h 90"/>
                <a:gd name="T8" fmla="*/ 35 w 89"/>
                <a:gd name="T9" fmla="*/ 90 h 90"/>
                <a:gd name="T10" fmla="*/ 35 w 89"/>
                <a:gd name="T11" fmla="*/ 54 h 90"/>
                <a:gd name="T12" fmla="*/ 0 w 89"/>
                <a:gd name="T13" fmla="*/ 54 h 90"/>
                <a:gd name="T14" fmla="*/ 0 w 89"/>
                <a:gd name="T15" fmla="*/ 36 h 90"/>
                <a:gd name="T16" fmla="*/ 35 w 89"/>
                <a:gd name="T17" fmla="*/ 36 h 90"/>
                <a:gd name="T18" fmla="*/ 35 w 89"/>
                <a:gd name="T19" fmla="*/ 0 h 90"/>
                <a:gd name="T20" fmla="*/ 53 w 89"/>
                <a:gd name="T21" fmla="*/ 0 h 90"/>
                <a:gd name="T22" fmla="*/ 53 w 89"/>
                <a:gd name="T23" fmla="*/ 36 h 90"/>
                <a:gd name="T24" fmla="*/ 89 w 89"/>
                <a:gd name="T25" fmla="*/ 36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9" h="90">
                  <a:moveTo>
                    <a:pt x="89" y="36"/>
                  </a:moveTo>
                  <a:lnTo>
                    <a:pt x="89" y="54"/>
                  </a:lnTo>
                  <a:lnTo>
                    <a:pt x="53" y="54"/>
                  </a:lnTo>
                  <a:lnTo>
                    <a:pt x="53" y="90"/>
                  </a:lnTo>
                  <a:lnTo>
                    <a:pt x="35" y="90"/>
                  </a:lnTo>
                  <a:lnTo>
                    <a:pt x="35" y="54"/>
                  </a:lnTo>
                  <a:lnTo>
                    <a:pt x="0" y="54"/>
                  </a:lnTo>
                  <a:lnTo>
                    <a:pt x="0" y="36"/>
                  </a:lnTo>
                  <a:lnTo>
                    <a:pt x="35" y="36"/>
                  </a:lnTo>
                  <a:lnTo>
                    <a:pt x="35" y="0"/>
                  </a:lnTo>
                  <a:lnTo>
                    <a:pt x="53" y="0"/>
                  </a:lnTo>
                  <a:lnTo>
                    <a:pt x="53" y="36"/>
                  </a:lnTo>
                  <a:lnTo>
                    <a:pt x="89" y="3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atinLnBrk="0"/>
              <a:endParaRPr lang="ko-KR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40" name="Freeform 22"/>
            <p:cNvSpPr>
              <a:spLocks/>
            </p:cNvSpPr>
            <p:nvPr userDrawn="1"/>
          </p:nvSpPr>
          <p:spPr bwMode="auto">
            <a:xfrm>
              <a:off x="8275638" y="1047750"/>
              <a:ext cx="146050" cy="142875"/>
            </a:xfrm>
            <a:custGeom>
              <a:avLst/>
              <a:gdLst>
                <a:gd name="T0" fmla="*/ 92 w 92"/>
                <a:gd name="T1" fmla="*/ 36 h 90"/>
                <a:gd name="T2" fmla="*/ 92 w 92"/>
                <a:gd name="T3" fmla="*/ 54 h 90"/>
                <a:gd name="T4" fmla="*/ 54 w 92"/>
                <a:gd name="T5" fmla="*/ 54 h 90"/>
                <a:gd name="T6" fmla="*/ 54 w 92"/>
                <a:gd name="T7" fmla="*/ 90 h 90"/>
                <a:gd name="T8" fmla="*/ 38 w 92"/>
                <a:gd name="T9" fmla="*/ 90 h 90"/>
                <a:gd name="T10" fmla="*/ 38 w 92"/>
                <a:gd name="T11" fmla="*/ 54 h 90"/>
                <a:gd name="T12" fmla="*/ 0 w 92"/>
                <a:gd name="T13" fmla="*/ 54 h 90"/>
                <a:gd name="T14" fmla="*/ 0 w 92"/>
                <a:gd name="T15" fmla="*/ 36 h 90"/>
                <a:gd name="T16" fmla="*/ 38 w 92"/>
                <a:gd name="T17" fmla="*/ 36 h 90"/>
                <a:gd name="T18" fmla="*/ 38 w 92"/>
                <a:gd name="T19" fmla="*/ 0 h 90"/>
                <a:gd name="T20" fmla="*/ 54 w 92"/>
                <a:gd name="T21" fmla="*/ 0 h 90"/>
                <a:gd name="T22" fmla="*/ 54 w 92"/>
                <a:gd name="T23" fmla="*/ 36 h 90"/>
                <a:gd name="T24" fmla="*/ 92 w 92"/>
                <a:gd name="T25" fmla="*/ 36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2" h="90">
                  <a:moveTo>
                    <a:pt x="92" y="36"/>
                  </a:moveTo>
                  <a:lnTo>
                    <a:pt x="92" y="54"/>
                  </a:lnTo>
                  <a:lnTo>
                    <a:pt x="54" y="54"/>
                  </a:lnTo>
                  <a:lnTo>
                    <a:pt x="54" y="90"/>
                  </a:lnTo>
                  <a:lnTo>
                    <a:pt x="38" y="90"/>
                  </a:lnTo>
                  <a:lnTo>
                    <a:pt x="38" y="54"/>
                  </a:lnTo>
                  <a:lnTo>
                    <a:pt x="0" y="54"/>
                  </a:lnTo>
                  <a:lnTo>
                    <a:pt x="0" y="36"/>
                  </a:lnTo>
                  <a:lnTo>
                    <a:pt x="38" y="36"/>
                  </a:lnTo>
                  <a:lnTo>
                    <a:pt x="38" y="0"/>
                  </a:lnTo>
                  <a:lnTo>
                    <a:pt x="54" y="0"/>
                  </a:lnTo>
                  <a:lnTo>
                    <a:pt x="54" y="36"/>
                  </a:lnTo>
                  <a:lnTo>
                    <a:pt x="92" y="3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atinLnBrk="0"/>
              <a:endParaRPr lang="ko-KR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41" name="Freeform 23"/>
            <p:cNvSpPr>
              <a:spLocks/>
            </p:cNvSpPr>
            <p:nvPr userDrawn="1"/>
          </p:nvSpPr>
          <p:spPr bwMode="auto">
            <a:xfrm>
              <a:off x="8621713" y="1870075"/>
              <a:ext cx="142875" cy="142875"/>
            </a:xfrm>
            <a:custGeom>
              <a:avLst/>
              <a:gdLst>
                <a:gd name="T0" fmla="*/ 90 w 90"/>
                <a:gd name="T1" fmla="*/ 36 h 90"/>
                <a:gd name="T2" fmla="*/ 90 w 90"/>
                <a:gd name="T3" fmla="*/ 54 h 90"/>
                <a:gd name="T4" fmla="*/ 54 w 90"/>
                <a:gd name="T5" fmla="*/ 54 h 90"/>
                <a:gd name="T6" fmla="*/ 54 w 90"/>
                <a:gd name="T7" fmla="*/ 90 h 90"/>
                <a:gd name="T8" fmla="*/ 36 w 90"/>
                <a:gd name="T9" fmla="*/ 90 h 90"/>
                <a:gd name="T10" fmla="*/ 36 w 90"/>
                <a:gd name="T11" fmla="*/ 54 h 90"/>
                <a:gd name="T12" fmla="*/ 0 w 90"/>
                <a:gd name="T13" fmla="*/ 54 h 90"/>
                <a:gd name="T14" fmla="*/ 0 w 90"/>
                <a:gd name="T15" fmla="*/ 36 h 90"/>
                <a:gd name="T16" fmla="*/ 36 w 90"/>
                <a:gd name="T17" fmla="*/ 36 h 90"/>
                <a:gd name="T18" fmla="*/ 36 w 90"/>
                <a:gd name="T19" fmla="*/ 0 h 90"/>
                <a:gd name="T20" fmla="*/ 54 w 90"/>
                <a:gd name="T21" fmla="*/ 0 h 90"/>
                <a:gd name="T22" fmla="*/ 54 w 90"/>
                <a:gd name="T23" fmla="*/ 36 h 90"/>
                <a:gd name="T24" fmla="*/ 90 w 90"/>
                <a:gd name="T25" fmla="*/ 36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0" h="90">
                  <a:moveTo>
                    <a:pt x="90" y="36"/>
                  </a:moveTo>
                  <a:lnTo>
                    <a:pt x="90" y="54"/>
                  </a:lnTo>
                  <a:lnTo>
                    <a:pt x="54" y="54"/>
                  </a:lnTo>
                  <a:lnTo>
                    <a:pt x="54" y="90"/>
                  </a:lnTo>
                  <a:lnTo>
                    <a:pt x="36" y="90"/>
                  </a:lnTo>
                  <a:lnTo>
                    <a:pt x="36" y="54"/>
                  </a:lnTo>
                  <a:lnTo>
                    <a:pt x="0" y="54"/>
                  </a:lnTo>
                  <a:lnTo>
                    <a:pt x="0" y="36"/>
                  </a:lnTo>
                  <a:lnTo>
                    <a:pt x="36" y="36"/>
                  </a:lnTo>
                  <a:lnTo>
                    <a:pt x="36" y="0"/>
                  </a:lnTo>
                  <a:lnTo>
                    <a:pt x="54" y="0"/>
                  </a:lnTo>
                  <a:lnTo>
                    <a:pt x="54" y="36"/>
                  </a:lnTo>
                  <a:lnTo>
                    <a:pt x="90" y="3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atinLnBrk="0"/>
              <a:endParaRPr lang="ko-KR" altLang="en-US" sz="18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15121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pos="756" userDrawn="1">
          <p15:clr>
            <a:srgbClr val="FBAE40"/>
          </p15:clr>
        </p15:guide>
        <p15:guide id="3" pos="6924" userDrawn="1">
          <p15:clr>
            <a:srgbClr val="FBAE40"/>
          </p15:clr>
        </p15:guide>
        <p15:guide id="4" orient="horz" pos="57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그룹 13"/>
          <p:cNvGrpSpPr/>
          <p:nvPr userDrawn="1"/>
        </p:nvGrpSpPr>
        <p:grpSpPr>
          <a:xfrm>
            <a:off x="2117" y="0"/>
            <a:ext cx="12187768" cy="6858000"/>
            <a:chOff x="1588" y="0"/>
            <a:chExt cx="9140826" cy="6858000"/>
          </a:xfrm>
        </p:grpSpPr>
        <p:sp>
          <p:nvSpPr>
            <p:cNvPr id="15" name="Freeform 28"/>
            <p:cNvSpPr>
              <a:spLocks/>
            </p:cNvSpPr>
            <p:nvPr userDrawn="1"/>
          </p:nvSpPr>
          <p:spPr bwMode="auto">
            <a:xfrm>
              <a:off x="3498851" y="1136650"/>
              <a:ext cx="107950" cy="107950"/>
            </a:xfrm>
            <a:custGeom>
              <a:avLst/>
              <a:gdLst>
                <a:gd name="T0" fmla="*/ 68 w 68"/>
                <a:gd name="T1" fmla="*/ 28 h 68"/>
                <a:gd name="T2" fmla="*/ 68 w 68"/>
                <a:gd name="T3" fmla="*/ 42 h 68"/>
                <a:gd name="T4" fmla="*/ 42 w 68"/>
                <a:gd name="T5" fmla="*/ 42 h 68"/>
                <a:gd name="T6" fmla="*/ 42 w 68"/>
                <a:gd name="T7" fmla="*/ 68 h 68"/>
                <a:gd name="T8" fmla="*/ 28 w 68"/>
                <a:gd name="T9" fmla="*/ 68 h 68"/>
                <a:gd name="T10" fmla="*/ 28 w 68"/>
                <a:gd name="T11" fmla="*/ 42 h 68"/>
                <a:gd name="T12" fmla="*/ 0 w 68"/>
                <a:gd name="T13" fmla="*/ 42 h 68"/>
                <a:gd name="T14" fmla="*/ 0 w 68"/>
                <a:gd name="T15" fmla="*/ 28 h 68"/>
                <a:gd name="T16" fmla="*/ 28 w 68"/>
                <a:gd name="T17" fmla="*/ 28 h 68"/>
                <a:gd name="T18" fmla="*/ 28 w 68"/>
                <a:gd name="T19" fmla="*/ 0 h 68"/>
                <a:gd name="T20" fmla="*/ 42 w 68"/>
                <a:gd name="T21" fmla="*/ 0 h 68"/>
                <a:gd name="T22" fmla="*/ 42 w 68"/>
                <a:gd name="T23" fmla="*/ 28 h 68"/>
                <a:gd name="T24" fmla="*/ 68 w 68"/>
                <a:gd name="T25" fmla="*/ 28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8" h="68">
                  <a:moveTo>
                    <a:pt x="68" y="28"/>
                  </a:moveTo>
                  <a:lnTo>
                    <a:pt x="68" y="42"/>
                  </a:lnTo>
                  <a:lnTo>
                    <a:pt x="42" y="42"/>
                  </a:lnTo>
                  <a:lnTo>
                    <a:pt x="42" y="68"/>
                  </a:lnTo>
                  <a:lnTo>
                    <a:pt x="28" y="68"/>
                  </a:lnTo>
                  <a:lnTo>
                    <a:pt x="28" y="42"/>
                  </a:lnTo>
                  <a:lnTo>
                    <a:pt x="0" y="42"/>
                  </a:lnTo>
                  <a:lnTo>
                    <a:pt x="0" y="28"/>
                  </a:lnTo>
                  <a:lnTo>
                    <a:pt x="28" y="28"/>
                  </a:lnTo>
                  <a:lnTo>
                    <a:pt x="28" y="0"/>
                  </a:lnTo>
                  <a:lnTo>
                    <a:pt x="42" y="0"/>
                  </a:lnTo>
                  <a:lnTo>
                    <a:pt x="42" y="28"/>
                  </a:lnTo>
                  <a:lnTo>
                    <a:pt x="68" y="2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atinLnBrk="0"/>
              <a:endParaRPr lang="ko-KR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16" name="Freeform 29"/>
            <p:cNvSpPr>
              <a:spLocks/>
            </p:cNvSpPr>
            <p:nvPr userDrawn="1"/>
          </p:nvSpPr>
          <p:spPr bwMode="auto">
            <a:xfrm>
              <a:off x="636588" y="498475"/>
              <a:ext cx="107950" cy="107950"/>
            </a:xfrm>
            <a:custGeom>
              <a:avLst/>
              <a:gdLst>
                <a:gd name="T0" fmla="*/ 68 w 68"/>
                <a:gd name="T1" fmla="*/ 26 h 68"/>
                <a:gd name="T2" fmla="*/ 68 w 68"/>
                <a:gd name="T3" fmla="*/ 40 h 68"/>
                <a:gd name="T4" fmla="*/ 42 w 68"/>
                <a:gd name="T5" fmla="*/ 40 h 68"/>
                <a:gd name="T6" fmla="*/ 42 w 68"/>
                <a:gd name="T7" fmla="*/ 68 h 68"/>
                <a:gd name="T8" fmla="*/ 28 w 68"/>
                <a:gd name="T9" fmla="*/ 68 h 68"/>
                <a:gd name="T10" fmla="*/ 28 w 68"/>
                <a:gd name="T11" fmla="*/ 40 h 68"/>
                <a:gd name="T12" fmla="*/ 0 w 68"/>
                <a:gd name="T13" fmla="*/ 40 h 68"/>
                <a:gd name="T14" fmla="*/ 0 w 68"/>
                <a:gd name="T15" fmla="*/ 26 h 68"/>
                <a:gd name="T16" fmla="*/ 28 w 68"/>
                <a:gd name="T17" fmla="*/ 26 h 68"/>
                <a:gd name="T18" fmla="*/ 28 w 68"/>
                <a:gd name="T19" fmla="*/ 0 h 68"/>
                <a:gd name="T20" fmla="*/ 42 w 68"/>
                <a:gd name="T21" fmla="*/ 0 h 68"/>
                <a:gd name="T22" fmla="*/ 42 w 68"/>
                <a:gd name="T23" fmla="*/ 26 h 68"/>
                <a:gd name="T24" fmla="*/ 68 w 68"/>
                <a:gd name="T25" fmla="*/ 26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8" h="68">
                  <a:moveTo>
                    <a:pt x="68" y="26"/>
                  </a:moveTo>
                  <a:lnTo>
                    <a:pt x="68" y="40"/>
                  </a:lnTo>
                  <a:lnTo>
                    <a:pt x="42" y="40"/>
                  </a:lnTo>
                  <a:lnTo>
                    <a:pt x="42" y="68"/>
                  </a:lnTo>
                  <a:lnTo>
                    <a:pt x="28" y="68"/>
                  </a:lnTo>
                  <a:lnTo>
                    <a:pt x="28" y="40"/>
                  </a:lnTo>
                  <a:lnTo>
                    <a:pt x="0" y="40"/>
                  </a:lnTo>
                  <a:lnTo>
                    <a:pt x="0" y="26"/>
                  </a:lnTo>
                  <a:lnTo>
                    <a:pt x="28" y="26"/>
                  </a:lnTo>
                  <a:lnTo>
                    <a:pt x="28" y="0"/>
                  </a:lnTo>
                  <a:lnTo>
                    <a:pt x="42" y="0"/>
                  </a:lnTo>
                  <a:lnTo>
                    <a:pt x="42" y="26"/>
                  </a:lnTo>
                  <a:lnTo>
                    <a:pt x="68" y="2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atinLnBrk="0"/>
              <a:endParaRPr lang="ko-KR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17" name="Freeform 30"/>
            <p:cNvSpPr>
              <a:spLocks/>
            </p:cNvSpPr>
            <p:nvPr userDrawn="1"/>
          </p:nvSpPr>
          <p:spPr bwMode="auto">
            <a:xfrm>
              <a:off x="2255838" y="958850"/>
              <a:ext cx="107950" cy="107950"/>
            </a:xfrm>
            <a:custGeom>
              <a:avLst/>
              <a:gdLst>
                <a:gd name="T0" fmla="*/ 68 w 68"/>
                <a:gd name="T1" fmla="*/ 28 h 68"/>
                <a:gd name="T2" fmla="*/ 68 w 68"/>
                <a:gd name="T3" fmla="*/ 40 h 68"/>
                <a:gd name="T4" fmla="*/ 40 w 68"/>
                <a:gd name="T5" fmla="*/ 40 h 68"/>
                <a:gd name="T6" fmla="*/ 40 w 68"/>
                <a:gd name="T7" fmla="*/ 68 h 68"/>
                <a:gd name="T8" fmla="*/ 28 w 68"/>
                <a:gd name="T9" fmla="*/ 68 h 68"/>
                <a:gd name="T10" fmla="*/ 28 w 68"/>
                <a:gd name="T11" fmla="*/ 40 h 68"/>
                <a:gd name="T12" fmla="*/ 0 w 68"/>
                <a:gd name="T13" fmla="*/ 40 h 68"/>
                <a:gd name="T14" fmla="*/ 0 w 68"/>
                <a:gd name="T15" fmla="*/ 28 h 68"/>
                <a:gd name="T16" fmla="*/ 28 w 68"/>
                <a:gd name="T17" fmla="*/ 28 h 68"/>
                <a:gd name="T18" fmla="*/ 28 w 68"/>
                <a:gd name="T19" fmla="*/ 0 h 68"/>
                <a:gd name="T20" fmla="*/ 40 w 68"/>
                <a:gd name="T21" fmla="*/ 0 h 68"/>
                <a:gd name="T22" fmla="*/ 40 w 68"/>
                <a:gd name="T23" fmla="*/ 28 h 68"/>
                <a:gd name="T24" fmla="*/ 68 w 68"/>
                <a:gd name="T25" fmla="*/ 28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8" h="68">
                  <a:moveTo>
                    <a:pt x="68" y="28"/>
                  </a:moveTo>
                  <a:lnTo>
                    <a:pt x="68" y="40"/>
                  </a:lnTo>
                  <a:lnTo>
                    <a:pt x="40" y="40"/>
                  </a:lnTo>
                  <a:lnTo>
                    <a:pt x="40" y="68"/>
                  </a:lnTo>
                  <a:lnTo>
                    <a:pt x="28" y="68"/>
                  </a:lnTo>
                  <a:lnTo>
                    <a:pt x="28" y="40"/>
                  </a:lnTo>
                  <a:lnTo>
                    <a:pt x="0" y="40"/>
                  </a:lnTo>
                  <a:lnTo>
                    <a:pt x="0" y="28"/>
                  </a:lnTo>
                  <a:lnTo>
                    <a:pt x="28" y="28"/>
                  </a:lnTo>
                  <a:lnTo>
                    <a:pt x="28" y="0"/>
                  </a:lnTo>
                  <a:lnTo>
                    <a:pt x="40" y="0"/>
                  </a:lnTo>
                  <a:lnTo>
                    <a:pt x="40" y="28"/>
                  </a:lnTo>
                  <a:lnTo>
                    <a:pt x="68" y="2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atinLnBrk="0"/>
              <a:endParaRPr lang="ko-KR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20" name="Freeform 31"/>
            <p:cNvSpPr>
              <a:spLocks/>
            </p:cNvSpPr>
            <p:nvPr userDrawn="1"/>
          </p:nvSpPr>
          <p:spPr bwMode="auto">
            <a:xfrm>
              <a:off x="4718051" y="1778000"/>
              <a:ext cx="107950" cy="107950"/>
            </a:xfrm>
            <a:custGeom>
              <a:avLst/>
              <a:gdLst>
                <a:gd name="T0" fmla="*/ 68 w 68"/>
                <a:gd name="T1" fmla="*/ 26 h 68"/>
                <a:gd name="T2" fmla="*/ 68 w 68"/>
                <a:gd name="T3" fmla="*/ 40 h 68"/>
                <a:gd name="T4" fmla="*/ 40 w 68"/>
                <a:gd name="T5" fmla="*/ 40 h 68"/>
                <a:gd name="T6" fmla="*/ 40 w 68"/>
                <a:gd name="T7" fmla="*/ 68 h 68"/>
                <a:gd name="T8" fmla="*/ 28 w 68"/>
                <a:gd name="T9" fmla="*/ 68 h 68"/>
                <a:gd name="T10" fmla="*/ 28 w 68"/>
                <a:gd name="T11" fmla="*/ 40 h 68"/>
                <a:gd name="T12" fmla="*/ 0 w 68"/>
                <a:gd name="T13" fmla="*/ 40 h 68"/>
                <a:gd name="T14" fmla="*/ 0 w 68"/>
                <a:gd name="T15" fmla="*/ 26 h 68"/>
                <a:gd name="T16" fmla="*/ 28 w 68"/>
                <a:gd name="T17" fmla="*/ 26 h 68"/>
                <a:gd name="T18" fmla="*/ 28 w 68"/>
                <a:gd name="T19" fmla="*/ 0 h 68"/>
                <a:gd name="T20" fmla="*/ 40 w 68"/>
                <a:gd name="T21" fmla="*/ 0 h 68"/>
                <a:gd name="T22" fmla="*/ 40 w 68"/>
                <a:gd name="T23" fmla="*/ 26 h 68"/>
                <a:gd name="T24" fmla="*/ 68 w 68"/>
                <a:gd name="T25" fmla="*/ 26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8" h="68">
                  <a:moveTo>
                    <a:pt x="68" y="26"/>
                  </a:moveTo>
                  <a:lnTo>
                    <a:pt x="68" y="40"/>
                  </a:lnTo>
                  <a:lnTo>
                    <a:pt x="40" y="40"/>
                  </a:lnTo>
                  <a:lnTo>
                    <a:pt x="40" y="68"/>
                  </a:lnTo>
                  <a:lnTo>
                    <a:pt x="28" y="68"/>
                  </a:lnTo>
                  <a:lnTo>
                    <a:pt x="28" y="40"/>
                  </a:lnTo>
                  <a:lnTo>
                    <a:pt x="0" y="40"/>
                  </a:lnTo>
                  <a:lnTo>
                    <a:pt x="0" y="26"/>
                  </a:lnTo>
                  <a:lnTo>
                    <a:pt x="28" y="26"/>
                  </a:lnTo>
                  <a:lnTo>
                    <a:pt x="28" y="0"/>
                  </a:lnTo>
                  <a:lnTo>
                    <a:pt x="40" y="0"/>
                  </a:lnTo>
                  <a:lnTo>
                    <a:pt x="40" y="26"/>
                  </a:lnTo>
                  <a:lnTo>
                    <a:pt x="68" y="2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atinLnBrk="0"/>
              <a:endParaRPr lang="ko-KR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21" name="Freeform 32"/>
            <p:cNvSpPr>
              <a:spLocks/>
            </p:cNvSpPr>
            <p:nvPr userDrawn="1"/>
          </p:nvSpPr>
          <p:spPr bwMode="auto">
            <a:xfrm>
              <a:off x="4425951" y="577850"/>
              <a:ext cx="107950" cy="107950"/>
            </a:xfrm>
            <a:custGeom>
              <a:avLst/>
              <a:gdLst>
                <a:gd name="T0" fmla="*/ 68 w 68"/>
                <a:gd name="T1" fmla="*/ 28 h 68"/>
                <a:gd name="T2" fmla="*/ 68 w 68"/>
                <a:gd name="T3" fmla="*/ 42 h 68"/>
                <a:gd name="T4" fmla="*/ 42 w 68"/>
                <a:gd name="T5" fmla="*/ 42 h 68"/>
                <a:gd name="T6" fmla="*/ 42 w 68"/>
                <a:gd name="T7" fmla="*/ 68 h 68"/>
                <a:gd name="T8" fmla="*/ 28 w 68"/>
                <a:gd name="T9" fmla="*/ 68 h 68"/>
                <a:gd name="T10" fmla="*/ 28 w 68"/>
                <a:gd name="T11" fmla="*/ 42 h 68"/>
                <a:gd name="T12" fmla="*/ 0 w 68"/>
                <a:gd name="T13" fmla="*/ 42 h 68"/>
                <a:gd name="T14" fmla="*/ 0 w 68"/>
                <a:gd name="T15" fmla="*/ 28 h 68"/>
                <a:gd name="T16" fmla="*/ 28 w 68"/>
                <a:gd name="T17" fmla="*/ 28 h 68"/>
                <a:gd name="T18" fmla="*/ 28 w 68"/>
                <a:gd name="T19" fmla="*/ 0 h 68"/>
                <a:gd name="T20" fmla="*/ 42 w 68"/>
                <a:gd name="T21" fmla="*/ 0 h 68"/>
                <a:gd name="T22" fmla="*/ 42 w 68"/>
                <a:gd name="T23" fmla="*/ 28 h 68"/>
                <a:gd name="T24" fmla="*/ 68 w 68"/>
                <a:gd name="T25" fmla="*/ 28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8" h="68">
                  <a:moveTo>
                    <a:pt x="68" y="28"/>
                  </a:moveTo>
                  <a:lnTo>
                    <a:pt x="68" y="42"/>
                  </a:lnTo>
                  <a:lnTo>
                    <a:pt x="42" y="42"/>
                  </a:lnTo>
                  <a:lnTo>
                    <a:pt x="42" y="68"/>
                  </a:lnTo>
                  <a:lnTo>
                    <a:pt x="28" y="68"/>
                  </a:lnTo>
                  <a:lnTo>
                    <a:pt x="28" y="42"/>
                  </a:lnTo>
                  <a:lnTo>
                    <a:pt x="0" y="42"/>
                  </a:lnTo>
                  <a:lnTo>
                    <a:pt x="0" y="28"/>
                  </a:lnTo>
                  <a:lnTo>
                    <a:pt x="28" y="28"/>
                  </a:lnTo>
                  <a:lnTo>
                    <a:pt x="28" y="0"/>
                  </a:lnTo>
                  <a:lnTo>
                    <a:pt x="42" y="0"/>
                  </a:lnTo>
                  <a:lnTo>
                    <a:pt x="42" y="28"/>
                  </a:lnTo>
                  <a:lnTo>
                    <a:pt x="68" y="2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atinLnBrk="0"/>
              <a:endParaRPr lang="ko-KR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22" name="Freeform 33"/>
            <p:cNvSpPr>
              <a:spLocks/>
            </p:cNvSpPr>
            <p:nvPr userDrawn="1"/>
          </p:nvSpPr>
          <p:spPr bwMode="auto">
            <a:xfrm>
              <a:off x="1157288" y="1177925"/>
              <a:ext cx="142875" cy="142875"/>
            </a:xfrm>
            <a:custGeom>
              <a:avLst/>
              <a:gdLst>
                <a:gd name="T0" fmla="*/ 90 w 90"/>
                <a:gd name="T1" fmla="*/ 36 h 90"/>
                <a:gd name="T2" fmla="*/ 90 w 90"/>
                <a:gd name="T3" fmla="*/ 54 h 90"/>
                <a:gd name="T4" fmla="*/ 54 w 90"/>
                <a:gd name="T5" fmla="*/ 54 h 90"/>
                <a:gd name="T6" fmla="*/ 54 w 90"/>
                <a:gd name="T7" fmla="*/ 90 h 90"/>
                <a:gd name="T8" fmla="*/ 36 w 90"/>
                <a:gd name="T9" fmla="*/ 90 h 90"/>
                <a:gd name="T10" fmla="*/ 36 w 90"/>
                <a:gd name="T11" fmla="*/ 54 h 90"/>
                <a:gd name="T12" fmla="*/ 0 w 90"/>
                <a:gd name="T13" fmla="*/ 54 h 90"/>
                <a:gd name="T14" fmla="*/ 0 w 90"/>
                <a:gd name="T15" fmla="*/ 36 h 90"/>
                <a:gd name="T16" fmla="*/ 36 w 90"/>
                <a:gd name="T17" fmla="*/ 36 h 90"/>
                <a:gd name="T18" fmla="*/ 36 w 90"/>
                <a:gd name="T19" fmla="*/ 0 h 90"/>
                <a:gd name="T20" fmla="*/ 54 w 90"/>
                <a:gd name="T21" fmla="*/ 0 h 90"/>
                <a:gd name="T22" fmla="*/ 54 w 90"/>
                <a:gd name="T23" fmla="*/ 36 h 90"/>
                <a:gd name="T24" fmla="*/ 90 w 90"/>
                <a:gd name="T25" fmla="*/ 36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0" h="90">
                  <a:moveTo>
                    <a:pt x="90" y="36"/>
                  </a:moveTo>
                  <a:lnTo>
                    <a:pt x="90" y="54"/>
                  </a:lnTo>
                  <a:lnTo>
                    <a:pt x="54" y="54"/>
                  </a:lnTo>
                  <a:lnTo>
                    <a:pt x="54" y="90"/>
                  </a:lnTo>
                  <a:lnTo>
                    <a:pt x="36" y="90"/>
                  </a:lnTo>
                  <a:lnTo>
                    <a:pt x="36" y="54"/>
                  </a:lnTo>
                  <a:lnTo>
                    <a:pt x="0" y="54"/>
                  </a:lnTo>
                  <a:lnTo>
                    <a:pt x="0" y="36"/>
                  </a:lnTo>
                  <a:lnTo>
                    <a:pt x="36" y="36"/>
                  </a:lnTo>
                  <a:lnTo>
                    <a:pt x="36" y="0"/>
                  </a:lnTo>
                  <a:lnTo>
                    <a:pt x="54" y="0"/>
                  </a:lnTo>
                  <a:lnTo>
                    <a:pt x="54" y="36"/>
                  </a:lnTo>
                  <a:lnTo>
                    <a:pt x="90" y="3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atinLnBrk="0"/>
              <a:endParaRPr lang="ko-KR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23" name="Freeform 34"/>
            <p:cNvSpPr>
              <a:spLocks/>
            </p:cNvSpPr>
            <p:nvPr userDrawn="1"/>
          </p:nvSpPr>
          <p:spPr bwMode="auto">
            <a:xfrm>
              <a:off x="334963" y="1441450"/>
              <a:ext cx="142875" cy="146050"/>
            </a:xfrm>
            <a:custGeom>
              <a:avLst/>
              <a:gdLst>
                <a:gd name="T0" fmla="*/ 90 w 90"/>
                <a:gd name="T1" fmla="*/ 38 h 92"/>
                <a:gd name="T2" fmla="*/ 90 w 90"/>
                <a:gd name="T3" fmla="*/ 54 h 92"/>
                <a:gd name="T4" fmla="*/ 54 w 90"/>
                <a:gd name="T5" fmla="*/ 54 h 92"/>
                <a:gd name="T6" fmla="*/ 54 w 90"/>
                <a:gd name="T7" fmla="*/ 92 h 92"/>
                <a:gd name="T8" fmla="*/ 36 w 90"/>
                <a:gd name="T9" fmla="*/ 92 h 92"/>
                <a:gd name="T10" fmla="*/ 36 w 90"/>
                <a:gd name="T11" fmla="*/ 54 h 92"/>
                <a:gd name="T12" fmla="*/ 0 w 90"/>
                <a:gd name="T13" fmla="*/ 54 h 92"/>
                <a:gd name="T14" fmla="*/ 0 w 90"/>
                <a:gd name="T15" fmla="*/ 38 h 92"/>
                <a:gd name="T16" fmla="*/ 36 w 90"/>
                <a:gd name="T17" fmla="*/ 38 h 92"/>
                <a:gd name="T18" fmla="*/ 36 w 90"/>
                <a:gd name="T19" fmla="*/ 0 h 92"/>
                <a:gd name="T20" fmla="*/ 54 w 90"/>
                <a:gd name="T21" fmla="*/ 0 h 92"/>
                <a:gd name="T22" fmla="*/ 54 w 90"/>
                <a:gd name="T23" fmla="*/ 38 h 92"/>
                <a:gd name="T24" fmla="*/ 90 w 90"/>
                <a:gd name="T25" fmla="*/ 38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0" h="92">
                  <a:moveTo>
                    <a:pt x="90" y="38"/>
                  </a:moveTo>
                  <a:lnTo>
                    <a:pt x="90" y="54"/>
                  </a:lnTo>
                  <a:lnTo>
                    <a:pt x="54" y="54"/>
                  </a:lnTo>
                  <a:lnTo>
                    <a:pt x="54" y="92"/>
                  </a:lnTo>
                  <a:lnTo>
                    <a:pt x="36" y="92"/>
                  </a:lnTo>
                  <a:lnTo>
                    <a:pt x="36" y="54"/>
                  </a:lnTo>
                  <a:lnTo>
                    <a:pt x="0" y="54"/>
                  </a:lnTo>
                  <a:lnTo>
                    <a:pt x="0" y="38"/>
                  </a:lnTo>
                  <a:lnTo>
                    <a:pt x="36" y="38"/>
                  </a:lnTo>
                  <a:lnTo>
                    <a:pt x="36" y="0"/>
                  </a:lnTo>
                  <a:lnTo>
                    <a:pt x="54" y="0"/>
                  </a:lnTo>
                  <a:lnTo>
                    <a:pt x="54" y="38"/>
                  </a:lnTo>
                  <a:lnTo>
                    <a:pt x="90" y="3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atinLnBrk="0"/>
              <a:endParaRPr lang="ko-KR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24" name="Freeform 35"/>
            <p:cNvSpPr>
              <a:spLocks/>
            </p:cNvSpPr>
            <p:nvPr userDrawn="1"/>
          </p:nvSpPr>
          <p:spPr bwMode="auto">
            <a:xfrm>
              <a:off x="2600326" y="361950"/>
              <a:ext cx="146050" cy="142875"/>
            </a:xfrm>
            <a:custGeom>
              <a:avLst/>
              <a:gdLst>
                <a:gd name="T0" fmla="*/ 92 w 92"/>
                <a:gd name="T1" fmla="*/ 36 h 90"/>
                <a:gd name="T2" fmla="*/ 92 w 92"/>
                <a:gd name="T3" fmla="*/ 54 h 90"/>
                <a:gd name="T4" fmla="*/ 54 w 92"/>
                <a:gd name="T5" fmla="*/ 54 h 90"/>
                <a:gd name="T6" fmla="*/ 54 w 92"/>
                <a:gd name="T7" fmla="*/ 90 h 90"/>
                <a:gd name="T8" fmla="*/ 38 w 92"/>
                <a:gd name="T9" fmla="*/ 90 h 90"/>
                <a:gd name="T10" fmla="*/ 38 w 92"/>
                <a:gd name="T11" fmla="*/ 54 h 90"/>
                <a:gd name="T12" fmla="*/ 0 w 92"/>
                <a:gd name="T13" fmla="*/ 54 h 90"/>
                <a:gd name="T14" fmla="*/ 0 w 92"/>
                <a:gd name="T15" fmla="*/ 36 h 90"/>
                <a:gd name="T16" fmla="*/ 38 w 92"/>
                <a:gd name="T17" fmla="*/ 36 h 90"/>
                <a:gd name="T18" fmla="*/ 38 w 92"/>
                <a:gd name="T19" fmla="*/ 0 h 90"/>
                <a:gd name="T20" fmla="*/ 54 w 92"/>
                <a:gd name="T21" fmla="*/ 0 h 90"/>
                <a:gd name="T22" fmla="*/ 54 w 92"/>
                <a:gd name="T23" fmla="*/ 36 h 90"/>
                <a:gd name="T24" fmla="*/ 92 w 92"/>
                <a:gd name="T25" fmla="*/ 36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2" h="90">
                  <a:moveTo>
                    <a:pt x="92" y="36"/>
                  </a:moveTo>
                  <a:lnTo>
                    <a:pt x="92" y="54"/>
                  </a:lnTo>
                  <a:lnTo>
                    <a:pt x="54" y="54"/>
                  </a:lnTo>
                  <a:lnTo>
                    <a:pt x="54" y="90"/>
                  </a:lnTo>
                  <a:lnTo>
                    <a:pt x="38" y="90"/>
                  </a:lnTo>
                  <a:lnTo>
                    <a:pt x="38" y="54"/>
                  </a:lnTo>
                  <a:lnTo>
                    <a:pt x="0" y="54"/>
                  </a:lnTo>
                  <a:lnTo>
                    <a:pt x="0" y="36"/>
                  </a:lnTo>
                  <a:lnTo>
                    <a:pt x="38" y="36"/>
                  </a:lnTo>
                  <a:lnTo>
                    <a:pt x="38" y="0"/>
                  </a:lnTo>
                  <a:lnTo>
                    <a:pt x="54" y="0"/>
                  </a:lnTo>
                  <a:lnTo>
                    <a:pt x="54" y="36"/>
                  </a:lnTo>
                  <a:lnTo>
                    <a:pt x="92" y="3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atinLnBrk="0"/>
              <a:endParaRPr lang="ko-KR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25" name="Freeform 36"/>
            <p:cNvSpPr>
              <a:spLocks/>
            </p:cNvSpPr>
            <p:nvPr userDrawn="1"/>
          </p:nvSpPr>
          <p:spPr bwMode="auto">
            <a:xfrm>
              <a:off x="6350001" y="1654175"/>
              <a:ext cx="142875" cy="142875"/>
            </a:xfrm>
            <a:custGeom>
              <a:avLst/>
              <a:gdLst>
                <a:gd name="T0" fmla="*/ 90 w 90"/>
                <a:gd name="T1" fmla="*/ 36 h 90"/>
                <a:gd name="T2" fmla="*/ 90 w 90"/>
                <a:gd name="T3" fmla="*/ 54 h 90"/>
                <a:gd name="T4" fmla="*/ 54 w 90"/>
                <a:gd name="T5" fmla="*/ 54 h 90"/>
                <a:gd name="T6" fmla="*/ 54 w 90"/>
                <a:gd name="T7" fmla="*/ 90 h 90"/>
                <a:gd name="T8" fmla="*/ 36 w 90"/>
                <a:gd name="T9" fmla="*/ 90 h 90"/>
                <a:gd name="T10" fmla="*/ 36 w 90"/>
                <a:gd name="T11" fmla="*/ 54 h 90"/>
                <a:gd name="T12" fmla="*/ 0 w 90"/>
                <a:gd name="T13" fmla="*/ 54 h 90"/>
                <a:gd name="T14" fmla="*/ 0 w 90"/>
                <a:gd name="T15" fmla="*/ 36 h 90"/>
                <a:gd name="T16" fmla="*/ 36 w 90"/>
                <a:gd name="T17" fmla="*/ 36 h 90"/>
                <a:gd name="T18" fmla="*/ 36 w 90"/>
                <a:gd name="T19" fmla="*/ 0 h 90"/>
                <a:gd name="T20" fmla="*/ 54 w 90"/>
                <a:gd name="T21" fmla="*/ 0 h 90"/>
                <a:gd name="T22" fmla="*/ 54 w 90"/>
                <a:gd name="T23" fmla="*/ 36 h 90"/>
                <a:gd name="T24" fmla="*/ 90 w 90"/>
                <a:gd name="T25" fmla="*/ 36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0" h="90">
                  <a:moveTo>
                    <a:pt x="90" y="36"/>
                  </a:moveTo>
                  <a:lnTo>
                    <a:pt x="90" y="54"/>
                  </a:lnTo>
                  <a:lnTo>
                    <a:pt x="54" y="54"/>
                  </a:lnTo>
                  <a:lnTo>
                    <a:pt x="54" y="90"/>
                  </a:lnTo>
                  <a:lnTo>
                    <a:pt x="36" y="90"/>
                  </a:lnTo>
                  <a:lnTo>
                    <a:pt x="36" y="54"/>
                  </a:lnTo>
                  <a:lnTo>
                    <a:pt x="0" y="54"/>
                  </a:lnTo>
                  <a:lnTo>
                    <a:pt x="0" y="36"/>
                  </a:lnTo>
                  <a:lnTo>
                    <a:pt x="36" y="36"/>
                  </a:lnTo>
                  <a:lnTo>
                    <a:pt x="36" y="0"/>
                  </a:lnTo>
                  <a:lnTo>
                    <a:pt x="54" y="0"/>
                  </a:lnTo>
                  <a:lnTo>
                    <a:pt x="54" y="36"/>
                  </a:lnTo>
                  <a:lnTo>
                    <a:pt x="90" y="3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atinLnBrk="0"/>
              <a:endParaRPr lang="ko-KR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26" name="Freeform 37"/>
            <p:cNvSpPr>
              <a:spLocks/>
            </p:cNvSpPr>
            <p:nvPr userDrawn="1"/>
          </p:nvSpPr>
          <p:spPr bwMode="auto">
            <a:xfrm>
              <a:off x="667416" y="2696414"/>
              <a:ext cx="146050" cy="142875"/>
            </a:xfrm>
            <a:custGeom>
              <a:avLst/>
              <a:gdLst>
                <a:gd name="T0" fmla="*/ 92 w 92"/>
                <a:gd name="T1" fmla="*/ 36 h 90"/>
                <a:gd name="T2" fmla="*/ 92 w 92"/>
                <a:gd name="T3" fmla="*/ 54 h 90"/>
                <a:gd name="T4" fmla="*/ 54 w 92"/>
                <a:gd name="T5" fmla="*/ 54 h 90"/>
                <a:gd name="T6" fmla="*/ 54 w 92"/>
                <a:gd name="T7" fmla="*/ 90 h 90"/>
                <a:gd name="T8" fmla="*/ 38 w 92"/>
                <a:gd name="T9" fmla="*/ 90 h 90"/>
                <a:gd name="T10" fmla="*/ 38 w 92"/>
                <a:gd name="T11" fmla="*/ 54 h 90"/>
                <a:gd name="T12" fmla="*/ 0 w 92"/>
                <a:gd name="T13" fmla="*/ 54 h 90"/>
                <a:gd name="T14" fmla="*/ 0 w 92"/>
                <a:gd name="T15" fmla="*/ 36 h 90"/>
                <a:gd name="T16" fmla="*/ 38 w 92"/>
                <a:gd name="T17" fmla="*/ 36 h 90"/>
                <a:gd name="T18" fmla="*/ 38 w 92"/>
                <a:gd name="T19" fmla="*/ 0 h 90"/>
                <a:gd name="T20" fmla="*/ 54 w 92"/>
                <a:gd name="T21" fmla="*/ 0 h 90"/>
                <a:gd name="T22" fmla="*/ 54 w 92"/>
                <a:gd name="T23" fmla="*/ 36 h 90"/>
                <a:gd name="T24" fmla="*/ 92 w 92"/>
                <a:gd name="T25" fmla="*/ 36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2" h="90">
                  <a:moveTo>
                    <a:pt x="92" y="36"/>
                  </a:moveTo>
                  <a:lnTo>
                    <a:pt x="92" y="54"/>
                  </a:lnTo>
                  <a:lnTo>
                    <a:pt x="54" y="54"/>
                  </a:lnTo>
                  <a:lnTo>
                    <a:pt x="54" y="90"/>
                  </a:lnTo>
                  <a:lnTo>
                    <a:pt x="38" y="90"/>
                  </a:lnTo>
                  <a:lnTo>
                    <a:pt x="38" y="54"/>
                  </a:lnTo>
                  <a:lnTo>
                    <a:pt x="0" y="54"/>
                  </a:lnTo>
                  <a:lnTo>
                    <a:pt x="0" y="36"/>
                  </a:lnTo>
                  <a:lnTo>
                    <a:pt x="38" y="36"/>
                  </a:lnTo>
                  <a:lnTo>
                    <a:pt x="38" y="0"/>
                  </a:lnTo>
                  <a:lnTo>
                    <a:pt x="54" y="0"/>
                  </a:lnTo>
                  <a:lnTo>
                    <a:pt x="54" y="36"/>
                  </a:lnTo>
                  <a:lnTo>
                    <a:pt x="92" y="3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atinLnBrk="0"/>
              <a:endParaRPr lang="ko-KR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27" name="Freeform 38"/>
            <p:cNvSpPr>
              <a:spLocks/>
            </p:cNvSpPr>
            <p:nvPr userDrawn="1"/>
          </p:nvSpPr>
          <p:spPr bwMode="auto">
            <a:xfrm>
              <a:off x="8224838" y="5997575"/>
              <a:ext cx="546100" cy="860425"/>
            </a:xfrm>
            <a:custGeom>
              <a:avLst/>
              <a:gdLst>
                <a:gd name="T0" fmla="*/ 172 w 172"/>
                <a:gd name="T1" fmla="*/ 271 h 271"/>
                <a:gd name="T2" fmla="*/ 99 w 172"/>
                <a:gd name="T3" fmla="*/ 271 h 271"/>
                <a:gd name="T4" fmla="*/ 0 w 172"/>
                <a:gd name="T5" fmla="*/ 0 h 271"/>
                <a:gd name="T6" fmla="*/ 0 w 172"/>
                <a:gd name="T7" fmla="*/ 0 h 271"/>
                <a:gd name="T8" fmla="*/ 172 w 172"/>
                <a:gd name="T9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2" h="271">
                  <a:moveTo>
                    <a:pt x="172" y="271"/>
                  </a:moveTo>
                  <a:cubicBezTo>
                    <a:pt x="99" y="271"/>
                    <a:pt x="99" y="271"/>
                    <a:pt x="99" y="271"/>
                  </a:cubicBezTo>
                  <a:cubicBezTo>
                    <a:pt x="87" y="165"/>
                    <a:pt x="53" y="75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7" y="68"/>
                    <a:pt x="137" y="157"/>
                    <a:pt x="172" y="2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atinLnBrk="0"/>
              <a:endParaRPr lang="ko-KR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28" name="Freeform 39"/>
            <p:cNvSpPr>
              <a:spLocks/>
            </p:cNvSpPr>
            <p:nvPr userDrawn="1"/>
          </p:nvSpPr>
          <p:spPr bwMode="auto">
            <a:xfrm>
              <a:off x="1909763" y="4911725"/>
              <a:ext cx="6315075" cy="1317625"/>
            </a:xfrm>
            <a:custGeom>
              <a:avLst/>
              <a:gdLst>
                <a:gd name="T0" fmla="*/ 1990 w 1990"/>
                <a:gd name="T1" fmla="*/ 342 h 415"/>
                <a:gd name="T2" fmla="*/ 1361 w 1990"/>
                <a:gd name="T3" fmla="*/ 142 h 415"/>
                <a:gd name="T4" fmla="*/ 0 w 1990"/>
                <a:gd name="T5" fmla="*/ 415 h 415"/>
                <a:gd name="T6" fmla="*/ 900 w 1990"/>
                <a:gd name="T7" fmla="*/ 142 h 415"/>
                <a:gd name="T8" fmla="*/ 1990 w 1990"/>
                <a:gd name="T9" fmla="*/ 342 h 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90" h="415">
                  <a:moveTo>
                    <a:pt x="1990" y="342"/>
                  </a:moveTo>
                  <a:cubicBezTo>
                    <a:pt x="1823" y="193"/>
                    <a:pt x="1579" y="142"/>
                    <a:pt x="1361" y="142"/>
                  </a:cubicBezTo>
                  <a:cubicBezTo>
                    <a:pt x="991" y="142"/>
                    <a:pt x="481" y="404"/>
                    <a:pt x="0" y="415"/>
                  </a:cubicBezTo>
                  <a:cubicBezTo>
                    <a:pt x="275" y="372"/>
                    <a:pt x="536" y="253"/>
                    <a:pt x="900" y="142"/>
                  </a:cubicBezTo>
                  <a:cubicBezTo>
                    <a:pt x="1365" y="0"/>
                    <a:pt x="1798" y="70"/>
                    <a:pt x="1990" y="34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atinLnBrk="0"/>
              <a:endParaRPr lang="ko-KR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29" name="Freeform 40"/>
            <p:cNvSpPr>
              <a:spLocks/>
            </p:cNvSpPr>
            <p:nvPr userDrawn="1"/>
          </p:nvSpPr>
          <p:spPr bwMode="auto">
            <a:xfrm>
              <a:off x="1588" y="5683250"/>
              <a:ext cx="1908175" cy="638175"/>
            </a:xfrm>
            <a:custGeom>
              <a:avLst/>
              <a:gdLst>
                <a:gd name="T0" fmla="*/ 601 w 601"/>
                <a:gd name="T1" fmla="*/ 172 h 201"/>
                <a:gd name="T2" fmla="*/ 0 w 601"/>
                <a:gd name="T3" fmla="*/ 135 h 201"/>
                <a:gd name="T4" fmla="*/ 0 w 601"/>
                <a:gd name="T5" fmla="*/ 0 h 201"/>
                <a:gd name="T6" fmla="*/ 601 w 601"/>
                <a:gd name="T7" fmla="*/ 172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01" h="201">
                  <a:moveTo>
                    <a:pt x="601" y="172"/>
                  </a:moveTo>
                  <a:cubicBezTo>
                    <a:pt x="418" y="201"/>
                    <a:pt x="230" y="197"/>
                    <a:pt x="0" y="13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85" y="134"/>
                    <a:pt x="390" y="177"/>
                    <a:pt x="601" y="17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atinLnBrk="0"/>
              <a:endParaRPr lang="ko-KR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30" name="Freeform 41"/>
            <p:cNvSpPr>
              <a:spLocks/>
            </p:cNvSpPr>
            <p:nvPr userDrawn="1"/>
          </p:nvSpPr>
          <p:spPr bwMode="auto">
            <a:xfrm>
              <a:off x="1588" y="5200650"/>
              <a:ext cx="1762125" cy="1003300"/>
            </a:xfrm>
            <a:custGeom>
              <a:avLst/>
              <a:gdLst>
                <a:gd name="T0" fmla="*/ 0 w 555"/>
                <a:gd name="T1" fmla="*/ 73 h 316"/>
                <a:gd name="T2" fmla="*/ 555 w 555"/>
                <a:gd name="T3" fmla="*/ 300 h 316"/>
                <a:gd name="T4" fmla="*/ 0 w 555"/>
                <a:gd name="T5" fmla="*/ 0 h 316"/>
                <a:gd name="T6" fmla="*/ 0 w 555"/>
                <a:gd name="T7" fmla="*/ 73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55" h="316">
                  <a:moveTo>
                    <a:pt x="0" y="73"/>
                  </a:moveTo>
                  <a:cubicBezTo>
                    <a:pt x="171" y="249"/>
                    <a:pt x="361" y="306"/>
                    <a:pt x="555" y="300"/>
                  </a:cubicBezTo>
                  <a:cubicBezTo>
                    <a:pt x="555" y="300"/>
                    <a:pt x="254" y="316"/>
                    <a:pt x="0" y="0"/>
                  </a:cubicBezTo>
                  <a:lnTo>
                    <a:pt x="0" y="73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atinLnBrk="0"/>
              <a:endParaRPr lang="ko-KR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38" name="Freeform 42"/>
            <p:cNvSpPr>
              <a:spLocks/>
            </p:cNvSpPr>
            <p:nvPr userDrawn="1"/>
          </p:nvSpPr>
          <p:spPr bwMode="auto">
            <a:xfrm>
              <a:off x="8224838" y="5997575"/>
              <a:ext cx="546100" cy="860425"/>
            </a:xfrm>
            <a:custGeom>
              <a:avLst/>
              <a:gdLst>
                <a:gd name="T0" fmla="*/ 172 w 172"/>
                <a:gd name="T1" fmla="*/ 271 h 271"/>
                <a:gd name="T2" fmla="*/ 134 w 172"/>
                <a:gd name="T3" fmla="*/ 271 h 271"/>
                <a:gd name="T4" fmla="*/ 0 w 172"/>
                <a:gd name="T5" fmla="*/ 0 h 271"/>
                <a:gd name="T6" fmla="*/ 172 w 172"/>
                <a:gd name="T7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2" h="271">
                  <a:moveTo>
                    <a:pt x="172" y="271"/>
                  </a:moveTo>
                  <a:cubicBezTo>
                    <a:pt x="134" y="271"/>
                    <a:pt x="134" y="271"/>
                    <a:pt x="134" y="271"/>
                  </a:cubicBezTo>
                  <a:cubicBezTo>
                    <a:pt x="93" y="106"/>
                    <a:pt x="3" y="4"/>
                    <a:pt x="0" y="0"/>
                  </a:cubicBezTo>
                  <a:cubicBezTo>
                    <a:pt x="77" y="68"/>
                    <a:pt x="137" y="157"/>
                    <a:pt x="172" y="271"/>
                  </a:cubicBezTo>
                  <a:close/>
                </a:path>
              </a:pathLst>
            </a:custGeom>
            <a:gradFill>
              <a:gsLst>
                <a:gs pos="100000">
                  <a:schemeClr val="tx2">
                    <a:alpha val="20000"/>
                  </a:schemeClr>
                </a:gs>
                <a:gs pos="50000">
                  <a:schemeClr val="tx2">
                    <a:alpha val="0"/>
                  </a:schemeClr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atinLnBrk="0"/>
              <a:endParaRPr lang="ko-KR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40" name="Freeform 43"/>
            <p:cNvSpPr>
              <a:spLocks/>
            </p:cNvSpPr>
            <p:nvPr userDrawn="1"/>
          </p:nvSpPr>
          <p:spPr bwMode="auto">
            <a:xfrm>
              <a:off x="5851526" y="0"/>
              <a:ext cx="3290888" cy="1587500"/>
            </a:xfrm>
            <a:custGeom>
              <a:avLst/>
              <a:gdLst>
                <a:gd name="T0" fmla="*/ 1037 w 1037"/>
                <a:gd name="T1" fmla="*/ 274 h 500"/>
                <a:gd name="T2" fmla="*/ 1037 w 1037"/>
                <a:gd name="T3" fmla="*/ 481 h 500"/>
                <a:gd name="T4" fmla="*/ 173 w 1037"/>
                <a:gd name="T5" fmla="*/ 339 h 500"/>
                <a:gd name="T6" fmla="*/ 0 w 1037"/>
                <a:gd name="T7" fmla="*/ 0 h 500"/>
                <a:gd name="T8" fmla="*/ 7 w 1037"/>
                <a:gd name="T9" fmla="*/ 0 h 500"/>
                <a:gd name="T10" fmla="*/ 121 w 1037"/>
                <a:gd name="T11" fmla="*/ 190 h 500"/>
                <a:gd name="T12" fmla="*/ 1037 w 1037"/>
                <a:gd name="T13" fmla="*/ 274 h 5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37" h="500">
                  <a:moveTo>
                    <a:pt x="1037" y="274"/>
                  </a:moveTo>
                  <a:cubicBezTo>
                    <a:pt x="1037" y="481"/>
                    <a:pt x="1037" y="481"/>
                    <a:pt x="1037" y="481"/>
                  </a:cubicBezTo>
                  <a:cubicBezTo>
                    <a:pt x="757" y="500"/>
                    <a:pt x="348" y="496"/>
                    <a:pt x="173" y="339"/>
                  </a:cubicBezTo>
                  <a:cubicBezTo>
                    <a:pt x="50" y="228"/>
                    <a:pt x="2" y="112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25" y="66"/>
                    <a:pt x="62" y="131"/>
                    <a:pt x="121" y="190"/>
                  </a:cubicBezTo>
                  <a:cubicBezTo>
                    <a:pt x="274" y="343"/>
                    <a:pt x="685" y="324"/>
                    <a:pt x="1037" y="27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atinLnBrk="0"/>
              <a:endParaRPr lang="ko-KR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41" name="Freeform 44"/>
            <p:cNvSpPr>
              <a:spLocks/>
            </p:cNvSpPr>
            <p:nvPr userDrawn="1"/>
          </p:nvSpPr>
          <p:spPr bwMode="auto">
            <a:xfrm>
              <a:off x="5851526" y="0"/>
              <a:ext cx="3290888" cy="1587500"/>
            </a:xfrm>
            <a:custGeom>
              <a:avLst/>
              <a:gdLst>
                <a:gd name="T0" fmla="*/ 1037 w 1037"/>
                <a:gd name="T1" fmla="*/ 410 h 500"/>
                <a:gd name="T2" fmla="*/ 1037 w 1037"/>
                <a:gd name="T3" fmla="*/ 481 h 500"/>
                <a:gd name="T4" fmla="*/ 173 w 1037"/>
                <a:gd name="T5" fmla="*/ 339 h 500"/>
                <a:gd name="T6" fmla="*/ 0 w 1037"/>
                <a:gd name="T7" fmla="*/ 0 h 500"/>
                <a:gd name="T8" fmla="*/ 4 w 1037"/>
                <a:gd name="T9" fmla="*/ 0 h 500"/>
                <a:gd name="T10" fmla="*/ 337 w 1037"/>
                <a:gd name="T11" fmla="*/ 376 h 500"/>
                <a:gd name="T12" fmla="*/ 1037 w 1037"/>
                <a:gd name="T13" fmla="*/ 410 h 5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37" h="500">
                  <a:moveTo>
                    <a:pt x="1037" y="410"/>
                  </a:moveTo>
                  <a:cubicBezTo>
                    <a:pt x="1037" y="481"/>
                    <a:pt x="1037" y="481"/>
                    <a:pt x="1037" y="481"/>
                  </a:cubicBezTo>
                  <a:cubicBezTo>
                    <a:pt x="757" y="500"/>
                    <a:pt x="348" y="496"/>
                    <a:pt x="173" y="339"/>
                  </a:cubicBezTo>
                  <a:cubicBezTo>
                    <a:pt x="50" y="228"/>
                    <a:pt x="2" y="112"/>
                    <a:pt x="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18" y="79"/>
                    <a:pt x="78" y="289"/>
                    <a:pt x="337" y="376"/>
                  </a:cubicBezTo>
                  <a:cubicBezTo>
                    <a:pt x="519" y="437"/>
                    <a:pt x="805" y="432"/>
                    <a:pt x="1037" y="410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chemeClr val="tx2">
                    <a:alpha val="20000"/>
                  </a:schemeClr>
                </a:gs>
                <a:gs pos="50000">
                  <a:schemeClr val="tx2">
                    <a:alpha val="0"/>
                  </a:schemeClr>
                </a:gs>
              </a:gsLst>
              <a:lin ang="81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atinLnBrk="0"/>
              <a:endParaRPr lang="ko-KR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42" name="Freeform 45"/>
            <p:cNvSpPr>
              <a:spLocks/>
            </p:cNvSpPr>
            <p:nvPr userDrawn="1"/>
          </p:nvSpPr>
          <p:spPr bwMode="auto">
            <a:xfrm>
              <a:off x="7631113" y="1612900"/>
              <a:ext cx="1511300" cy="158750"/>
            </a:xfrm>
            <a:custGeom>
              <a:avLst/>
              <a:gdLst>
                <a:gd name="T0" fmla="*/ 476 w 476"/>
                <a:gd name="T1" fmla="*/ 8 h 50"/>
                <a:gd name="T2" fmla="*/ 476 w 476"/>
                <a:gd name="T3" fmla="*/ 50 h 50"/>
                <a:gd name="T4" fmla="*/ 0 w 476"/>
                <a:gd name="T5" fmla="*/ 0 h 50"/>
                <a:gd name="T6" fmla="*/ 476 w 476"/>
                <a:gd name="T7" fmla="*/ 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76" h="50">
                  <a:moveTo>
                    <a:pt x="476" y="8"/>
                  </a:moveTo>
                  <a:cubicBezTo>
                    <a:pt x="476" y="50"/>
                    <a:pt x="476" y="50"/>
                    <a:pt x="476" y="50"/>
                  </a:cubicBezTo>
                  <a:cubicBezTo>
                    <a:pt x="241" y="42"/>
                    <a:pt x="81" y="17"/>
                    <a:pt x="0" y="0"/>
                  </a:cubicBezTo>
                  <a:cubicBezTo>
                    <a:pt x="134" y="23"/>
                    <a:pt x="331" y="18"/>
                    <a:pt x="476" y="8"/>
                  </a:cubicBez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atinLnBrk="0"/>
              <a:endParaRPr lang="ko-KR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43" name="Freeform 46"/>
            <p:cNvSpPr>
              <a:spLocks/>
            </p:cNvSpPr>
            <p:nvPr userDrawn="1"/>
          </p:nvSpPr>
          <p:spPr bwMode="auto">
            <a:xfrm>
              <a:off x="6064251" y="0"/>
              <a:ext cx="762000" cy="736600"/>
            </a:xfrm>
            <a:custGeom>
              <a:avLst/>
              <a:gdLst>
                <a:gd name="T0" fmla="*/ 0 w 240"/>
                <a:gd name="T1" fmla="*/ 0 h 232"/>
                <a:gd name="T2" fmla="*/ 240 w 240"/>
                <a:gd name="T3" fmla="*/ 232 h 232"/>
                <a:gd name="T4" fmla="*/ 92 w 240"/>
                <a:gd name="T5" fmla="*/ 0 h 232"/>
                <a:gd name="T6" fmla="*/ 0 w 240"/>
                <a:gd name="T7" fmla="*/ 0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0" h="232">
                  <a:moveTo>
                    <a:pt x="0" y="0"/>
                  </a:moveTo>
                  <a:cubicBezTo>
                    <a:pt x="0" y="0"/>
                    <a:pt x="24" y="144"/>
                    <a:pt x="240" y="232"/>
                  </a:cubicBezTo>
                  <a:cubicBezTo>
                    <a:pt x="240" y="232"/>
                    <a:pt x="56" y="88"/>
                    <a:pt x="92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atinLnBrk="0"/>
              <a:endParaRPr lang="ko-KR" altLang="en-US" sz="1800">
                <a:solidFill>
                  <a:prstClr val="black"/>
                </a:solidFill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4918" y="1778356"/>
            <a:ext cx="10562167" cy="1664224"/>
          </a:xfrm>
        </p:spPr>
        <p:txBody>
          <a:bodyPr anchor="b"/>
          <a:lstStyle>
            <a:lvl1pPr algn="ctr">
              <a:lnSpc>
                <a:spcPts val="4300"/>
              </a:lnSpc>
              <a:defRPr sz="36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Your</a:t>
            </a:r>
            <a:br>
              <a:rPr lang="en-US" dirty="0"/>
            </a:br>
            <a:r>
              <a:rPr lang="en-US" dirty="0"/>
              <a:t>Section Break Title</a:t>
            </a:r>
          </a:p>
        </p:txBody>
      </p:sp>
      <p:cxnSp>
        <p:nvCxnSpPr>
          <p:cNvPr id="37" name="Straight Connector 36"/>
          <p:cNvCxnSpPr/>
          <p:nvPr userDrawn="1"/>
        </p:nvCxnSpPr>
        <p:spPr>
          <a:xfrm>
            <a:off x="5871323" y="3661031"/>
            <a:ext cx="449355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 Placeholder 38"/>
          <p:cNvSpPr>
            <a:spLocks noGrp="1"/>
          </p:cNvSpPr>
          <p:nvPr>
            <p:ph type="body" sz="quarter" idx="10" hasCustomPrompt="1"/>
          </p:nvPr>
        </p:nvSpPr>
        <p:spPr>
          <a:xfrm>
            <a:off x="814918" y="3917306"/>
            <a:ext cx="10562167" cy="996950"/>
          </a:xfrm>
        </p:spPr>
        <p:txBody>
          <a:bodyPr lIns="0" tIns="0" rIns="0" bIns="0">
            <a:noAutofit/>
          </a:bodyPr>
          <a:lstStyle>
            <a:lvl1pPr marL="0" marR="0" indent="0" algn="ctr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3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1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>
              <a:defRPr lang="en-US" sz="11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>
              <a:defRPr lang="en-US" sz="11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100" kern="1200" baseline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Insert Your Title Here</a:t>
            </a:r>
          </a:p>
        </p:txBody>
      </p:sp>
    </p:spTree>
    <p:extLst>
      <p:ext uri="{BB962C8B-B14F-4D97-AF65-F5344CB8AC3E}">
        <p14:creationId xmlns:p14="http://schemas.microsoft.com/office/powerpoint/2010/main" val="460450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4918" y="178063"/>
            <a:ext cx="8899353" cy="593682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03930-8964-4F2B-8987-9D77E9D58696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7/6/2026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7360355" y="6366933"/>
            <a:ext cx="3736623" cy="491068"/>
          </a:xfrm>
        </p:spPr>
        <p:txBody>
          <a:bodyPr/>
          <a:lstStyle/>
          <a:p>
            <a:r>
              <a:rPr lang="en-US">
                <a:solidFill>
                  <a:prstClr val="black">
                    <a:tint val="75000"/>
                    <a:alpha val="50000"/>
                  </a:prstClr>
                </a:solidFill>
              </a:rPr>
              <a:t>Converting your business from Good to Great.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995378" y="6366933"/>
            <a:ext cx="572911" cy="491068"/>
          </a:xfrm>
        </p:spPr>
        <p:txBody>
          <a:bodyPr/>
          <a:lstStyle/>
          <a:p>
            <a:fld id="{8409FBBB-C588-4B8D-A7FF-E25C81CC24C8}" type="slidenum">
              <a:rPr lang="en-US" smtClean="0">
                <a:solidFill>
                  <a:srgbClr val="304F6F"/>
                </a:solidFill>
              </a:rPr>
              <a:pPr/>
              <a:t>‹#›</a:t>
            </a:fld>
            <a:endParaRPr lang="en-US" dirty="0">
              <a:solidFill>
                <a:srgbClr val="304F6F"/>
              </a:solidFill>
            </a:endParaRPr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13"/>
          </p:nvPr>
        </p:nvSpPr>
        <p:spPr>
          <a:xfrm>
            <a:off x="814918" y="808384"/>
            <a:ext cx="8899353" cy="36089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100" spc="0" baseline="0">
                <a:solidFill>
                  <a:schemeClr val="tx2">
                    <a:alpha val="40000"/>
                  </a:schemeClr>
                </a:solidFill>
              </a:defRPr>
            </a:lvl1pPr>
            <a:lvl2pPr marL="457200" indent="0" algn="ctr">
              <a:buNone/>
              <a:defRPr sz="1100"/>
            </a:lvl2pPr>
            <a:lvl3pPr marL="914400" indent="0" algn="ctr">
              <a:buNone/>
              <a:defRPr sz="1100"/>
            </a:lvl3pPr>
            <a:lvl4pPr marL="1371600" indent="0" algn="ctr">
              <a:buNone/>
              <a:defRPr sz="1100"/>
            </a:lvl4pPr>
            <a:lvl5pPr marL="1828800" indent="0" algn="ctr">
              <a:buNone/>
              <a:defRPr sz="1100"/>
            </a:lvl5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8" name="Freeform 51"/>
          <p:cNvSpPr>
            <a:spLocks/>
          </p:cNvSpPr>
          <p:nvPr userDrawn="1"/>
        </p:nvSpPr>
        <p:spPr bwMode="auto">
          <a:xfrm>
            <a:off x="11204773" y="1087284"/>
            <a:ext cx="101600" cy="76200"/>
          </a:xfrm>
          <a:custGeom>
            <a:avLst/>
            <a:gdLst>
              <a:gd name="T0" fmla="*/ 48 w 48"/>
              <a:gd name="T1" fmla="*/ 20 h 48"/>
              <a:gd name="T2" fmla="*/ 48 w 48"/>
              <a:gd name="T3" fmla="*/ 30 h 48"/>
              <a:gd name="T4" fmla="*/ 28 w 48"/>
              <a:gd name="T5" fmla="*/ 30 h 48"/>
              <a:gd name="T6" fmla="*/ 28 w 48"/>
              <a:gd name="T7" fmla="*/ 48 h 48"/>
              <a:gd name="T8" fmla="*/ 20 w 48"/>
              <a:gd name="T9" fmla="*/ 48 h 48"/>
              <a:gd name="T10" fmla="*/ 20 w 48"/>
              <a:gd name="T11" fmla="*/ 30 h 48"/>
              <a:gd name="T12" fmla="*/ 0 w 48"/>
              <a:gd name="T13" fmla="*/ 30 h 48"/>
              <a:gd name="T14" fmla="*/ 0 w 48"/>
              <a:gd name="T15" fmla="*/ 20 h 48"/>
              <a:gd name="T16" fmla="*/ 20 w 48"/>
              <a:gd name="T17" fmla="*/ 20 h 48"/>
              <a:gd name="T18" fmla="*/ 20 w 48"/>
              <a:gd name="T19" fmla="*/ 0 h 48"/>
              <a:gd name="T20" fmla="*/ 28 w 48"/>
              <a:gd name="T21" fmla="*/ 0 h 48"/>
              <a:gd name="T22" fmla="*/ 28 w 48"/>
              <a:gd name="T23" fmla="*/ 20 h 48"/>
              <a:gd name="T24" fmla="*/ 48 w 48"/>
              <a:gd name="T25" fmla="*/ 20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8" h="48">
                <a:moveTo>
                  <a:pt x="48" y="20"/>
                </a:moveTo>
                <a:lnTo>
                  <a:pt x="48" y="30"/>
                </a:lnTo>
                <a:lnTo>
                  <a:pt x="28" y="30"/>
                </a:lnTo>
                <a:lnTo>
                  <a:pt x="28" y="48"/>
                </a:lnTo>
                <a:lnTo>
                  <a:pt x="20" y="48"/>
                </a:lnTo>
                <a:lnTo>
                  <a:pt x="20" y="30"/>
                </a:lnTo>
                <a:lnTo>
                  <a:pt x="0" y="30"/>
                </a:lnTo>
                <a:lnTo>
                  <a:pt x="0" y="20"/>
                </a:lnTo>
                <a:lnTo>
                  <a:pt x="20" y="20"/>
                </a:lnTo>
                <a:lnTo>
                  <a:pt x="20" y="0"/>
                </a:lnTo>
                <a:lnTo>
                  <a:pt x="28" y="0"/>
                </a:lnTo>
                <a:lnTo>
                  <a:pt x="28" y="20"/>
                </a:lnTo>
                <a:lnTo>
                  <a:pt x="48" y="2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atinLnBrk="0"/>
            <a:endParaRPr lang="ko-KR" altLang="en-US" sz="1800">
              <a:solidFill>
                <a:prstClr val="black"/>
              </a:solidFill>
            </a:endParaRPr>
          </a:p>
        </p:txBody>
      </p:sp>
      <p:sp>
        <p:nvSpPr>
          <p:cNvPr id="9" name="Freeform 52"/>
          <p:cNvSpPr>
            <a:spLocks/>
          </p:cNvSpPr>
          <p:nvPr userDrawn="1"/>
        </p:nvSpPr>
        <p:spPr bwMode="auto">
          <a:xfrm>
            <a:off x="10910816" y="328765"/>
            <a:ext cx="101600" cy="76200"/>
          </a:xfrm>
          <a:custGeom>
            <a:avLst/>
            <a:gdLst>
              <a:gd name="T0" fmla="*/ 48 w 48"/>
              <a:gd name="T1" fmla="*/ 20 h 48"/>
              <a:gd name="T2" fmla="*/ 48 w 48"/>
              <a:gd name="T3" fmla="*/ 28 h 48"/>
              <a:gd name="T4" fmla="*/ 28 w 48"/>
              <a:gd name="T5" fmla="*/ 28 h 48"/>
              <a:gd name="T6" fmla="*/ 28 w 48"/>
              <a:gd name="T7" fmla="*/ 48 h 48"/>
              <a:gd name="T8" fmla="*/ 18 w 48"/>
              <a:gd name="T9" fmla="*/ 48 h 48"/>
              <a:gd name="T10" fmla="*/ 18 w 48"/>
              <a:gd name="T11" fmla="*/ 28 h 48"/>
              <a:gd name="T12" fmla="*/ 0 w 48"/>
              <a:gd name="T13" fmla="*/ 28 h 48"/>
              <a:gd name="T14" fmla="*/ 0 w 48"/>
              <a:gd name="T15" fmla="*/ 20 h 48"/>
              <a:gd name="T16" fmla="*/ 18 w 48"/>
              <a:gd name="T17" fmla="*/ 20 h 48"/>
              <a:gd name="T18" fmla="*/ 18 w 48"/>
              <a:gd name="T19" fmla="*/ 0 h 48"/>
              <a:gd name="T20" fmla="*/ 28 w 48"/>
              <a:gd name="T21" fmla="*/ 0 h 48"/>
              <a:gd name="T22" fmla="*/ 28 w 48"/>
              <a:gd name="T23" fmla="*/ 20 h 48"/>
              <a:gd name="T24" fmla="*/ 48 w 48"/>
              <a:gd name="T25" fmla="*/ 20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8" h="48">
                <a:moveTo>
                  <a:pt x="48" y="20"/>
                </a:moveTo>
                <a:lnTo>
                  <a:pt x="48" y="28"/>
                </a:lnTo>
                <a:lnTo>
                  <a:pt x="28" y="28"/>
                </a:lnTo>
                <a:lnTo>
                  <a:pt x="28" y="48"/>
                </a:lnTo>
                <a:lnTo>
                  <a:pt x="18" y="48"/>
                </a:lnTo>
                <a:lnTo>
                  <a:pt x="18" y="28"/>
                </a:lnTo>
                <a:lnTo>
                  <a:pt x="0" y="28"/>
                </a:lnTo>
                <a:lnTo>
                  <a:pt x="0" y="20"/>
                </a:lnTo>
                <a:lnTo>
                  <a:pt x="18" y="20"/>
                </a:lnTo>
                <a:lnTo>
                  <a:pt x="18" y="0"/>
                </a:lnTo>
                <a:lnTo>
                  <a:pt x="28" y="0"/>
                </a:lnTo>
                <a:lnTo>
                  <a:pt x="28" y="20"/>
                </a:lnTo>
                <a:lnTo>
                  <a:pt x="48" y="2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atinLnBrk="0"/>
            <a:endParaRPr lang="ko-KR" altLang="en-US" sz="1800">
              <a:solidFill>
                <a:prstClr val="black"/>
              </a:solidFill>
            </a:endParaRPr>
          </a:p>
        </p:txBody>
      </p:sp>
      <p:sp>
        <p:nvSpPr>
          <p:cNvPr id="10" name="Freeform 53"/>
          <p:cNvSpPr>
            <a:spLocks/>
          </p:cNvSpPr>
          <p:nvPr userDrawn="1"/>
        </p:nvSpPr>
        <p:spPr bwMode="auto">
          <a:xfrm>
            <a:off x="11817351" y="476250"/>
            <a:ext cx="101600" cy="76200"/>
          </a:xfrm>
          <a:custGeom>
            <a:avLst/>
            <a:gdLst>
              <a:gd name="T0" fmla="*/ 48 w 48"/>
              <a:gd name="T1" fmla="*/ 20 h 48"/>
              <a:gd name="T2" fmla="*/ 48 w 48"/>
              <a:gd name="T3" fmla="*/ 28 h 48"/>
              <a:gd name="T4" fmla="*/ 28 w 48"/>
              <a:gd name="T5" fmla="*/ 28 h 48"/>
              <a:gd name="T6" fmla="*/ 28 w 48"/>
              <a:gd name="T7" fmla="*/ 48 h 48"/>
              <a:gd name="T8" fmla="*/ 20 w 48"/>
              <a:gd name="T9" fmla="*/ 48 h 48"/>
              <a:gd name="T10" fmla="*/ 20 w 48"/>
              <a:gd name="T11" fmla="*/ 28 h 48"/>
              <a:gd name="T12" fmla="*/ 0 w 48"/>
              <a:gd name="T13" fmla="*/ 28 h 48"/>
              <a:gd name="T14" fmla="*/ 0 w 48"/>
              <a:gd name="T15" fmla="*/ 20 h 48"/>
              <a:gd name="T16" fmla="*/ 20 w 48"/>
              <a:gd name="T17" fmla="*/ 20 h 48"/>
              <a:gd name="T18" fmla="*/ 20 w 48"/>
              <a:gd name="T19" fmla="*/ 0 h 48"/>
              <a:gd name="T20" fmla="*/ 28 w 48"/>
              <a:gd name="T21" fmla="*/ 0 h 48"/>
              <a:gd name="T22" fmla="*/ 28 w 48"/>
              <a:gd name="T23" fmla="*/ 20 h 48"/>
              <a:gd name="T24" fmla="*/ 48 w 48"/>
              <a:gd name="T25" fmla="*/ 20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8" h="48">
                <a:moveTo>
                  <a:pt x="48" y="20"/>
                </a:moveTo>
                <a:lnTo>
                  <a:pt x="48" y="28"/>
                </a:lnTo>
                <a:lnTo>
                  <a:pt x="28" y="28"/>
                </a:lnTo>
                <a:lnTo>
                  <a:pt x="28" y="48"/>
                </a:lnTo>
                <a:lnTo>
                  <a:pt x="20" y="48"/>
                </a:lnTo>
                <a:lnTo>
                  <a:pt x="20" y="28"/>
                </a:lnTo>
                <a:lnTo>
                  <a:pt x="0" y="28"/>
                </a:lnTo>
                <a:lnTo>
                  <a:pt x="0" y="20"/>
                </a:lnTo>
                <a:lnTo>
                  <a:pt x="20" y="20"/>
                </a:lnTo>
                <a:lnTo>
                  <a:pt x="20" y="0"/>
                </a:lnTo>
                <a:lnTo>
                  <a:pt x="28" y="0"/>
                </a:lnTo>
                <a:lnTo>
                  <a:pt x="28" y="20"/>
                </a:lnTo>
                <a:lnTo>
                  <a:pt x="48" y="2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atinLnBrk="0"/>
            <a:endParaRPr lang="ko-KR" altLang="en-US" sz="1800">
              <a:solidFill>
                <a:prstClr val="black"/>
              </a:solidFill>
            </a:endParaRPr>
          </a:p>
        </p:txBody>
      </p:sp>
      <p:sp>
        <p:nvSpPr>
          <p:cNvPr id="11" name="Freeform 54"/>
          <p:cNvSpPr>
            <a:spLocks/>
          </p:cNvSpPr>
          <p:nvPr userDrawn="1"/>
        </p:nvSpPr>
        <p:spPr bwMode="auto">
          <a:xfrm>
            <a:off x="10107604" y="545137"/>
            <a:ext cx="101600" cy="76200"/>
          </a:xfrm>
          <a:custGeom>
            <a:avLst/>
            <a:gdLst>
              <a:gd name="T0" fmla="*/ 48 w 48"/>
              <a:gd name="T1" fmla="*/ 20 h 48"/>
              <a:gd name="T2" fmla="*/ 48 w 48"/>
              <a:gd name="T3" fmla="*/ 30 h 48"/>
              <a:gd name="T4" fmla="*/ 28 w 48"/>
              <a:gd name="T5" fmla="*/ 30 h 48"/>
              <a:gd name="T6" fmla="*/ 28 w 48"/>
              <a:gd name="T7" fmla="*/ 48 h 48"/>
              <a:gd name="T8" fmla="*/ 18 w 48"/>
              <a:gd name="T9" fmla="*/ 48 h 48"/>
              <a:gd name="T10" fmla="*/ 18 w 48"/>
              <a:gd name="T11" fmla="*/ 30 h 48"/>
              <a:gd name="T12" fmla="*/ 0 w 48"/>
              <a:gd name="T13" fmla="*/ 30 h 48"/>
              <a:gd name="T14" fmla="*/ 0 w 48"/>
              <a:gd name="T15" fmla="*/ 20 h 48"/>
              <a:gd name="T16" fmla="*/ 18 w 48"/>
              <a:gd name="T17" fmla="*/ 20 h 48"/>
              <a:gd name="T18" fmla="*/ 18 w 48"/>
              <a:gd name="T19" fmla="*/ 0 h 48"/>
              <a:gd name="T20" fmla="*/ 28 w 48"/>
              <a:gd name="T21" fmla="*/ 0 h 48"/>
              <a:gd name="T22" fmla="*/ 28 w 48"/>
              <a:gd name="T23" fmla="*/ 20 h 48"/>
              <a:gd name="T24" fmla="*/ 48 w 48"/>
              <a:gd name="T25" fmla="*/ 20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8" h="48">
                <a:moveTo>
                  <a:pt x="48" y="20"/>
                </a:moveTo>
                <a:lnTo>
                  <a:pt x="48" y="30"/>
                </a:lnTo>
                <a:lnTo>
                  <a:pt x="28" y="30"/>
                </a:lnTo>
                <a:lnTo>
                  <a:pt x="28" y="48"/>
                </a:lnTo>
                <a:lnTo>
                  <a:pt x="18" y="48"/>
                </a:lnTo>
                <a:lnTo>
                  <a:pt x="18" y="30"/>
                </a:lnTo>
                <a:lnTo>
                  <a:pt x="0" y="30"/>
                </a:lnTo>
                <a:lnTo>
                  <a:pt x="0" y="20"/>
                </a:lnTo>
                <a:lnTo>
                  <a:pt x="18" y="20"/>
                </a:lnTo>
                <a:lnTo>
                  <a:pt x="18" y="0"/>
                </a:lnTo>
                <a:lnTo>
                  <a:pt x="28" y="0"/>
                </a:lnTo>
                <a:lnTo>
                  <a:pt x="28" y="20"/>
                </a:lnTo>
                <a:lnTo>
                  <a:pt x="48" y="2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atinLnBrk="0"/>
            <a:endParaRPr lang="ko-KR" altLang="en-US" sz="1800">
              <a:solidFill>
                <a:prstClr val="black"/>
              </a:solidFill>
            </a:endParaRPr>
          </a:p>
        </p:txBody>
      </p:sp>
      <p:sp>
        <p:nvSpPr>
          <p:cNvPr id="12" name="Freeform 55"/>
          <p:cNvSpPr>
            <a:spLocks/>
          </p:cNvSpPr>
          <p:nvPr userDrawn="1"/>
        </p:nvSpPr>
        <p:spPr bwMode="auto">
          <a:xfrm>
            <a:off x="10593889" y="942608"/>
            <a:ext cx="135467" cy="104775"/>
          </a:xfrm>
          <a:custGeom>
            <a:avLst/>
            <a:gdLst>
              <a:gd name="T0" fmla="*/ 64 w 64"/>
              <a:gd name="T1" fmla="*/ 26 h 66"/>
              <a:gd name="T2" fmla="*/ 64 w 64"/>
              <a:gd name="T3" fmla="*/ 40 h 66"/>
              <a:gd name="T4" fmla="*/ 38 w 64"/>
              <a:gd name="T5" fmla="*/ 40 h 66"/>
              <a:gd name="T6" fmla="*/ 38 w 64"/>
              <a:gd name="T7" fmla="*/ 66 h 66"/>
              <a:gd name="T8" fmla="*/ 26 w 64"/>
              <a:gd name="T9" fmla="*/ 66 h 66"/>
              <a:gd name="T10" fmla="*/ 26 w 64"/>
              <a:gd name="T11" fmla="*/ 40 h 66"/>
              <a:gd name="T12" fmla="*/ 0 w 64"/>
              <a:gd name="T13" fmla="*/ 40 h 66"/>
              <a:gd name="T14" fmla="*/ 0 w 64"/>
              <a:gd name="T15" fmla="*/ 26 h 66"/>
              <a:gd name="T16" fmla="*/ 26 w 64"/>
              <a:gd name="T17" fmla="*/ 26 h 66"/>
              <a:gd name="T18" fmla="*/ 26 w 64"/>
              <a:gd name="T19" fmla="*/ 0 h 66"/>
              <a:gd name="T20" fmla="*/ 38 w 64"/>
              <a:gd name="T21" fmla="*/ 0 h 66"/>
              <a:gd name="T22" fmla="*/ 38 w 64"/>
              <a:gd name="T23" fmla="*/ 26 h 66"/>
              <a:gd name="T24" fmla="*/ 64 w 64"/>
              <a:gd name="T25" fmla="*/ 26 h 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64" h="66">
                <a:moveTo>
                  <a:pt x="64" y="26"/>
                </a:moveTo>
                <a:lnTo>
                  <a:pt x="64" y="40"/>
                </a:lnTo>
                <a:lnTo>
                  <a:pt x="38" y="40"/>
                </a:lnTo>
                <a:lnTo>
                  <a:pt x="38" y="66"/>
                </a:lnTo>
                <a:lnTo>
                  <a:pt x="26" y="66"/>
                </a:lnTo>
                <a:lnTo>
                  <a:pt x="26" y="40"/>
                </a:lnTo>
                <a:lnTo>
                  <a:pt x="0" y="40"/>
                </a:lnTo>
                <a:lnTo>
                  <a:pt x="0" y="26"/>
                </a:lnTo>
                <a:lnTo>
                  <a:pt x="26" y="26"/>
                </a:lnTo>
                <a:lnTo>
                  <a:pt x="26" y="0"/>
                </a:lnTo>
                <a:lnTo>
                  <a:pt x="38" y="0"/>
                </a:lnTo>
                <a:lnTo>
                  <a:pt x="38" y="26"/>
                </a:lnTo>
                <a:lnTo>
                  <a:pt x="64" y="2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atinLnBrk="0"/>
            <a:endParaRPr lang="ko-KR" altLang="en-US" sz="1800">
              <a:solidFill>
                <a:prstClr val="black"/>
              </a:solidFill>
            </a:endParaRPr>
          </a:p>
        </p:txBody>
      </p:sp>
      <p:sp>
        <p:nvSpPr>
          <p:cNvPr id="13" name="Freeform 56"/>
          <p:cNvSpPr>
            <a:spLocks/>
          </p:cNvSpPr>
          <p:nvPr userDrawn="1"/>
        </p:nvSpPr>
        <p:spPr bwMode="auto">
          <a:xfrm>
            <a:off x="10009744" y="1012395"/>
            <a:ext cx="135467" cy="104775"/>
          </a:xfrm>
          <a:custGeom>
            <a:avLst/>
            <a:gdLst>
              <a:gd name="T0" fmla="*/ 64 w 64"/>
              <a:gd name="T1" fmla="*/ 26 h 66"/>
              <a:gd name="T2" fmla="*/ 64 w 64"/>
              <a:gd name="T3" fmla="*/ 40 h 66"/>
              <a:gd name="T4" fmla="*/ 38 w 64"/>
              <a:gd name="T5" fmla="*/ 40 h 66"/>
              <a:gd name="T6" fmla="*/ 38 w 64"/>
              <a:gd name="T7" fmla="*/ 66 h 66"/>
              <a:gd name="T8" fmla="*/ 26 w 64"/>
              <a:gd name="T9" fmla="*/ 66 h 66"/>
              <a:gd name="T10" fmla="*/ 26 w 64"/>
              <a:gd name="T11" fmla="*/ 40 h 66"/>
              <a:gd name="T12" fmla="*/ 0 w 64"/>
              <a:gd name="T13" fmla="*/ 40 h 66"/>
              <a:gd name="T14" fmla="*/ 0 w 64"/>
              <a:gd name="T15" fmla="*/ 26 h 66"/>
              <a:gd name="T16" fmla="*/ 26 w 64"/>
              <a:gd name="T17" fmla="*/ 26 h 66"/>
              <a:gd name="T18" fmla="*/ 26 w 64"/>
              <a:gd name="T19" fmla="*/ 0 h 66"/>
              <a:gd name="T20" fmla="*/ 38 w 64"/>
              <a:gd name="T21" fmla="*/ 0 h 66"/>
              <a:gd name="T22" fmla="*/ 38 w 64"/>
              <a:gd name="T23" fmla="*/ 26 h 66"/>
              <a:gd name="T24" fmla="*/ 64 w 64"/>
              <a:gd name="T25" fmla="*/ 26 h 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64" h="66">
                <a:moveTo>
                  <a:pt x="64" y="26"/>
                </a:moveTo>
                <a:lnTo>
                  <a:pt x="64" y="40"/>
                </a:lnTo>
                <a:lnTo>
                  <a:pt x="38" y="40"/>
                </a:lnTo>
                <a:lnTo>
                  <a:pt x="38" y="66"/>
                </a:lnTo>
                <a:lnTo>
                  <a:pt x="26" y="66"/>
                </a:lnTo>
                <a:lnTo>
                  <a:pt x="26" y="40"/>
                </a:lnTo>
                <a:lnTo>
                  <a:pt x="0" y="40"/>
                </a:lnTo>
                <a:lnTo>
                  <a:pt x="0" y="26"/>
                </a:lnTo>
                <a:lnTo>
                  <a:pt x="26" y="26"/>
                </a:lnTo>
                <a:lnTo>
                  <a:pt x="26" y="0"/>
                </a:lnTo>
                <a:lnTo>
                  <a:pt x="38" y="0"/>
                </a:lnTo>
                <a:lnTo>
                  <a:pt x="38" y="26"/>
                </a:lnTo>
                <a:lnTo>
                  <a:pt x="64" y="2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atinLnBrk="0"/>
            <a:endParaRPr lang="ko-KR" altLang="en-US" sz="1800">
              <a:solidFill>
                <a:prstClr val="black"/>
              </a:solidFill>
            </a:endParaRPr>
          </a:p>
        </p:txBody>
      </p:sp>
      <p:sp>
        <p:nvSpPr>
          <p:cNvPr id="14" name="Freeform 57"/>
          <p:cNvSpPr>
            <a:spLocks/>
          </p:cNvSpPr>
          <p:nvPr userDrawn="1"/>
        </p:nvSpPr>
        <p:spPr bwMode="auto">
          <a:xfrm>
            <a:off x="11751502" y="930809"/>
            <a:ext cx="139700" cy="104775"/>
          </a:xfrm>
          <a:custGeom>
            <a:avLst/>
            <a:gdLst>
              <a:gd name="T0" fmla="*/ 66 w 66"/>
              <a:gd name="T1" fmla="*/ 26 h 66"/>
              <a:gd name="T2" fmla="*/ 66 w 66"/>
              <a:gd name="T3" fmla="*/ 40 h 66"/>
              <a:gd name="T4" fmla="*/ 40 w 66"/>
              <a:gd name="T5" fmla="*/ 40 h 66"/>
              <a:gd name="T6" fmla="*/ 40 w 66"/>
              <a:gd name="T7" fmla="*/ 66 h 66"/>
              <a:gd name="T8" fmla="*/ 26 w 66"/>
              <a:gd name="T9" fmla="*/ 66 h 66"/>
              <a:gd name="T10" fmla="*/ 26 w 66"/>
              <a:gd name="T11" fmla="*/ 40 h 66"/>
              <a:gd name="T12" fmla="*/ 0 w 66"/>
              <a:gd name="T13" fmla="*/ 40 h 66"/>
              <a:gd name="T14" fmla="*/ 0 w 66"/>
              <a:gd name="T15" fmla="*/ 26 h 66"/>
              <a:gd name="T16" fmla="*/ 26 w 66"/>
              <a:gd name="T17" fmla="*/ 26 h 66"/>
              <a:gd name="T18" fmla="*/ 26 w 66"/>
              <a:gd name="T19" fmla="*/ 0 h 66"/>
              <a:gd name="T20" fmla="*/ 40 w 66"/>
              <a:gd name="T21" fmla="*/ 0 h 66"/>
              <a:gd name="T22" fmla="*/ 40 w 66"/>
              <a:gd name="T23" fmla="*/ 26 h 66"/>
              <a:gd name="T24" fmla="*/ 66 w 66"/>
              <a:gd name="T25" fmla="*/ 26 h 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66" h="66">
                <a:moveTo>
                  <a:pt x="66" y="26"/>
                </a:moveTo>
                <a:lnTo>
                  <a:pt x="66" y="40"/>
                </a:lnTo>
                <a:lnTo>
                  <a:pt x="40" y="40"/>
                </a:lnTo>
                <a:lnTo>
                  <a:pt x="40" y="66"/>
                </a:lnTo>
                <a:lnTo>
                  <a:pt x="26" y="66"/>
                </a:lnTo>
                <a:lnTo>
                  <a:pt x="26" y="40"/>
                </a:lnTo>
                <a:lnTo>
                  <a:pt x="0" y="40"/>
                </a:lnTo>
                <a:lnTo>
                  <a:pt x="0" y="26"/>
                </a:lnTo>
                <a:lnTo>
                  <a:pt x="26" y="26"/>
                </a:lnTo>
                <a:lnTo>
                  <a:pt x="26" y="0"/>
                </a:lnTo>
                <a:lnTo>
                  <a:pt x="40" y="0"/>
                </a:lnTo>
                <a:lnTo>
                  <a:pt x="40" y="26"/>
                </a:lnTo>
                <a:lnTo>
                  <a:pt x="66" y="2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atinLnBrk="0"/>
            <a:endParaRPr lang="ko-KR" altLang="en-US" sz="1800">
              <a:solidFill>
                <a:prstClr val="black"/>
              </a:solidFill>
            </a:endParaRPr>
          </a:p>
        </p:txBody>
      </p:sp>
      <p:sp>
        <p:nvSpPr>
          <p:cNvPr id="15" name="Freeform 58"/>
          <p:cNvSpPr>
            <a:spLocks/>
          </p:cNvSpPr>
          <p:nvPr userDrawn="1"/>
        </p:nvSpPr>
        <p:spPr bwMode="auto">
          <a:xfrm>
            <a:off x="10315717" y="232635"/>
            <a:ext cx="135467" cy="101600"/>
          </a:xfrm>
          <a:custGeom>
            <a:avLst/>
            <a:gdLst>
              <a:gd name="T0" fmla="*/ 64 w 64"/>
              <a:gd name="T1" fmla="*/ 26 h 64"/>
              <a:gd name="T2" fmla="*/ 64 w 64"/>
              <a:gd name="T3" fmla="*/ 38 h 64"/>
              <a:gd name="T4" fmla="*/ 38 w 64"/>
              <a:gd name="T5" fmla="*/ 38 h 64"/>
              <a:gd name="T6" fmla="*/ 38 w 64"/>
              <a:gd name="T7" fmla="*/ 64 h 64"/>
              <a:gd name="T8" fmla="*/ 26 w 64"/>
              <a:gd name="T9" fmla="*/ 64 h 64"/>
              <a:gd name="T10" fmla="*/ 26 w 64"/>
              <a:gd name="T11" fmla="*/ 38 h 64"/>
              <a:gd name="T12" fmla="*/ 0 w 64"/>
              <a:gd name="T13" fmla="*/ 38 h 64"/>
              <a:gd name="T14" fmla="*/ 0 w 64"/>
              <a:gd name="T15" fmla="*/ 26 h 64"/>
              <a:gd name="T16" fmla="*/ 26 w 64"/>
              <a:gd name="T17" fmla="*/ 26 h 64"/>
              <a:gd name="T18" fmla="*/ 26 w 64"/>
              <a:gd name="T19" fmla="*/ 0 h 64"/>
              <a:gd name="T20" fmla="*/ 38 w 64"/>
              <a:gd name="T21" fmla="*/ 0 h 64"/>
              <a:gd name="T22" fmla="*/ 38 w 64"/>
              <a:gd name="T23" fmla="*/ 26 h 64"/>
              <a:gd name="T24" fmla="*/ 64 w 64"/>
              <a:gd name="T25" fmla="*/ 26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64" h="64">
                <a:moveTo>
                  <a:pt x="64" y="26"/>
                </a:moveTo>
                <a:lnTo>
                  <a:pt x="64" y="38"/>
                </a:lnTo>
                <a:lnTo>
                  <a:pt x="38" y="38"/>
                </a:lnTo>
                <a:lnTo>
                  <a:pt x="38" y="64"/>
                </a:lnTo>
                <a:lnTo>
                  <a:pt x="26" y="64"/>
                </a:lnTo>
                <a:lnTo>
                  <a:pt x="26" y="38"/>
                </a:lnTo>
                <a:lnTo>
                  <a:pt x="0" y="38"/>
                </a:lnTo>
                <a:lnTo>
                  <a:pt x="0" y="26"/>
                </a:lnTo>
                <a:lnTo>
                  <a:pt x="26" y="26"/>
                </a:lnTo>
                <a:lnTo>
                  <a:pt x="26" y="0"/>
                </a:lnTo>
                <a:lnTo>
                  <a:pt x="38" y="0"/>
                </a:lnTo>
                <a:lnTo>
                  <a:pt x="38" y="26"/>
                </a:lnTo>
                <a:lnTo>
                  <a:pt x="64" y="2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atinLnBrk="0"/>
            <a:endParaRPr lang="ko-KR" altLang="en-US" sz="1800">
              <a:solidFill>
                <a:prstClr val="black"/>
              </a:solidFill>
            </a:endParaRPr>
          </a:p>
        </p:txBody>
      </p:sp>
      <p:sp>
        <p:nvSpPr>
          <p:cNvPr id="16" name="Freeform 59"/>
          <p:cNvSpPr>
            <a:spLocks/>
          </p:cNvSpPr>
          <p:nvPr userDrawn="1"/>
        </p:nvSpPr>
        <p:spPr bwMode="auto">
          <a:xfrm>
            <a:off x="11478165" y="251747"/>
            <a:ext cx="135467" cy="101600"/>
          </a:xfrm>
          <a:custGeom>
            <a:avLst/>
            <a:gdLst>
              <a:gd name="T0" fmla="*/ 64 w 64"/>
              <a:gd name="T1" fmla="*/ 26 h 64"/>
              <a:gd name="T2" fmla="*/ 64 w 64"/>
              <a:gd name="T3" fmla="*/ 38 h 64"/>
              <a:gd name="T4" fmla="*/ 38 w 64"/>
              <a:gd name="T5" fmla="*/ 38 h 64"/>
              <a:gd name="T6" fmla="*/ 38 w 64"/>
              <a:gd name="T7" fmla="*/ 64 h 64"/>
              <a:gd name="T8" fmla="*/ 26 w 64"/>
              <a:gd name="T9" fmla="*/ 64 h 64"/>
              <a:gd name="T10" fmla="*/ 26 w 64"/>
              <a:gd name="T11" fmla="*/ 38 h 64"/>
              <a:gd name="T12" fmla="*/ 0 w 64"/>
              <a:gd name="T13" fmla="*/ 38 h 64"/>
              <a:gd name="T14" fmla="*/ 0 w 64"/>
              <a:gd name="T15" fmla="*/ 26 h 64"/>
              <a:gd name="T16" fmla="*/ 26 w 64"/>
              <a:gd name="T17" fmla="*/ 26 h 64"/>
              <a:gd name="T18" fmla="*/ 26 w 64"/>
              <a:gd name="T19" fmla="*/ 0 h 64"/>
              <a:gd name="T20" fmla="*/ 38 w 64"/>
              <a:gd name="T21" fmla="*/ 0 h 64"/>
              <a:gd name="T22" fmla="*/ 38 w 64"/>
              <a:gd name="T23" fmla="*/ 26 h 64"/>
              <a:gd name="T24" fmla="*/ 64 w 64"/>
              <a:gd name="T25" fmla="*/ 26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64" h="64">
                <a:moveTo>
                  <a:pt x="64" y="26"/>
                </a:moveTo>
                <a:lnTo>
                  <a:pt x="64" y="38"/>
                </a:lnTo>
                <a:lnTo>
                  <a:pt x="38" y="38"/>
                </a:lnTo>
                <a:lnTo>
                  <a:pt x="38" y="64"/>
                </a:lnTo>
                <a:lnTo>
                  <a:pt x="26" y="64"/>
                </a:lnTo>
                <a:lnTo>
                  <a:pt x="26" y="38"/>
                </a:lnTo>
                <a:lnTo>
                  <a:pt x="0" y="38"/>
                </a:lnTo>
                <a:lnTo>
                  <a:pt x="0" y="26"/>
                </a:lnTo>
                <a:lnTo>
                  <a:pt x="26" y="26"/>
                </a:lnTo>
                <a:lnTo>
                  <a:pt x="26" y="0"/>
                </a:lnTo>
                <a:lnTo>
                  <a:pt x="38" y="0"/>
                </a:lnTo>
                <a:lnTo>
                  <a:pt x="38" y="26"/>
                </a:lnTo>
                <a:lnTo>
                  <a:pt x="64" y="2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atinLnBrk="0"/>
            <a:endParaRPr lang="ko-KR" altLang="en-US" sz="1800">
              <a:solidFill>
                <a:prstClr val="black"/>
              </a:solidFill>
            </a:endParaRPr>
          </a:p>
        </p:txBody>
      </p:sp>
      <p:sp>
        <p:nvSpPr>
          <p:cNvPr id="17" name="텍스트 개체 틀 16"/>
          <p:cNvSpPr>
            <a:spLocks noGrp="1"/>
          </p:cNvSpPr>
          <p:nvPr>
            <p:ph type="body" sz="quarter" idx="15" hasCustomPrompt="1"/>
          </p:nvPr>
        </p:nvSpPr>
        <p:spPr>
          <a:xfrm>
            <a:off x="10162911" y="483789"/>
            <a:ext cx="1651000" cy="430612"/>
          </a:xfrm>
        </p:spPr>
        <p:txBody>
          <a:bodyPr lIns="0" tIns="0" rIns="0" bIns="0" anchor="ctr">
            <a:noAutofit/>
          </a:bodyPr>
          <a:lstStyle>
            <a:lvl1pPr algn="ctr">
              <a:lnSpc>
                <a:spcPct val="110000"/>
              </a:lnSpc>
              <a:spcBef>
                <a:spcPts val="0"/>
              </a:spcBef>
              <a:defRPr sz="800" i="1" baseline="0"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lvl="0"/>
            <a:r>
              <a:rPr lang="en-US" altLang="ko-KR"/>
              <a:t>Plase Insert </a:t>
            </a:r>
          </a:p>
          <a:p>
            <a:pPr lvl="0"/>
            <a:r>
              <a:rPr lang="en-US" altLang="ko-KR"/>
              <a:t>Your Key Message </a:t>
            </a:r>
          </a:p>
          <a:p>
            <a:pPr lvl="0"/>
            <a:r>
              <a:rPr lang="en-US" altLang="ko-KR"/>
              <a:t>Here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0566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1996" userDrawn="1">
          <p15:clr>
            <a:srgbClr val="FBAE40"/>
          </p15:clr>
        </p15:guide>
        <p15:guide id="2" pos="2237" userDrawn="1">
          <p15:clr>
            <a:srgbClr val="FBAE40"/>
          </p15:clr>
        </p15:guide>
        <p15:guide id="3" pos="3719" userDrawn="1">
          <p15:clr>
            <a:srgbClr val="FBAE40"/>
          </p15:clr>
        </p15:guide>
        <p15:guide id="4" pos="3961" userDrawn="1">
          <p15:clr>
            <a:srgbClr val="FBAE40"/>
          </p15:clr>
        </p15:guide>
        <p15:guide id="5" pos="5443" userDrawn="1">
          <p15:clr>
            <a:srgbClr val="FBAE40"/>
          </p15:clr>
        </p15:guide>
        <p15:guide id="6" pos="5684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3057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75CEF-2548-401B-8666-9C706EE7F5A6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12FBA-A9DD-4B41-A9DA-1F4EB95B9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765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75CEF-2548-401B-8666-9C706EE7F5A6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12FBA-A9DD-4B41-A9DA-1F4EB95B9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7407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75CEF-2548-401B-8666-9C706EE7F5A6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12FBA-A9DD-4B41-A9DA-1F4EB95B9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4906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75CEF-2548-401B-8666-9C706EE7F5A6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12FBA-A9DD-4B41-A9DA-1F4EB95B9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826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75CEF-2548-401B-8666-9C706EE7F5A6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12FBA-A9DD-4B41-A9DA-1F4EB95B9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8144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75CEF-2548-401B-8666-9C706EE7F5A6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12FBA-A9DD-4B41-A9DA-1F4EB95B9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787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75CEF-2548-401B-8666-9C706EE7F5A6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12FBA-A9DD-4B41-A9DA-1F4EB95B9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9475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75CEF-2548-401B-8666-9C706EE7F5A6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12FBA-A9DD-4B41-A9DA-1F4EB95B9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0833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75CEF-2548-401B-8666-9C706EE7F5A6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12FBA-A9DD-4B41-A9DA-1F4EB95B9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756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75CEF-2548-401B-8666-9C706EE7F5A6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12FBA-A9DD-4B41-A9DA-1F4EB95B9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3284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75CEF-2548-401B-8666-9C706EE7F5A6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12FBA-A9DD-4B41-A9DA-1F4EB95B9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7064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ull Pa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</p:spPr>
        <p:txBody>
          <a:bodyPr vert="horz" lIns="38405" tIns="19202" rIns="38405" bIns="19202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842891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814918" y="178063"/>
            <a:ext cx="10562167" cy="59368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dirty="0"/>
              <a:t>Insert Title Here</a:t>
            </a:r>
          </a:p>
        </p:txBody>
      </p:sp>
      <p:sp>
        <p:nvSpPr>
          <p:cNvPr id="3" name="Text Placeholder 2"/>
          <p:cNvSpPr>
            <a:spLocks noGrp="1"/>
          </p:cNvSpPr>
          <p:nvPr userDrawn="1"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 userDrawn="1"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atinLnBrk="0"/>
            <a:fld id="{AEDC534B-5F7E-4CF7-8EDB-478AC5BDFBC6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 latinLnBrk="0"/>
              <a:t>7/6/2026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 userDrawn="1">
            <p:ph type="ftr" sz="quarter" idx="3"/>
          </p:nvPr>
        </p:nvSpPr>
        <p:spPr>
          <a:xfrm>
            <a:off x="7360355" y="6366933"/>
            <a:ext cx="3736623" cy="49106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>
                <a:solidFill>
                  <a:schemeClr val="tx1">
                    <a:tint val="75000"/>
                    <a:alpha val="50000"/>
                  </a:schemeClr>
                </a:solidFill>
              </a:defRPr>
            </a:lvl1pPr>
          </a:lstStyle>
          <a:p>
            <a:pPr latinLnBrk="0"/>
            <a:r>
              <a:rPr lang="en-US">
                <a:solidFill>
                  <a:prstClr val="black">
                    <a:tint val="75000"/>
                    <a:alpha val="50000"/>
                  </a:prstClr>
                </a:solidFill>
              </a:rPr>
              <a:t>Converting your business from Good to Great.</a:t>
            </a:r>
          </a:p>
        </p:txBody>
      </p:sp>
      <p:sp>
        <p:nvSpPr>
          <p:cNvPr id="6" name="Slide Number Placeholder 5"/>
          <p:cNvSpPr>
            <a:spLocks noGrp="1"/>
          </p:cNvSpPr>
          <p:nvPr userDrawn="1">
            <p:ph type="sldNum" sz="quarter" idx="4"/>
          </p:nvPr>
        </p:nvSpPr>
        <p:spPr>
          <a:xfrm>
            <a:off x="10995378" y="6366933"/>
            <a:ext cx="572911" cy="49106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900" b="0">
                <a:solidFill>
                  <a:schemeClr val="bg1"/>
                </a:solidFill>
              </a:defRPr>
            </a:lvl1pPr>
          </a:lstStyle>
          <a:p>
            <a:pPr latinLnBrk="0"/>
            <a:fld id="{8409FBBB-C588-4B8D-A7FF-E25C81CC24C8}" type="slidenum">
              <a:rPr lang="en-US" smtClean="0">
                <a:solidFill>
                  <a:srgbClr val="304F6F"/>
                </a:solidFill>
              </a:rPr>
              <a:pPr latinLnBrk="0"/>
              <a:t>‹#›</a:t>
            </a:fld>
            <a:endParaRPr lang="en-US" dirty="0">
              <a:solidFill>
                <a:srgbClr val="304F6F"/>
              </a:solidFill>
            </a:endParaRPr>
          </a:p>
        </p:txBody>
      </p:sp>
      <p:grpSp>
        <p:nvGrpSpPr>
          <p:cNvPr id="7" name="그룹 6"/>
          <p:cNvGrpSpPr/>
          <p:nvPr userDrawn="1"/>
        </p:nvGrpSpPr>
        <p:grpSpPr>
          <a:xfrm>
            <a:off x="2117" y="733426"/>
            <a:ext cx="12192000" cy="873125"/>
            <a:chOff x="1588" y="733425"/>
            <a:chExt cx="9144000" cy="873125"/>
          </a:xfrm>
        </p:grpSpPr>
        <p:sp>
          <p:nvSpPr>
            <p:cNvPr id="28" name="Freeform 60"/>
            <p:cNvSpPr>
              <a:spLocks/>
            </p:cNvSpPr>
            <p:nvPr userDrawn="1"/>
          </p:nvSpPr>
          <p:spPr bwMode="auto">
            <a:xfrm>
              <a:off x="1588" y="733425"/>
              <a:ext cx="965200" cy="501650"/>
            </a:xfrm>
            <a:custGeom>
              <a:avLst/>
              <a:gdLst>
                <a:gd name="T0" fmla="*/ 0 w 304"/>
                <a:gd name="T1" fmla="*/ 37 h 158"/>
                <a:gd name="T2" fmla="*/ 304 w 304"/>
                <a:gd name="T3" fmla="*/ 153 h 158"/>
                <a:gd name="T4" fmla="*/ 0 w 304"/>
                <a:gd name="T5" fmla="*/ 0 h 158"/>
                <a:gd name="T6" fmla="*/ 0 w 304"/>
                <a:gd name="T7" fmla="*/ 37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4" h="158">
                  <a:moveTo>
                    <a:pt x="0" y="37"/>
                  </a:moveTo>
                  <a:cubicBezTo>
                    <a:pt x="94" y="127"/>
                    <a:pt x="197" y="156"/>
                    <a:pt x="304" y="153"/>
                  </a:cubicBezTo>
                  <a:cubicBezTo>
                    <a:pt x="304" y="153"/>
                    <a:pt x="139" y="158"/>
                    <a:pt x="0" y="0"/>
                  </a:cubicBezTo>
                  <a:lnTo>
                    <a:pt x="0" y="37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atinLnBrk="0"/>
              <a:endParaRPr lang="ko-KR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29" name="Freeform 61"/>
            <p:cNvSpPr>
              <a:spLocks/>
            </p:cNvSpPr>
            <p:nvPr userDrawn="1"/>
          </p:nvSpPr>
          <p:spPr bwMode="auto">
            <a:xfrm>
              <a:off x="8707438" y="1260475"/>
              <a:ext cx="434975" cy="187325"/>
            </a:xfrm>
            <a:custGeom>
              <a:avLst/>
              <a:gdLst>
                <a:gd name="T0" fmla="*/ 137 w 137"/>
                <a:gd name="T1" fmla="*/ 59 h 59"/>
                <a:gd name="T2" fmla="*/ 0 w 137"/>
                <a:gd name="T3" fmla="*/ 0 h 59"/>
                <a:gd name="T4" fmla="*/ 137 w 137"/>
                <a:gd name="T5" fmla="*/ 38 h 59"/>
                <a:gd name="T6" fmla="*/ 137 w 137"/>
                <a:gd name="T7" fmla="*/ 59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7" h="59">
                  <a:moveTo>
                    <a:pt x="137" y="59"/>
                  </a:moveTo>
                  <a:cubicBezTo>
                    <a:pt x="137" y="59"/>
                    <a:pt x="79" y="13"/>
                    <a:pt x="0" y="0"/>
                  </a:cubicBezTo>
                  <a:cubicBezTo>
                    <a:pt x="0" y="0"/>
                    <a:pt x="72" y="6"/>
                    <a:pt x="137" y="38"/>
                  </a:cubicBezTo>
                  <a:lnTo>
                    <a:pt x="137" y="59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atinLnBrk="0"/>
              <a:endParaRPr lang="ko-KR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30" name="Freeform 62"/>
            <p:cNvSpPr>
              <a:spLocks/>
            </p:cNvSpPr>
            <p:nvPr userDrawn="1"/>
          </p:nvSpPr>
          <p:spPr bwMode="auto">
            <a:xfrm>
              <a:off x="1588" y="977900"/>
              <a:ext cx="9144000" cy="628650"/>
            </a:xfrm>
            <a:custGeom>
              <a:avLst/>
              <a:gdLst>
                <a:gd name="T0" fmla="*/ 2881 w 2881"/>
                <a:gd name="T1" fmla="*/ 163 h 198"/>
                <a:gd name="T2" fmla="*/ 2638 w 2881"/>
                <a:gd name="T3" fmla="*/ 87 h 198"/>
                <a:gd name="T4" fmla="*/ 261 w 2881"/>
                <a:gd name="T5" fmla="*/ 87 h 198"/>
                <a:gd name="T6" fmla="*/ 0 w 2881"/>
                <a:gd name="T7" fmla="*/ 0 h 198"/>
                <a:gd name="T8" fmla="*/ 0 w 2881"/>
                <a:gd name="T9" fmla="*/ 70 h 198"/>
                <a:gd name="T10" fmla="*/ 282 w 2881"/>
                <a:gd name="T11" fmla="*/ 91 h 198"/>
                <a:gd name="T12" fmla="*/ 2638 w 2881"/>
                <a:gd name="T13" fmla="*/ 91 h 198"/>
                <a:gd name="T14" fmla="*/ 2677 w 2881"/>
                <a:gd name="T15" fmla="*/ 93 h 198"/>
                <a:gd name="T16" fmla="*/ 2880 w 2881"/>
                <a:gd name="T17" fmla="*/ 198 h 198"/>
                <a:gd name="T18" fmla="*/ 2880 w 2881"/>
                <a:gd name="T19" fmla="*/ 164 h 198"/>
                <a:gd name="T20" fmla="*/ 2880 w 2881"/>
                <a:gd name="T21" fmla="*/ 164 h 198"/>
                <a:gd name="T22" fmla="*/ 2881 w 2881"/>
                <a:gd name="T23" fmla="*/ 163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881" h="198">
                  <a:moveTo>
                    <a:pt x="2881" y="163"/>
                  </a:moveTo>
                  <a:cubicBezTo>
                    <a:pt x="2800" y="88"/>
                    <a:pt x="2639" y="87"/>
                    <a:pt x="2638" y="87"/>
                  </a:cubicBezTo>
                  <a:cubicBezTo>
                    <a:pt x="261" y="87"/>
                    <a:pt x="261" y="87"/>
                    <a:pt x="261" y="87"/>
                  </a:cubicBezTo>
                  <a:cubicBezTo>
                    <a:pt x="169" y="80"/>
                    <a:pt x="81" y="55"/>
                    <a:pt x="0" y="0"/>
                  </a:cubicBezTo>
                  <a:cubicBezTo>
                    <a:pt x="0" y="70"/>
                    <a:pt x="0" y="70"/>
                    <a:pt x="0" y="70"/>
                  </a:cubicBezTo>
                  <a:cubicBezTo>
                    <a:pt x="110" y="92"/>
                    <a:pt x="181" y="95"/>
                    <a:pt x="282" y="91"/>
                  </a:cubicBezTo>
                  <a:cubicBezTo>
                    <a:pt x="2638" y="91"/>
                    <a:pt x="2638" y="91"/>
                    <a:pt x="2638" y="91"/>
                  </a:cubicBezTo>
                  <a:cubicBezTo>
                    <a:pt x="2638" y="91"/>
                    <a:pt x="2653" y="91"/>
                    <a:pt x="2677" y="93"/>
                  </a:cubicBezTo>
                  <a:cubicBezTo>
                    <a:pt x="2725" y="102"/>
                    <a:pt x="2808" y="126"/>
                    <a:pt x="2880" y="198"/>
                  </a:cubicBezTo>
                  <a:cubicBezTo>
                    <a:pt x="2880" y="164"/>
                    <a:pt x="2880" y="164"/>
                    <a:pt x="2880" y="164"/>
                  </a:cubicBezTo>
                  <a:cubicBezTo>
                    <a:pt x="2880" y="164"/>
                    <a:pt x="2880" y="164"/>
                    <a:pt x="2880" y="164"/>
                  </a:cubicBezTo>
                  <a:lnTo>
                    <a:pt x="2881" y="16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atinLnBrk="0"/>
              <a:endParaRPr lang="ko-KR" altLang="en-US" sz="18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75172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hf hdr="0" dt="0"/>
  <p:txStyles>
    <p:titleStyle>
      <a:lvl1pPr algn="l" defTabSz="914400" rtl="0" eaLnBrk="1" latinLnBrk="0" hangingPunct="1">
        <a:lnSpc>
          <a:spcPts val="4200"/>
        </a:lnSpc>
        <a:spcBef>
          <a:spcPct val="0"/>
        </a:spcBef>
        <a:buNone/>
        <a:defRPr sz="32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167" userDrawn="1">
          <p15:clr>
            <a:srgbClr val="F26B43"/>
          </p15:clr>
        </p15:guide>
        <p15:guide id="2" pos="513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E75CEF-2548-401B-8666-9C706EE7F5A6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212FBA-A9DD-4B41-A9DA-1F4EB95B9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22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4.png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4.png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4.png"/><Relationship Id="rId4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4.png"/><Relationship Id="rId4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4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" t="-1" r="-7" b="25001"/>
          <a:stretch/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-55416" y="0"/>
            <a:ext cx="12242800" cy="6857999"/>
          </a:xfrm>
          <a:prstGeom prst="rect">
            <a:avLst/>
          </a:prstGeom>
          <a:solidFill>
            <a:schemeClr val="accent5">
              <a:lumMod val="50000"/>
              <a:alpha val="8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-55416" y="4443826"/>
            <a:ext cx="12242800" cy="1905592"/>
          </a:xfrm>
          <a:prstGeom prst="rect">
            <a:avLst/>
          </a:prstGeom>
          <a:solidFill>
            <a:schemeClr val="accent1">
              <a:alpha val="6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/>
          <p:cNvSpPr/>
          <p:nvPr/>
        </p:nvSpPr>
        <p:spPr>
          <a:xfrm>
            <a:off x="-46179" y="6312325"/>
            <a:ext cx="12242800" cy="54985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Shape 38"/>
          <p:cNvSpPr/>
          <p:nvPr/>
        </p:nvSpPr>
        <p:spPr>
          <a:xfrm>
            <a:off x="10147046" y="6437538"/>
            <a:ext cx="1942455" cy="350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21336" tIns="21336" rIns="21336" bIns="21336" anchor="ctr">
            <a:spAutoFit/>
          </a:bodyPr>
          <a:lstStyle>
            <a:lvl1pPr>
              <a:defRPr sz="10000">
                <a:solidFill>
                  <a:srgbClr val="00BD96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en-ID" sz="2000" b="1" dirty="0">
                <a:solidFill>
                  <a:srgbClr val="00B0F0"/>
                </a:solidFill>
                <a:latin typeface="+mj-lt"/>
              </a:rPr>
              <a:t>www.dtp-eng.com</a:t>
            </a:r>
            <a:endParaRPr sz="2000" b="1" dirty="0">
              <a:solidFill>
                <a:srgbClr val="00B0F0"/>
              </a:solidFill>
              <a:latin typeface="+mj-lt"/>
            </a:endParaRPr>
          </a:p>
        </p:txBody>
      </p:sp>
      <p:sp>
        <p:nvSpPr>
          <p:cNvPr id="4" name="Shape 38">
            <a:extLst>
              <a:ext uri="{FF2B5EF4-FFF2-40B4-BE49-F238E27FC236}">
                <a16:creationId xmlns:a16="http://schemas.microsoft.com/office/drawing/2014/main" id="{D83BF9C4-407D-EE39-CB03-7A044FFF12E5}"/>
              </a:ext>
            </a:extLst>
          </p:cNvPr>
          <p:cNvSpPr/>
          <p:nvPr/>
        </p:nvSpPr>
        <p:spPr>
          <a:xfrm>
            <a:off x="2483240" y="909749"/>
            <a:ext cx="9317696" cy="3397853"/>
          </a:xfrm>
          <a:prstGeom prst="rect">
            <a:avLst/>
          </a:prstGeom>
          <a:ln w="12700">
            <a:miter lim="400000"/>
          </a:ln>
        </p:spPr>
        <p:txBody>
          <a:bodyPr wrap="square" lIns="21336" tIns="21336" rIns="21336" bIns="21336" anchor="ctr">
            <a:spAutoFit/>
          </a:bodyPr>
          <a:lstStyle>
            <a:lvl1pPr>
              <a:defRPr sz="10000">
                <a:solidFill>
                  <a:srgbClr val="00BD96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 sz="1800">
                <a:solidFill>
                  <a:srgbClr val="000000"/>
                </a:solidFill>
              </a:defRPr>
            </a:pPr>
            <a:r>
              <a:rPr lang="en-US" sz="3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Structural Integrity Management System (SIMS) – Phase 1: Initiation</a:t>
            </a:r>
            <a:endParaRPr lang="en-ID" sz="3000" b="1" dirty="0">
              <a:solidFill>
                <a:schemeClr val="accent1">
                  <a:lumMod val="60000"/>
                  <a:lumOff val="40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 sz="1800">
                <a:solidFill>
                  <a:srgbClr val="000000"/>
                </a:solidFill>
              </a:defRPr>
            </a:pPr>
            <a:endParaRPr lang="en-US" sz="2000" dirty="0">
              <a:solidFill>
                <a:schemeClr val="accent1">
                  <a:lumMod val="60000"/>
                  <a:lumOff val="40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 sz="1800">
                <a:solidFill>
                  <a:srgbClr val="000000"/>
                </a:solidFill>
              </a:defRPr>
            </a:pP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SIMS Dashboard Development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 sz="1800">
                <a:solidFill>
                  <a:srgbClr val="000000"/>
                </a:solidFill>
              </a:defRPr>
            </a:pPr>
            <a:endParaRPr lang="en-US" sz="2000" dirty="0">
              <a:solidFill>
                <a:schemeClr val="accent1">
                  <a:lumMod val="60000"/>
                  <a:lumOff val="40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 sz="1800">
                <a:solidFill>
                  <a:srgbClr val="000000"/>
                </a:solidFill>
              </a:defRPr>
            </a:pPr>
            <a:r>
              <a:rPr lang="en-US" sz="20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Badak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LNG Plant Site, </a:t>
            </a:r>
            <a:r>
              <a:rPr lang="en-US" sz="20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Bontang</a:t>
            </a:r>
            <a:endParaRPr lang="en-US" sz="2000" dirty="0">
              <a:solidFill>
                <a:schemeClr val="accent1">
                  <a:lumMod val="60000"/>
                  <a:lumOff val="40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 sz="1800">
                <a:solidFill>
                  <a:srgbClr val="000000"/>
                </a:solidFill>
              </a:defRPr>
            </a:pP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PT. </a:t>
            </a:r>
            <a:r>
              <a:rPr lang="en-US" sz="20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Badak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NGL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 sz="1800">
                <a:solidFill>
                  <a:srgbClr val="000000"/>
                </a:solidFill>
              </a:defRPr>
            </a:pPr>
            <a:endParaRPr lang="en-US" sz="2000" dirty="0">
              <a:solidFill>
                <a:schemeClr val="accent1">
                  <a:lumMod val="60000"/>
                  <a:lumOff val="40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 sz="1800">
                <a:solidFill>
                  <a:srgbClr val="000000"/>
                </a:solidFill>
              </a:defRPr>
            </a:pPr>
            <a:endParaRPr lang="en-US" sz="2000" dirty="0">
              <a:solidFill>
                <a:schemeClr val="accent1">
                  <a:lumMod val="60000"/>
                  <a:lumOff val="40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 sz="1800">
                <a:solidFill>
                  <a:srgbClr val="000000"/>
                </a:solidFill>
              </a:defRPr>
            </a:pPr>
            <a:r>
              <a:rPr lang="en-US" sz="900" dirty="0">
                <a:solidFill>
                  <a:schemeClr val="accent1">
                    <a:lumMod val="60000"/>
                    <a:lumOff val="4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Prepared by : WHC</a:t>
            </a:r>
          </a:p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 sz="1800">
                <a:solidFill>
                  <a:srgbClr val="000000"/>
                </a:solidFill>
              </a:defRPr>
            </a:pPr>
            <a:r>
              <a:rPr lang="en-US" sz="900" dirty="0">
                <a:solidFill>
                  <a:schemeClr val="accent1">
                    <a:lumMod val="60000"/>
                    <a:lumOff val="4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Rev B / 20260706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98F2077-97DF-F9AC-44FB-984CD0B678EF}"/>
              </a:ext>
            </a:extLst>
          </p:cNvPr>
          <p:cNvGrpSpPr/>
          <p:nvPr/>
        </p:nvGrpSpPr>
        <p:grpSpPr>
          <a:xfrm>
            <a:off x="2483240" y="4510970"/>
            <a:ext cx="9606261" cy="1686134"/>
            <a:chOff x="2483240" y="4510970"/>
            <a:chExt cx="9606261" cy="1686134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A05A3E9A-D53B-DA99-55F0-DD7CC079A03F}"/>
                </a:ext>
              </a:extLst>
            </p:cNvPr>
            <p:cNvGrpSpPr/>
            <p:nvPr/>
          </p:nvGrpSpPr>
          <p:grpSpPr>
            <a:xfrm>
              <a:off x="2483240" y="5214434"/>
              <a:ext cx="8708923" cy="982670"/>
              <a:chOff x="1648735" y="5214434"/>
              <a:chExt cx="8708923" cy="982670"/>
            </a:xfrm>
          </p:grpSpPr>
          <p:sp>
            <p:nvSpPr>
              <p:cNvPr id="29" name="Shape 38"/>
              <p:cNvSpPr/>
              <p:nvPr/>
            </p:nvSpPr>
            <p:spPr>
              <a:xfrm>
                <a:off x="1648735" y="5214434"/>
                <a:ext cx="8708923" cy="597087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21336" tIns="21336" rIns="21336" bIns="21336" anchor="ctr">
                <a:spAutoFit/>
              </a:bodyPr>
              <a:lstStyle>
                <a:lvl1pPr>
                  <a:defRPr sz="10000">
                    <a:solidFill>
                      <a:srgbClr val="00BD96"/>
                    </a:solidFill>
                    <a:latin typeface="Lato Black"/>
                    <a:ea typeface="Lato Black"/>
                    <a:cs typeface="Lato Black"/>
                    <a:sym typeface="Lato Black"/>
                  </a:defRPr>
                </a:lvl1pPr>
              </a:lstStyle>
              <a:p>
                <a:pPr lvl="0">
                  <a:defRPr sz="1800">
                    <a:solidFill>
                      <a:srgbClr val="000000"/>
                    </a:solidFill>
                  </a:defRPr>
                </a:pPr>
                <a:r>
                  <a:rPr lang="en-ID" sz="3600" b="1" dirty="0">
                    <a:solidFill>
                      <a:schemeClr val="accent4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PT. DINAMIKA TEKNIK PERSADA </a:t>
                </a:r>
                <a:endParaRPr sz="3600" b="1" dirty="0">
                  <a:solidFill>
                    <a:schemeClr val="accent4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  <p:sp>
            <p:nvSpPr>
              <p:cNvPr id="30" name="Shape 38"/>
              <p:cNvSpPr/>
              <p:nvPr/>
            </p:nvSpPr>
            <p:spPr>
              <a:xfrm>
                <a:off x="6649483" y="5723128"/>
                <a:ext cx="3522439" cy="473976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21336" tIns="21336" rIns="21336" bIns="21336" anchor="ctr">
                <a:spAutoFit/>
              </a:bodyPr>
              <a:lstStyle>
                <a:lvl1pPr>
                  <a:defRPr sz="10000">
                    <a:solidFill>
                      <a:srgbClr val="00BD96"/>
                    </a:solidFill>
                    <a:latin typeface="Lato Black"/>
                    <a:ea typeface="Lato Black"/>
                    <a:cs typeface="Lato Black"/>
                    <a:sym typeface="Lato Black"/>
                  </a:defRPr>
                </a:lvl1pPr>
              </a:lstStyle>
              <a:p>
                <a:pPr lvl="0">
                  <a:defRPr sz="1800">
                    <a:solidFill>
                      <a:srgbClr val="000000"/>
                    </a:solidFill>
                  </a:defRPr>
                </a:pPr>
                <a:r>
                  <a:rPr lang="en-ID" sz="2800" b="1" dirty="0">
                    <a:solidFill>
                      <a:schemeClr val="bg1"/>
                    </a:solidFill>
                    <a:latin typeface="+mj-lt"/>
                  </a:rPr>
                  <a:t>Engineering Consultants</a:t>
                </a:r>
                <a:endParaRPr sz="2800" b="1" dirty="0">
                  <a:solidFill>
                    <a:schemeClr val="bg1"/>
                  </a:solidFill>
                  <a:latin typeface="+mj-lt"/>
                </a:endParaRPr>
              </a:p>
            </p:txBody>
          </p:sp>
        </p:grp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C35141F-41D3-D1C0-8387-24D34FB7BB9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187237" y="4510970"/>
              <a:ext cx="902264" cy="1686134"/>
            </a:xfrm>
            <a:prstGeom prst="rect">
              <a:avLst/>
            </a:prstGeom>
          </p:spPr>
        </p:pic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6892E176-9E54-FBC9-0AD4-C442B2569A2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836" r="22678"/>
          <a:stretch>
            <a:fillRect/>
          </a:stretch>
        </p:blipFill>
        <p:spPr>
          <a:xfrm>
            <a:off x="391064" y="1125253"/>
            <a:ext cx="1800000" cy="1858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821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warp dir="in"/>
      </p:transition>
    </mc:Choice>
    <mc:Fallback xmlns="">
      <p:transition xmlns:p14="http://schemas.microsoft.com/office/powerpoint/2010/main" spd="slow" advClick="1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6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6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6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6" grpId="0" animBg="1"/>
      <p:bldP spid="31" grpId="0" animBg="1"/>
      <p:bldP spid="49" grpId="0" animBg="1"/>
      <p:bldP spid="4" grpId="0" animBg="1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29027D-6DE5-B530-D1EE-AC6A93DA6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412925B4-6F94-86E5-A104-1F06783EA7E0}"/>
              </a:ext>
            </a:extLst>
          </p:cNvPr>
          <p:cNvSpPr/>
          <p:nvPr/>
        </p:nvSpPr>
        <p:spPr>
          <a:xfrm>
            <a:off x="1" y="4365523"/>
            <a:ext cx="12191998" cy="875071"/>
          </a:xfrm>
          <a:prstGeom prst="rect">
            <a:avLst/>
          </a:prstGeom>
          <a:solidFill>
            <a:srgbClr val="FFEF94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F3F5D49-C9F3-F1C5-B2CE-01548FA5568F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9327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506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49A94-8D61-059D-60FB-20A9F6C09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15789A9-17AF-57C4-592B-80DCC87108BC}"/>
              </a:ext>
            </a:extLst>
          </p:cNvPr>
          <p:cNvSpPr/>
          <p:nvPr/>
        </p:nvSpPr>
        <p:spPr>
          <a:xfrm>
            <a:off x="459097" y="4712427"/>
            <a:ext cx="6541406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1200" b="1" cap="none" spc="0" dirty="0">
                <a:ln w="0"/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Important Date</a:t>
            </a:r>
            <a:endParaRPr lang="en-US" sz="1200" b="1" dirty="0">
              <a:ln w="0"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200" b="1" cap="none" spc="0" dirty="0">
                <a:ln w="0"/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Asset Identification	(300 </a:t>
            </a:r>
            <a:r>
              <a:rPr lang="en-US" sz="1200" b="1" cap="none" spc="0" dirty="0" err="1">
                <a:ln w="0"/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ea</a:t>
            </a:r>
            <a:r>
              <a:rPr lang="en-US" sz="1200" b="1" cap="none" spc="0" dirty="0">
                <a:ln w="0"/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</a:t>
            </a:r>
            <a:r>
              <a:rPr lang="en-US" sz="1200" cap="none" spc="0" dirty="0">
                <a:ln w="0"/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		: 29 June – 10 July 2026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200" cap="none" spc="0" dirty="0">
              <a:ln w="0"/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200" b="1" dirty="0">
                <a:ln w="0"/>
                <a:latin typeface="Verdana" panose="020B0604030504040204" pitchFamily="34" charset="0"/>
                <a:ea typeface="Verdana" panose="020B0604030504040204" pitchFamily="34" charset="0"/>
              </a:rPr>
              <a:t>SIMS Development</a:t>
            </a:r>
            <a:r>
              <a:rPr lang="en-US" sz="1200" dirty="0">
                <a:ln w="0"/>
                <a:latin typeface="Verdana" panose="020B0604030504040204" pitchFamily="34" charset="0"/>
                <a:ea typeface="Verdana" panose="020B0604030504040204" pitchFamily="34" charset="0"/>
              </a:rPr>
              <a:t>				: 6 July – 14 August 2026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1200" dirty="0">
                <a:ln w="0"/>
                <a:latin typeface="Verdana" panose="020B0604030504040204" pitchFamily="34" charset="0"/>
                <a:ea typeface="Verdana" panose="020B0604030504040204" pitchFamily="34" charset="0"/>
              </a:rPr>
              <a:t>Go online (Mock up)			: 13 July 2026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1200" dirty="0">
                <a:ln w="0"/>
                <a:latin typeface="Verdana" panose="020B0604030504040204" pitchFamily="34" charset="0"/>
                <a:ea typeface="Verdana" panose="020B0604030504040204" pitchFamily="34" charset="0"/>
              </a:rPr>
              <a:t>Input asset register (300 </a:t>
            </a:r>
            <a:r>
              <a:rPr lang="en-US" sz="1200" dirty="0" err="1">
                <a:ln w="0"/>
                <a:latin typeface="Verdana" panose="020B0604030504040204" pitchFamily="34" charset="0"/>
                <a:ea typeface="Verdana" panose="020B0604030504040204" pitchFamily="34" charset="0"/>
              </a:rPr>
              <a:t>ea</a:t>
            </a:r>
            <a:r>
              <a:rPr lang="en-US" sz="1200" dirty="0">
                <a:ln w="0"/>
                <a:latin typeface="Verdana" panose="020B0604030504040204" pitchFamily="34" charset="0"/>
                <a:ea typeface="Verdana" panose="020B0604030504040204" pitchFamily="34" charset="0"/>
              </a:rPr>
              <a:t>)		: up to 7 August 2026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1200" dirty="0">
                <a:ln w="0"/>
                <a:latin typeface="Verdana" panose="020B0604030504040204" pitchFamily="34" charset="0"/>
                <a:ea typeface="Verdana" panose="020B0604030504040204" pitchFamily="34" charset="0"/>
              </a:rPr>
              <a:t>Print name tag				: 10 – 14 August 2026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200" cap="none" spc="0" dirty="0">
              <a:ln w="0"/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200" b="1" cap="none" spc="0" dirty="0">
                <a:ln w="0"/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Asset tagging	</a:t>
            </a:r>
            <a:r>
              <a:rPr lang="en-US" sz="1200" b="1" dirty="0">
                <a:ln w="0"/>
                <a:latin typeface="Verdana" panose="020B0604030504040204" pitchFamily="34" charset="0"/>
                <a:ea typeface="Verdana" panose="020B0604030504040204" pitchFamily="34" charset="0"/>
              </a:rPr>
              <a:t>(300 </a:t>
            </a:r>
            <a:r>
              <a:rPr lang="en-US" sz="1200" b="1" dirty="0" err="1">
                <a:ln w="0"/>
                <a:latin typeface="Verdana" panose="020B0604030504040204" pitchFamily="34" charset="0"/>
                <a:ea typeface="Verdana" panose="020B0604030504040204" pitchFamily="34" charset="0"/>
              </a:rPr>
              <a:t>ea</a:t>
            </a:r>
            <a:r>
              <a:rPr lang="en-US" sz="1200" b="1" dirty="0">
                <a:ln w="0"/>
                <a:latin typeface="Verdana" panose="020B0604030504040204" pitchFamily="34" charset="0"/>
                <a:ea typeface="Verdana" panose="020B0604030504040204" pitchFamily="34" charset="0"/>
              </a:rPr>
              <a:t>)</a:t>
            </a:r>
            <a:r>
              <a:rPr lang="en-US" sz="1200" cap="none" spc="0" dirty="0">
                <a:ln w="0"/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			</a:t>
            </a:r>
            <a:r>
              <a:rPr lang="en-US" sz="1200" dirty="0">
                <a:ln w="0"/>
                <a:latin typeface="Verdana" panose="020B0604030504040204" pitchFamily="34" charset="0"/>
                <a:ea typeface="Verdana" panose="020B0604030504040204" pitchFamily="34" charset="0"/>
              </a:rPr>
              <a:t>: 17 August – 11 September 2026</a:t>
            </a:r>
            <a:endParaRPr lang="en-US" sz="1200" cap="none" spc="0" dirty="0">
              <a:ln w="0"/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6DECCE-3C5F-FF23-F7A6-DDC8E6B40B3A}"/>
              </a:ext>
            </a:extLst>
          </p:cNvPr>
          <p:cNvSpPr/>
          <p:nvPr/>
        </p:nvSpPr>
        <p:spPr>
          <a:xfrm>
            <a:off x="0" y="2087214"/>
            <a:ext cx="12192000" cy="567496"/>
          </a:xfrm>
          <a:prstGeom prst="rect">
            <a:avLst/>
          </a:prstGeom>
          <a:solidFill>
            <a:srgbClr val="FFEF94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2335A85-55A9-26B4-6D6C-CF3DBF4FDF53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EFF"/>
              </a:clrFrom>
              <a:clrTo>
                <a:srgbClr val="FFFE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3831"/>
            <a:ext cx="12192000" cy="4425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942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4C2C3A2-C2E9-4E45-8168-6706A97880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862" y="197410"/>
            <a:ext cx="10744200" cy="4772025"/>
          </a:xfrm>
          <a:prstGeom prst="rect">
            <a:avLst/>
          </a:prstGeom>
        </p:spPr>
      </p:pic>
      <p:sp>
        <p:nvSpPr>
          <p:cNvPr id="6" name="Arrow: Striped Right 5">
            <a:extLst>
              <a:ext uri="{FF2B5EF4-FFF2-40B4-BE49-F238E27FC236}">
                <a16:creationId xmlns:a16="http://schemas.microsoft.com/office/drawing/2014/main" id="{CE5162B9-ACCC-AC71-FD5E-F869CD6B0D0C}"/>
              </a:ext>
            </a:extLst>
          </p:cNvPr>
          <p:cNvSpPr/>
          <p:nvPr/>
        </p:nvSpPr>
        <p:spPr>
          <a:xfrm>
            <a:off x="344128" y="3228667"/>
            <a:ext cx="639097" cy="400665"/>
          </a:xfrm>
          <a:prstGeom prst="stripedRightArrow">
            <a:avLst/>
          </a:prstGeom>
          <a:solidFill>
            <a:srgbClr val="2D6A87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968DDD-9D28-3E7D-6BDD-08BB624B261C}"/>
              </a:ext>
            </a:extLst>
          </p:cNvPr>
          <p:cNvSpPr/>
          <p:nvPr/>
        </p:nvSpPr>
        <p:spPr>
          <a:xfrm>
            <a:off x="1150374" y="3267995"/>
            <a:ext cx="10491020" cy="310947"/>
          </a:xfrm>
          <a:prstGeom prst="rect">
            <a:avLst/>
          </a:prstGeom>
          <a:noFill/>
          <a:ln w="28575">
            <a:solidFill>
              <a:srgbClr val="2D6A8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29D2685-F34E-7CEF-2780-6312403C3B63}"/>
              </a:ext>
            </a:extLst>
          </p:cNvPr>
          <p:cNvSpPr/>
          <p:nvPr/>
        </p:nvSpPr>
        <p:spPr>
          <a:xfrm>
            <a:off x="344128" y="5080375"/>
            <a:ext cx="3368230" cy="24622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1000" b="1" cap="none" spc="0" dirty="0">
                <a:ln w="0"/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Prepare budgetary Quotation for next phase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7B02D13-4288-3CE1-97B2-F1E9D9C434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2714707"/>
              </p:ext>
            </p:extLst>
          </p:nvPr>
        </p:nvGraphicFramePr>
        <p:xfrm>
          <a:off x="344128" y="5437537"/>
          <a:ext cx="11570022" cy="126238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928337">
                  <a:extLst>
                    <a:ext uri="{9D8B030D-6E8A-4147-A177-3AD203B41FA5}">
                      <a16:colId xmlns:a16="http://schemas.microsoft.com/office/drawing/2014/main" val="3861823204"/>
                    </a:ext>
                  </a:extLst>
                </a:gridCol>
                <a:gridCol w="1928337">
                  <a:extLst>
                    <a:ext uri="{9D8B030D-6E8A-4147-A177-3AD203B41FA5}">
                      <a16:colId xmlns:a16="http://schemas.microsoft.com/office/drawing/2014/main" val="48428330"/>
                    </a:ext>
                  </a:extLst>
                </a:gridCol>
                <a:gridCol w="1928337">
                  <a:extLst>
                    <a:ext uri="{9D8B030D-6E8A-4147-A177-3AD203B41FA5}">
                      <a16:colId xmlns:a16="http://schemas.microsoft.com/office/drawing/2014/main" val="2444978988"/>
                    </a:ext>
                  </a:extLst>
                </a:gridCol>
                <a:gridCol w="1928337">
                  <a:extLst>
                    <a:ext uri="{9D8B030D-6E8A-4147-A177-3AD203B41FA5}">
                      <a16:colId xmlns:a16="http://schemas.microsoft.com/office/drawing/2014/main" val="813246864"/>
                    </a:ext>
                  </a:extLst>
                </a:gridCol>
                <a:gridCol w="1928337">
                  <a:extLst>
                    <a:ext uri="{9D8B030D-6E8A-4147-A177-3AD203B41FA5}">
                      <a16:colId xmlns:a16="http://schemas.microsoft.com/office/drawing/2014/main" val="1103611207"/>
                    </a:ext>
                  </a:extLst>
                </a:gridCol>
                <a:gridCol w="1928337">
                  <a:extLst>
                    <a:ext uri="{9D8B030D-6E8A-4147-A177-3AD203B41FA5}">
                      <a16:colId xmlns:a16="http://schemas.microsoft.com/office/drawing/2014/main" val="39469923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Phase 1A</a:t>
                      </a:r>
                      <a:endParaRPr lang="en-ID" sz="1050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Phase 1B</a:t>
                      </a:r>
                      <a:endParaRPr lang="en-ID" sz="1050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Phase 2</a:t>
                      </a:r>
                      <a:endParaRPr lang="en-ID" sz="1050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Phase 3</a:t>
                      </a:r>
                      <a:endParaRPr lang="en-ID" sz="1050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Phase 4</a:t>
                      </a:r>
                      <a:endParaRPr lang="en-ID" sz="1050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Phase 5</a:t>
                      </a:r>
                      <a:endParaRPr lang="en-ID" sz="1050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22229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register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Tagging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Critical screening (condition, GVI)</a:t>
                      </a:r>
                      <a:endParaRPr lang="en-ID" sz="105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Additional feature</a:t>
                      </a:r>
                    </a:p>
                    <a:p>
                      <a:r>
                        <a:rPr lang="en-US" sz="105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requested by PTB</a:t>
                      </a:r>
                      <a:endParaRPr lang="en-ID" sz="105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Criticality matrix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&gt;&gt;&gt; Risk Based Inspection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Full GIS Mapping</a:t>
                      </a:r>
                      <a:endParaRPr lang="en-ID" sz="105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Monitoring device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Long term rehabilitation plan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&gt;&gt;&gt; Anomaly register and action plan </a:t>
                      </a:r>
                      <a:endParaRPr lang="en-ID" sz="105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Full Integration</a:t>
                      </a:r>
                    </a:p>
                    <a:p>
                      <a:r>
                        <a:rPr lang="en-US" sz="105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Cross platform system integration</a:t>
                      </a:r>
                    </a:p>
                    <a:p>
                      <a:r>
                        <a:rPr lang="en-US" sz="105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Training</a:t>
                      </a:r>
                      <a:endParaRPr lang="en-ID" sz="105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Validation</a:t>
                      </a:r>
                    </a:p>
                    <a:p>
                      <a:r>
                        <a:rPr lang="en-US" sz="105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handover</a:t>
                      </a:r>
                      <a:endParaRPr lang="en-ID" sz="105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84283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3901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8575F47-EACD-8E26-BE2E-FE71F9E3783B}"/>
              </a:ext>
            </a:extLst>
          </p:cNvPr>
          <p:cNvSpPr/>
          <p:nvPr/>
        </p:nvSpPr>
        <p:spPr>
          <a:xfrm>
            <a:off x="3452675" y="405899"/>
            <a:ext cx="5107488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Structural Integrity Management System (SIMS)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C1B1BE-43F7-AED0-8776-04CFC17BB750}"/>
              </a:ext>
            </a:extLst>
          </p:cNvPr>
          <p:cNvSpPr/>
          <p:nvPr/>
        </p:nvSpPr>
        <p:spPr>
          <a:xfrm>
            <a:off x="3795623" y="956094"/>
            <a:ext cx="4320000" cy="540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2CB94E-A3EA-5B4F-AD80-4BEBF84AF4A9}"/>
              </a:ext>
            </a:extLst>
          </p:cNvPr>
          <p:cNvSpPr/>
          <p:nvPr/>
        </p:nvSpPr>
        <p:spPr>
          <a:xfrm>
            <a:off x="4595314" y="1177832"/>
            <a:ext cx="2720617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cap="none" spc="0" dirty="0">
                <a:ln w="0"/>
                <a:solidFill>
                  <a:schemeClr val="accent6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Sign in to start your session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30D296-207F-6D55-DC40-F068485BB4B1}"/>
              </a:ext>
            </a:extLst>
          </p:cNvPr>
          <p:cNvSpPr/>
          <p:nvPr/>
        </p:nvSpPr>
        <p:spPr>
          <a:xfrm>
            <a:off x="3975622" y="1860154"/>
            <a:ext cx="3960000" cy="36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User Name</a:t>
            </a:r>
            <a:endParaRPr lang="en-ID" sz="1400" dirty="0">
              <a:solidFill>
                <a:schemeClr val="bg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2D9AE9A-359C-FB8D-3A3D-462964039556}"/>
              </a:ext>
            </a:extLst>
          </p:cNvPr>
          <p:cNvSpPr/>
          <p:nvPr/>
        </p:nvSpPr>
        <p:spPr>
          <a:xfrm>
            <a:off x="3975622" y="2464168"/>
            <a:ext cx="3960000" cy="36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Password</a:t>
            </a:r>
            <a:endParaRPr lang="en-ID" sz="1400" dirty="0">
              <a:solidFill>
                <a:schemeClr val="bg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A6A6440-5E50-0093-B527-D7547853A81E}"/>
              </a:ext>
            </a:extLst>
          </p:cNvPr>
          <p:cNvSpPr/>
          <p:nvPr/>
        </p:nvSpPr>
        <p:spPr>
          <a:xfrm>
            <a:off x="3975622" y="3616782"/>
            <a:ext cx="3960000" cy="360000"/>
          </a:xfrm>
          <a:prstGeom prst="rect">
            <a:avLst/>
          </a:prstGeom>
          <a:solidFill>
            <a:srgbClr val="6E98A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Sign in</a:t>
            </a:r>
            <a:endParaRPr lang="en-ID" sz="1400" b="1" dirty="0">
              <a:solidFill>
                <a:schemeClr val="tx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5EEE4E2-C89A-995A-D29B-9355B3588F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836" r="22678"/>
          <a:stretch>
            <a:fillRect/>
          </a:stretch>
        </p:blipFill>
        <p:spPr>
          <a:xfrm>
            <a:off x="5134650" y="4266438"/>
            <a:ext cx="1743539" cy="180000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27BCE05E-59B0-E8FB-56CE-1539BC0BB0FE}"/>
              </a:ext>
            </a:extLst>
          </p:cNvPr>
          <p:cNvSpPr/>
          <p:nvPr/>
        </p:nvSpPr>
        <p:spPr>
          <a:xfrm>
            <a:off x="3975622" y="3069000"/>
            <a:ext cx="360000" cy="36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D" sz="1400" dirty="0">
              <a:solidFill>
                <a:schemeClr val="bg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687B4DD-47F7-E971-CDB9-F7C5CFFDA89E}"/>
              </a:ext>
            </a:extLst>
          </p:cNvPr>
          <p:cNvSpPr/>
          <p:nvPr/>
        </p:nvSpPr>
        <p:spPr>
          <a:xfrm>
            <a:off x="4481538" y="3081714"/>
            <a:ext cx="1204625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1400" cap="none" spc="0" dirty="0">
                <a:ln w="0"/>
                <a:solidFill>
                  <a:schemeClr val="accent6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Rember Me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BFC10045-1B1F-1563-67FD-9F426B167826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4F4F6"/>
              </a:clrFrom>
              <a:clrTo>
                <a:srgbClr val="F4F4F6">
                  <a:alpha val="0"/>
                </a:srgbClr>
              </a:clrTo>
            </a:clrChange>
          </a:blip>
          <a:srcRect t="11051"/>
          <a:stretch>
            <a:fillRect/>
          </a:stretch>
        </p:blipFill>
        <p:spPr>
          <a:xfrm>
            <a:off x="7485654" y="2470704"/>
            <a:ext cx="457725" cy="360000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50478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70AE2-3EC0-8B51-BD96-93D92E5E6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itle 63">
            <a:extLst>
              <a:ext uri="{FF2B5EF4-FFF2-40B4-BE49-F238E27FC236}">
                <a16:creationId xmlns:a16="http://schemas.microsoft.com/office/drawing/2014/main" id="{B37E3795-7DF8-2767-EF57-6CCC4E048FBD}"/>
              </a:ext>
            </a:extLst>
          </p:cNvPr>
          <p:cNvSpPr txBox="1">
            <a:spLocks/>
          </p:cNvSpPr>
          <p:nvPr/>
        </p:nvSpPr>
        <p:spPr>
          <a:xfrm>
            <a:off x="10026445" y="1806682"/>
            <a:ext cx="2152665" cy="5055282"/>
          </a:xfrm>
          <a:prstGeom prst="rect">
            <a:avLst/>
          </a:prstGeom>
          <a:noFill/>
          <a:ln w="19050">
            <a:solidFill>
              <a:srgbClr val="2D6A87"/>
            </a:solidFill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000" b="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Summary </a:t>
            </a:r>
          </a:p>
        </p:txBody>
      </p:sp>
      <p:sp>
        <p:nvSpPr>
          <p:cNvPr id="37" name="Title 63">
            <a:extLst>
              <a:ext uri="{FF2B5EF4-FFF2-40B4-BE49-F238E27FC236}">
                <a16:creationId xmlns:a16="http://schemas.microsoft.com/office/drawing/2014/main" id="{6516BA39-423C-7B5B-B836-DDA3B3D22F41}"/>
              </a:ext>
            </a:extLst>
          </p:cNvPr>
          <p:cNvSpPr txBox="1">
            <a:spLocks/>
          </p:cNvSpPr>
          <p:nvPr/>
        </p:nvSpPr>
        <p:spPr>
          <a:xfrm>
            <a:off x="10041115" y="1806682"/>
            <a:ext cx="2160000" cy="5037778"/>
          </a:xfrm>
          <a:prstGeom prst="rect">
            <a:avLst/>
          </a:prstGeom>
          <a:noFill/>
          <a:ln w="38100">
            <a:noFill/>
          </a:ln>
        </p:spPr>
        <p:txBody>
          <a:bodyPr anchor="t">
            <a:no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endParaRPr lang="en-US" sz="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All Plant</a:t>
            </a:r>
          </a:p>
          <a:p>
            <a:pPr>
              <a:lnSpc>
                <a:spcPct val="100000"/>
              </a:lnSpc>
            </a:pPr>
            <a:endParaRPr lang="en-US" sz="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  <a:p>
            <a:pPr>
              <a:lnSpc>
                <a:spcPct val="100000"/>
              </a:lnSpc>
            </a:pPr>
            <a:endParaRPr lang="en-US" sz="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500</a:t>
            </a:r>
          </a:p>
          <a:p>
            <a:pPr>
              <a:lnSpc>
                <a:spcPct val="100000"/>
              </a:lnSpc>
            </a:pPr>
            <a:endParaRPr lang="en-US" sz="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300</a:t>
            </a:r>
          </a:p>
          <a:p>
            <a:pPr>
              <a:lnSpc>
                <a:spcPct val="100000"/>
              </a:lnSpc>
            </a:pPr>
            <a:endParaRPr lang="en-US" sz="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200</a:t>
            </a:r>
          </a:p>
          <a:p>
            <a:pPr>
              <a:lnSpc>
                <a:spcPct val="100000"/>
              </a:lnSpc>
            </a:pPr>
            <a:endParaRPr lang="en-US" sz="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100</a:t>
            </a:r>
          </a:p>
          <a:p>
            <a:pPr>
              <a:lnSpc>
                <a:spcPct val="100000"/>
              </a:lnSpc>
            </a:pPr>
            <a:endParaRPr lang="en-US" sz="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 Good   Fair    Poor   Unknown</a:t>
            </a:r>
          </a:p>
          <a:p>
            <a:pPr>
              <a:lnSpc>
                <a:spcPct val="100000"/>
              </a:lnSpc>
            </a:pPr>
            <a:endParaRPr lang="en-US" sz="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  <a:p>
            <a:pPr>
              <a:lnSpc>
                <a:spcPct val="100000"/>
              </a:lnSpc>
            </a:pPr>
            <a:endParaRPr lang="en-US" sz="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  <a:p>
            <a:pPr>
              <a:lnSpc>
                <a:spcPct val="100000"/>
              </a:lnSpc>
            </a:pPr>
            <a:r>
              <a:rPr lang="en-US" sz="800" u="sng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Plant Summary</a:t>
            </a:r>
          </a:p>
          <a:p>
            <a:pPr>
              <a:lnSpc>
                <a:spcPct val="100000"/>
              </a:lnSpc>
            </a:pPr>
            <a:endParaRPr lang="en-US" sz="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Plant 1 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Plant 2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Plant 3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Plant 4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Plant 5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Plant 6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Plant 7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Plant 8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Plant 9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Plant 10</a:t>
            </a:r>
          </a:p>
          <a:p>
            <a:pPr>
              <a:lnSpc>
                <a:spcPct val="100000"/>
              </a:lnSpc>
            </a:pPr>
            <a:endParaRPr lang="en-US" sz="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29" name="Title 63">
            <a:extLst>
              <a:ext uri="{FF2B5EF4-FFF2-40B4-BE49-F238E27FC236}">
                <a16:creationId xmlns:a16="http://schemas.microsoft.com/office/drawing/2014/main" id="{9E2AB35C-E897-09A1-AC90-EA028E52AC90}"/>
              </a:ext>
            </a:extLst>
          </p:cNvPr>
          <p:cNvSpPr txBox="1">
            <a:spLocks/>
          </p:cNvSpPr>
          <p:nvPr/>
        </p:nvSpPr>
        <p:spPr>
          <a:xfrm>
            <a:off x="2160000" y="1462924"/>
            <a:ext cx="7873780" cy="5395076"/>
          </a:xfrm>
          <a:prstGeom prst="rect">
            <a:avLst/>
          </a:prstGeom>
          <a:noFill/>
          <a:ln w="19050">
            <a:solidFill>
              <a:srgbClr val="2D6A87"/>
            </a:solidFill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000" b="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Summary </a:t>
            </a:r>
          </a:p>
        </p:txBody>
      </p:sp>
      <p:sp>
        <p:nvSpPr>
          <p:cNvPr id="2" name="Title 63">
            <a:extLst>
              <a:ext uri="{FF2B5EF4-FFF2-40B4-BE49-F238E27FC236}">
                <a16:creationId xmlns:a16="http://schemas.microsoft.com/office/drawing/2014/main" id="{9654C5B0-1E73-C475-3C20-DFCD174E7835}"/>
              </a:ext>
            </a:extLst>
          </p:cNvPr>
          <p:cNvSpPr txBox="1">
            <a:spLocks/>
          </p:cNvSpPr>
          <p:nvPr/>
        </p:nvSpPr>
        <p:spPr>
          <a:xfrm>
            <a:off x="9114" y="-234976"/>
            <a:ext cx="12192001" cy="900000"/>
          </a:xfrm>
          <a:prstGeom prst="rect">
            <a:avLst/>
          </a:prstGeom>
          <a:solidFill>
            <a:schemeClr val="tx2"/>
          </a:solidFill>
          <a:ln w="3810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2D6A87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Structural Integrity Management System (SIMS)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60B2A2-1EF9-C2EC-E1F3-C7C1E757DC1F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2836" r="22678"/>
          <a:stretch>
            <a:fillRect/>
          </a:stretch>
        </p:blipFill>
        <p:spPr>
          <a:xfrm>
            <a:off x="174883" y="103675"/>
            <a:ext cx="691633" cy="714030"/>
          </a:xfrm>
          <a:prstGeom prst="rect">
            <a:avLst/>
          </a:prstGeom>
        </p:spPr>
      </p:pic>
      <p:sp>
        <p:nvSpPr>
          <p:cNvPr id="25" name="Title 63">
            <a:extLst>
              <a:ext uri="{FF2B5EF4-FFF2-40B4-BE49-F238E27FC236}">
                <a16:creationId xmlns:a16="http://schemas.microsoft.com/office/drawing/2014/main" id="{26A485A1-E551-8EC4-FBFC-4D254492BC72}"/>
              </a:ext>
            </a:extLst>
          </p:cNvPr>
          <p:cNvSpPr txBox="1">
            <a:spLocks/>
          </p:cNvSpPr>
          <p:nvPr/>
        </p:nvSpPr>
        <p:spPr>
          <a:xfrm>
            <a:off x="0" y="1449533"/>
            <a:ext cx="2160000" cy="360000"/>
          </a:xfrm>
          <a:prstGeom prst="rect">
            <a:avLst/>
          </a:prstGeom>
          <a:solidFill>
            <a:srgbClr val="2D6A87"/>
          </a:solidFill>
          <a:ln w="3810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000" b="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Asset Tree </a:t>
            </a:r>
          </a:p>
        </p:txBody>
      </p:sp>
      <p:sp>
        <p:nvSpPr>
          <p:cNvPr id="27" name="Title 63">
            <a:extLst>
              <a:ext uri="{FF2B5EF4-FFF2-40B4-BE49-F238E27FC236}">
                <a16:creationId xmlns:a16="http://schemas.microsoft.com/office/drawing/2014/main" id="{FFA8F71D-68AB-4162-76EC-B4D1DFEBAEAA}"/>
              </a:ext>
            </a:extLst>
          </p:cNvPr>
          <p:cNvSpPr txBox="1">
            <a:spLocks/>
          </p:cNvSpPr>
          <p:nvPr/>
        </p:nvSpPr>
        <p:spPr>
          <a:xfrm>
            <a:off x="10033780" y="1449533"/>
            <a:ext cx="2160000" cy="360000"/>
          </a:xfrm>
          <a:prstGeom prst="rect">
            <a:avLst/>
          </a:prstGeom>
          <a:solidFill>
            <a:srgbClr val="2D6A87"/>
          </a:solidFill>
          <a:ln w="3810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000" b="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Summary</a:t>
            </a:r>
          </a:p>
        </p:txBody>
      </p:sp>
      <p:sp>
        <p:nvSpPr>
          <p:cNvPr id="31" name="Title 63">
            <a:extLst>
              <a:ext uri="{FF2B5EF4-FFF2-40B4-BE49-F238E27FC236}">
                <a16:creationId xmlns:a16="http://schemas.microsoft.com/office/drawing/2014/main" id="{633BF1EC-999F-8CF1-10EE-F9EF97878D38}"/>
              </a:ext>
            </a:extLst>
          </p:cNvPr>
          <p:cNvSpPr txBox="1">
            <a:spLocks/>
          </p:cNvSpPr>
          <p:nvPr/>
        </p:nvSpPr>
        <p:spPr>
          <a:xfrm>
            <a:off x="0" y="1809532"/>
            <a:ext cx="2160000" cy="5037778"/>
          </a:xfrm>
          <a:prstGeom prst="rect">
            <a:avLst/>
          </a:prstGeom>
          <a:noFill/>
          <a:ln w="38100">
            <a:noFill/>
          </a:ln>
        </p:spPr>
        <p:txBody>
          <a:bodyPr anchor="t">
            <a:no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 Gas Purification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&gt;</a:t>
            </a: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Plant 2 Dehydration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&gt;</a:t>
            </a: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Plant 3 Fractionation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4 Refrigeration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5 Liquefaction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6 Condensate Stripping ...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15 LPG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16 Condensate Stabilize ... 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17 LPG Storage and Loa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19 Relief &amp; Blowdown S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20 Condensate Storage ...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20D-4/Q-1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     20D-5/Q-1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     20D-6/Q-1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+ add asset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21 Feed Gas Knockout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22 Marine Structures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24 LNG Storage and Loa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25 Fueling Facility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26 LPG Filling Station … &gt;Propane and Butane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27 Oxygen Plant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28 Acetylene Plant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29 Nitrogen Generation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30 Electrical </a:t>
            </a:r>
            <a:r>
              <a:rPr lang="en-US" sz="8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Distributio</a:t>
            </a: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31 Steam &amp; Power Gen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32 Seawater Cooling 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33 Fire Protection System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34 Liquid Waste System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35 Compressed Air System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36 Water Treatment Sy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37 Communication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38 Inter-connecting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+ add Plant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EA7A9DF-BA52-FA0D-3B8C-AEEFA4FEE3F4}"/>
              </a:ext>
            </a:extLst>
          </p:cNvPr>
          <p:cNvGrpSpPr/>
          <p:nvPr/>
        </p:nvGrpSpPr>
        <p:grpSpPr>
          <a:xfrm>
            <a:off x="10642859" y="3928984"/>
            <a:ext cx="1424476" cy="820912"/>
            <a:chOff x="10642859" y="2121030"/>
            <a:chExt cx="1424476" cy="820912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29E2C024-671D-F74D-1205-287DBD1B1E9B}"/>
                </a:ext>
              </a:extLst>
            </p:cNvPr>
            <p:cNvSpPr/>
            <p:nvPr/>
          </p:nvSpPr>
          <p:spPr>
            <a:xfrm>
              <a:off x="10642862" y="2121030"/>
              <a:ext cx="841138" cy="108000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latin typeface="Verdana" panose="020B0604030504040204" pitchFamily="34" charset="0"/>
                  <a:ea typeface="Verdana" panose="020B0604030504040204" pitchFamily="34" charset="0"/>
                </a:rPr>
                <a:t>200</a:t>
              </a:r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189DFC2C-479A-3EC8-AA60-2E33B2D9399C}"/>
                </a:ext>
              </a:extLst>
            </p:cNvPr>
            <p:cNvSpPr/>
            <p:nvPr/>
          </p:nvSpPr>
          <p:spPr>
            <a:xfrm>
              <a:off x="11484000" y="2121030"/>
              <a:ext cx="288000" cy="1080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latin typeface="Verdana" panose="020B0604030504040204" pitchFamily="34" charset="0"/>
                  <a:ea typeface="Verdana" panose="020B0604030504040204" pitchFamily="34" charset="0"/>
                </a:rPr>
                <a:t>7</a:t>
              </a:r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AB9FAE68-F899-C2CF-101E-D8A290BF3B76}"/>
                </a:ext>
              </a:extLst>
            </p:cNvPr>
            <p:cNvSpPr/>
            <p:nvPr/>
          </p:nvSpPr>
          <p:spPr>
            <a:xfrm>
              <a:off x="11779335" y="2121030"/>
              <a:ext cx="288000" cy="108000"/>
            </a:xfrm>
            <a:prstGeom prst="rect">
              <a:avLst/>
            </a:prstGeom>
            <a:solidFill>
              <a:srgbClr val="CC33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latin typeface="Verdana" panose="020B0604030504040204" pitchFamily="34" charset="0"/>
                  <a:ea typeface="Verdana" panose="020B0604030504040204" pitchFamily="34" charset="0"/>
                </a:rPr>
                <a:t>2</a:t>
              </a:r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053370EC-C9F7-F71A-CDBA-601DD7FD043A}"/>
                </a:ext>
              </a:extLst>
            </p:cNvPr>
            <p:cNvSpPr/>
            <p:nvPr/>
          </p:nvSpPr>
          <p:spPr>
            <a:xfrm>
              <a:off x="10642862" y="2229030"/>
              <a:ext cx="612513" cy="108000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latin typeface="Verdana" panose="020B0604030504040204" pitchFamily="34" charset="0"/>
                  <a:ea typeface="Verdana" panose="020B0604030504040204" pitchFamily="34" charset="0"/>
                </a:rPr>
                <a:t>175</a:t>
              </a:r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5ACD506E-E5DE-8649-7C55-B6718BBB9092}"/>
                </a:ext>
              </a:extLst>
            </p:cNvPr>
            <p:cNvSpPr/>
            <p:nvPr/>
          </p:nvSpPr>
          <p:spPr>
            <a:xfrm>
              <a:off x="11255374" y="2229030"/>
              <a:ext cx="415925" cy="1080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latin typeface="Verdana" panose="020B0604030504040204" pitchFamily="34" charset="0"/>
                  <a:ea typeface="Verdana" panose="020B0604030504040204" pitchFamily="34" charset="0"/>
                </a:rPr>
                <a:t>10</a:t>
              </a:r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45764897-86A7-9C9E-0881-69B6A90F6D8B}"/>
                </a:ext>
              </a:extLst>
            </p:cNvPr>
            <p:cNvSpPr/>
            <p:nvPr/>
          </p:nvSpPr>
          <p:spPr>
            <a:xfrm>
              <a:off x="11671299" y="2229030"/>
              <a:ext cx="396036" cy="108000"/>
            </a:xfrm>
            <a:prstGeom prst="rect">
              <a:avLst/>
            </a:prstGeom>
            <a:solidFill>
              <a:srgbClr val="CC33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latin typeface="Verdana" panose="020B0604030504040204" pitchFamily="34" charset="0"/>
                  <a:ea typeface="Verdana" panose="020B0604030504040204" pitchFamily="34" charset="0"/>
                </a:rPr>
                <a:t>17</a:t>
              </a:r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BB812E33-7F1D-13CD-A9D2-396853E804B3}"/>
                </a:ext>
              </a:extLst>
            </p:cNvPr>
            <p:cNvSpPr/>
            <p:nvPr/>
          </p:nvSpPr>
          <p:spPr>
            <a:xfrm>
              <a:off x="10642860" y="2337030"/>
              <a:ext cx="1152000" cy="108000"/>
            </a:xfrm>
            <a:prstGeom prst="rect">
              <a:avLst/>
            </a:prstGeom>
            <a:solidFill>
              <a:schemeClr val="bg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latin typeface="Verdana" panose="020B0604030504040204" pitchFamily="34" charset="0"/>
                  <a:ea typeface="Verdana" panose="020B0604030504040204" pitchFamily="34" charset="0"/>
                </a:rPr>
                <a:t>430</a:t>
              </a:r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145FD72B-9DE5-0EDC-4465-A7D69C3A1262}"/>
                </a:ext>
              </a:extLst>
            </p:cNvPr>
            <p:cNvSpPr/>
            <p:nvPr/>
          </p:nvSpPr>
          <p:spPr>
            <a:xfrm>
              <a:off x="10642860" y="2608814"/>
              <a:ext cx="534728" cy="108000"/>
            </a:xfrm>
            <a:prstGeom prst="rect">
              <a:avLst/>
            </a:prstGeom>
            <a:solidFill>
              <a:schemeClr val="bg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latin typeface="Verdana" panose="020B0604030504040204" pitchFamily="34" charset="0"/>
                  <a:ea typeface="Verdana" panose="020B0604030504040204" pitchFamily="34" charset="0"/>
                </a:rPr>
                <a:t>430</a:t>
              </a:r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260F3F1-2F48-6650-615F-2109023DEA65}"/>
                </a:ext>
              </a:extLst>
            </p:cNvPr>
            <p:cNvSpPr/>
            <p:nvPr/>
          </p:nvSpPr>
          <p:spPr>
            <a:xfrm>
              <a:off x="10642859" y="2721576"/>
              <a:ext cx="701415" cy="108000"/>
            </a:xfrm>
            <a:prstGeom prst="rect">
              <a:avLst/>
            </a:prstGeom>
            <a:solidFill>
              <a:schemeClr val="bg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latin typeface="Verdana" panose="020B0604030504040204" pitchFamily="34" charset="0"/>
                  <a:ea typeface="Verdana" panose="020B0604030504040204" pitchFamily="34" charset="0"/>
                </a:rPr>
                <a:t>430</a:t>
              </a:r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268BEF06-CD0A-E1EE-1BDF-E7969DD0117A}"/>
                </a:ext>
              </a:extLst>
            </p:cNvPr>
            <p:cNvSpPr/>
            <p:nvPr/>
          </p:nvSpPr>
          <p:spPr>
            <a:xfrm>
              <a:off x="10642860" y="2833942"/>
              <a:ext cx="318034" cy="108000"/>
            </a:xfrm>
            <a:prstGeom prst="rect">
              <a:avLst/>
            </a:prstGeom>
            <a:solidFill>
              <a:schemeClr val="bg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latin typeface="Verdana" panose="020B0604030504040204" pitchFamily="34" charset="0"/>
                  <a:ea typeface="Verdana" panose="020B0604030504040204" pitchFamily="34" charset="0"/>
                </a:rPr>
                <a:t>12</a:t>
              </a:r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sp>
        <p:nvSpPr>
          <p:cNvPr id="62" name="Rectangle 61">
            <a:extLst>
              <a:ext uri="{FF2B5EF4-FFF2-40B4-BE49-F238E27FC236}">
                <a16:creationId xmlns:a16="http://schemas.microsoft.com/office/drawing/2014/main" id="{9C2964AC-43A0-BCC7-FB12-6FD620C444BE}"/>
              </a:ext>
            </a:extLst>
          </p:cNvPr>
          <p:cNvSpPr/>
          <p:nvPr/>
        </p:nvSpPr>
        <p:spPr>
          <a:xfrm>
            <a:off x="217745" y="3346913"/>
            <a:ext cx="72000" cy="72000"/>
          </a:xfrm>
          <a:prstGeom prst="rect">
            <a:avLst/>
          </a:prstGeom>
          <a:solidFill>
            <a:schemeClr val="bg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7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16A9A1E8-B562-A704-27E7-8D6EB8D1807B}"/>
              </a:ext>
            </a:extLst>
          </p:cNvPr>
          <p:cNvSpPr/>
          <p:nvPr/>
        </p:nvSpPr>
        <p:spPr>
          <a:xfrm>
            <a:off x="217745" y="3473442"/>
            <a:ext cx="72000" cy="72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7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67F36BDA-595F-ADAB-2A91-3AF582EC61FD}"/>
              </a:ext>
            </a:extLst>
          </p:cNvPr>
          <p:cNvSpPr/>
          <p:nvPr/>
        </p:nvSpPr>
        <p:spPr>
          <a:xfrm>
            <a:off x="216151" y="3221023"/>
            <a:ext cx="72000" cy="72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7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578EB5E9-4EC8-DA51-B522-B0360753627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1954"/>
          <a:stretch>
            <a:fillRect/>
          </a:stretch>
        </p:blipFill>
        <p:spPr>
          <a:xfrm>
            <a:off x="3292883" y="1962976"/>
            <a:ext cx="5463190" cy="4680000"/>
          </a:xfrm>
          <a:prstGeom prst="rect">
            <a:avLst/>
          </a:prstGeom>
        </p:spPr>
      </p:pic>
      <p:sp>
        <p:nvSpPr>
          <p:cNvPr id="74" name="Title 63">
            <a:extLst>
              <a:ext uri="{FF2B5EF4-FFF2-40B4-BE49-F238E27FC236}">
                <a16:creationId xmlns:a16="http://schemas.microsoft.com/office/drawing/2014/main" id="{E6EA2524-6D50-6DE7-F5A3-3030A1829B37}"/>
              </a:ext>
            </a:extLst>
          </p:cNvPr>
          <p:cNvSpPr txBox="1">
            <a:spLocks/>
          </p:cNvSpPr>
          <p:nvPr/>
        </p:nvSpPr>
        <p:spPr>
          <a:xfrm>
            <a:off x="0" y="1462924"/>
            <a:ext cx="2152665" cy="5395076"/>
          </a:xfrm>
          <a:prstGeom prst="rect">
            <a:avLst/>
          </a:prstGeom>
          <a:noFill/>
          <a:ln w="19050">
            <a:solidFill>
              <a:srgbClr val="2D6A87"/>
            </a:solidFill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endParaRPr lang="en-US" sz="1000" b="0" dirty="0">
              <a:solidFill>
                <a:schemeClr val="tx2"/>
              </a:solidFill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7" name="Title 63">
            <a:extLst>
              <a:ext uri="{FF2B5EF4-FFF2-40B4-BE49-F238E27FC236}">
                <a16:creationId xmlns:a16="http://schemas.microsoft.com/office/drawing/2014/main" id="{847828D1-BE6D-EF18-3D29-591D434EAF88}"/>
              </a:ext>
            </a:extLst>
          </p:cNvPr>
          <p:cNvSpPr txBox="1">
            <a:spLocks/>
          </p:cNvSpPr>
          <p:nvPr/>
        </p:nvSpPr>
        <p:spPr>
          <a:xfrm>
            <a:off x="2167334" y="1449533"/>
            <a:ext cx="7873779" cy="360000"/>
          </a:xfrm>
          <a:prstGeom prst="rect">
            <a:avLst/>
          </a:prstGeom>
          <a:solidFill>
            <a:srgbClr val="2D6A87"/>
          </a:solidFill>
          <a:ln w="3810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1000" b="0" dirty="0" err="1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Badak</a:t>
            </a:r>
            <a:r>
              <a:rPr lang="en-US" sz="1000" b="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NGL 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F162586-6FDC-8D44-E643-4838517156FE}"/>
              </a:ext>
            </a:extLst>
          </p:cNvPr>
          <p:cNvGrpSpPr/>
          <p:nvPr/>
        </p:nvGrpSpPr>
        <p:grpSpPr>
          <a:xfrm>
            <a:off x="10391399" y="2308860"/>
            <a:ext cx="1675936" cy="937260"/>
            <a:chOff x="10391399" y="2194560"/>
            <a:chExt cx="1675936" cy="93726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00AED864-A399-5CE9-6C16-521B9B0BB22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91399" y="3131820"/>
              <a:ext cx="1675936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C894E90-9CF9-2EB8-1125-861684B2F47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91399" y="2194560"/>
              <a:ext cx="0" cy="93726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CF1E03C-4515-6F23-8128-07C3D04AFEAF}"/>
                </a:ext>
              </a:extLst>
            </p:cNvPr>
            <p:cNvSpPr/>
            <p:nvPr/>
          </p:nvSpPr>
          <p:spPr>
            <a:xfrm>
              <a:off x="10399019" y="2297900"/>
              <a:ext cx="360000" cy="820448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latin typeface="Verdana" panose="020B0604030504040204" pitchFamily="34" charset="0"/>
                  <a:ea typeface="Verdana" panose="020B0604030504040204" pitchFamily="34" charset="0"/>
                </a:rPr>
                <a:t>415</a:t>
              </a:r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CA8E78D-51BF-0D24-00F5-DA00EA0D5ADE}"/>
                </a:ext>
              </a:extLst>
            </p:cNvPr>
            <p:cNvSpPr/>
            <p:nvPr/>
          </p:nvSpPr>
          <p:spPr>
            <a:xfrm>
              <a:off x="10758734" y="2971176"/>
              <a:ext cx="360000" cy="14399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latin typeface="Verdana" panose="020B0604030504040204" pitchFamily="34" charset="0"/>
                  <a:ea typeface="Verdana" panose="020B0604030504040204" pitchFamily="34" charset="0"/>
                </a:rPr>
                <a:t>17</a:t>
              </a:r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C7635A9-4D3B-0BDE-926E-33E8469B3AAE}"/>
                </a:ext>
              </a:extLst>
            </p:cNvPr>
            <p:cNvSpPr/>
            <p:nvPr/>
          </p:nvSpPr>
          <p:spPr>
            <a:xfrm>
              <a:off x="11126069" y="2938294"/>
              <a:ext cx="360000" cy="180000"/>
            </a:xfrm>
            <a:prstGeom prst="rect">
              <a:avLst/>
            </a:prstGeom>
            <a:solidFill>
              <a:srgbClr val="CC33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latin typeface="Verdana" panose="020B0604030504040204" pitchFamily="34" charset="0"/>
                  <a:ea typeface="Verdana" panose="020B0604030504040204" pitchFamily="34" charset="0"/>
                </a:rPr>
                <a:t>19</a:t>
              </a:r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D1231A6-55B1-029C-686D-B4E8FD1CE88B}"/>
                </a:ext>
              </a:extLst>
            </p:cNvPr>
            <p:cNvSpPr/>
            <p:nvPr/>
          </p:nvSpPr>
          <p:spPr>
            <a:xfrm>
              <a:off x="11483679" y="2204428"/>
              <a:ext cx="360000" cy="922312"/>
            </a:xfrm>
            <a:prstGeom prst="rect">
              <a:avLst/>
            </a:prstGeom>
            <a:solidFill>
              <a:schemeClr val="bg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latin typeface="Verdana" panose="020B0604030504040204" pitchFamily="34" charset="0"/>
                  <a:ea typeface="Verdana" panose="020B0604030504040204" pitchFamily="34" charset="0"/>
                </a:rPr>
                <a:t>927</a:t>
              </a:r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DBD63D5-1841-4C9D-CE32-F4F01D513AD5}"/>
              </a:ext>
            </a:extLst>
          </p:cNvPr>
          <p:cNvGrpSpPr/>
          <p:nvPr/>
        </p:nvGrpSpPr>
        <p:grpSpPr>
          <a:xfrm>
            <a:off x="0" y="932141"/>
            <a:ext cx="12204000" cy="363949"/>
            <a:chOff x="0" y="932141"/>
            <a:chExt cx="12204000" cy="363949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4BB87D4E-8BF6-2D61-6C3F-C4D9FF411493}"/>
                </a:ext>
              </a:extLst>
            </p:cNvPr>
            <p:cNvGrpSpPr/>
            <p:nvPr/>
          </p:nvGrpSpPr>
          <p:grpSpPr>
            <a:xfrm>
              <a:off x="0" y="934984"/>
              <a:ext cx="12204000" cy="361106"/>
              <a:chOff x="0" y="934984"/>
              <a:chExt cx="12204000" cy="361106"/>
            </a:xfrm>
          </p:grpSpPr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4189DD38-F045-DA71-792E-7DDC0F6DB881}"/>
                  </a:ext>
                </a:extLst>
              </p:cNvPr>
              <p:cNvGrpSpPr/>
              <p:nvPr/>
            </p:nvGrpSpPr>
            <p:grpSpPr>
              <a:xfrm>
                <a:off x="0" y="936090"/>
                <a:ext cx="12204000" cy="360000"/>
                <a:chOff x="0" y="936090"/>
                <a:chExt cx="12204000" cy="360000"/>
              </a:xfrm>
            </p:grpSpPr>
            <p:grpSp>
              <p:nvGrpSpPr>
                <p:cNvPr id="23" name="Group 22">
                  <a:extLst>
                    <a:ext uri="{FF2B5EF4-FFF2-40B4-BE49-F238E27FC236}">
                      <a16:creationId xmlns:a16="http://schemas.microsoft.com/office/drawing/2014/main" id="{909FC1EA-5EE7-7DEA-7030-1E697A9FD7BE}"/>
                    </a:ext>
                  </a:extLst>
                </p:cNvPr>
                <p:cNvGrpSpPr/>
                <p:nvPr/>
              </p:nvGrpSpPr>
              <p:grpSpPr>
                <a:xfrm>
                  <a:off x="0" y="936090"/>
                  <a:ext cx="12204000" cy="360000"/>
                  <a:chOff x="-2" y="2718720"/>
                  <a:chExt cx="12204000" cy="360000"/>
                </a:xfrm>
              </p:grpSpPr>
              <p:sp>
                <p:nvSpPr>
                  <p:cNvPr id="15" name="Title 63">
                    <a:extLst>
                      <a:ext uri="{FF2B5EF4-FFF2-40B4-BE49-F238E27FC236}">
                        <a16:creationId xmlns:a16="http://schemas.microsoft.com/office/drawing/2014/main" id="{5F060433-3070-5062-3C5C-C6C6D5E0029A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-2" y="2718720"/>
                    <a:ext cx="720000" cy="360000"/>
                  </a:xfrm>
                  <a:prstGeom prst="rect">
                    <a:avLst/>
                  </a:prstGeom>
                  <a:solidFill>
                    <a:srgbClr val="2D6A87"/>
                  </a:solidFill>
                  <a:ln w="38100">
                    <a:noFill/>
                  </a:ln>
                </p:spPr>
                <p:txBody>
                  <a:bodyPr anchor="ctr">
                    <a:normAutofit/>
                  </a:bodyPr>
                  <a:lstStyle>
                    <a:lvl1pPr algn="l" defTabSz="914400" rtl="0" eaLnBrk="1" latinLnBrk="0" hangingPunct="1">
                      <a:lnSpc>
                        <a:spcPts val="4200"/>
                      </a:lnSpc>
                      <a:spcBef>
                        <a:spcPct val="0"/>
                      </a:spcBef>
                      <a:buNone/>
                      <a:defRPr sz="3200" b="1" kern="1200">
                        <a:solidFill>
                          <a:schemeClr val="bg1"/>
                        </a:solidFill>
                        <a:latin typeface="+mj-lt"/>
                        <a:ea typeface="+mj-ea"/>
                        <a:cs typeface="+mj-cs"/>
                      </a:defRPr>
                    </a:lvl1pPr>
                  </a:lstStyle>
                  <a:p>
                    <a:pPr algn="ctr">
                      <a:lnSpc>
                        <a:spcPct val="100000"/>
                      </a:lnSpc>
                    </a:pPr>
                    <a:r>
                      <a:rPr lang="en-US" sz="1000" b="0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rPr>
                      <a:t>Home</a:t>
                    </a:r>
                  </a:p>
                </p:txBody>
              </p:sp>
              <p:grpSp>
                <p:nvGrpSpPr>
                  <p:cNvPr id="22" name="Group 21">
                    <a:extLst>
                      <a:ext uri="{FF2B5EF4-FFF2-40B4-BE49-F238E27FC236}">
                        <a16:creationId xmlns:a16="http://schemas.microsoft.com/office/drawing/2014/main" id="{33AA3507-F85C-E6CE-7217-02B60D4FE16F}"/>
                      </a:ext>
                    </a:extLst>
                  </p:cNvPr>
                  <p:cNvGrpSpPr/>
                  <p:nvPr/>
                </p:nvGrpSpPr>
                <p:grpSpPr>
                  <a:xfrm>
                    <a:off x="10763998" y="2718720"/>
                    <a:ext cx="1440000" cy="360000"/>
                    <a:chOff x="4102098" y="3429000"/>
                    <a:chExt cx="1440000" cy="360000"/>
                  </a:xfrm>
                </p:grpSpPr>
                <p:sp>
                  <p:nvSpPr>
                    <p:cNvPr id="17" name="Title 63">
                      <a:extLst>
                        <a:ext uri="{FF2B5EF4-FFF2-40B4-BE49-F238E27FC236}">
                          <a16:creationId xmlns:a16="http://schemas.microsoft.com/office/drawing/2014/main" id="{EE696F3D-9883-6A39-AA32-F907E9ED4866}"/>
                        </a:ext>
                      </a:extLst>
                    </p:cNvPr>
                    <p:cNvSpPr txBox="1">
                      <a:spLocks/>
                    </p:cNvSpPr>
                    <p:nvPr/>
                  </p:nvSpPr>
                  <p:spPr>
                    <a:xfrm>
                      <a:off x="4102098" y="3429000"/>
                      <a:ext cx="720000" cy="360000"/>
                    </a:xfrm>
                    <a:prstGeom prst="rect">
                      <a:avLst/>
                    </a:prstGeom>
                    <a:solidFill>
                      <a:srgbClr val="2D6A87"/>
                    </a:solidFill>
                    <a:ln w="38100">
                      <a:noFill/>
                    </a:ln>
                  </p:spPr>
                  <p:txBody>
                    <a:bodyPr anchor="ctr">
                      <a:normAutofit/>
                    </a:bodyPr>
                    <a:lstStyle>
                      <a:lvl1pPr algn="l" defTabSz="914400" rtl="0" eaLnBrk="1" latinLnBrk="0" hangingPunct="1">
                        <a:lnSpc>
                          <a:spcPts val="4200"/>
                        </a:lnSpc>
                        <a:spcBef>
                          <a:spcPct val="0"/>
                        </a:spcBef>
                        <a:buNone/>
                        <a:defRPr sz="3200" b="1" kern="1200">
                          <a:solidFill>
                            <a:schemeClr val="bg1"/>
                          </a:solidFill>
                          <a:latin typeface="+mj-lt"/>
                          <a:ea typeface="+mj-ea"/>
                          <a:cs typeface="+mj-cs"/>
                        </a:defRPr>
                      </a:lvl1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Help</a:t>
                      </a:r>
                    </a:p>
                  </p:txBody>
                </p:sp>
                <p:sp>
                  <p:nvSpPr>
                    <p:cNvPr id="19" name="Title 63">
                      <a:extLst>
                        <a:ext uri="{FF2B5EF4-FFF2-40B4-BE49-F238E27FC236}">
                          <a16:creationId xmlns:a16="http://schemas.microsoft.com/office/drawing/2014/main" id="{FE6F94A0-4B1A-F8D0-8B1E-1CD8D0386994}"/>
                        </a:ext>
                      </a:extLst>
                    </p:cNvPr>
                    <p:cNvSpPr txBox="1">
                      <a:spLocks/>
                    </p:cNvSpPr>
                    <p:nvPr/>
                  </p:nvSpPr>
                  <p:spPr>
                    <a:xfrm>
                      <a:off x="4822098" y="3429000"/>
                      <a:ext cx="720000" cy="360000"/>
                    </a:xfrm>
                    <a:prstGeom prst="rect">
                      <a:avLst/>
                    </a:prstGeom>
                    <a:solidFill>
                      <a:srgbClr val="2D6A87"/>
                    </a:solidFill>
                    <a:ln w="38100">
                      <a:noFill/>
                    </a:ln>
                  </p:spPr>
                  <p:txBody>
                    <a:bodyPr anchor="ctr">
                      <a:normAutofit/>
                    </a:bodyPr>
                    <a:lstStyle>
                      <a:lvl1pPr algn="l" defTabSz="914400" rtl="0" eaLnBrk="1" latinLnBrk="0" hangingPunct="1">
                        <a:lnSpc>
                          <a:spcPts val="4200"/>
                        </a:lnSpc>
                        <a:spcBef>
                          <a:spcPct val="0"/>
                        </a:spcBef>
                        <a:buNone/>
                        <a:defRPr sz="3200" b="1" kern="1200">
                          <a:solidFill>
                            <a:schemeClr val="bg1"/>
                          </a:solidFill>
                          <a:latin typeface="+mj-lt"/>
                          <a:ea typeface="+mj-ea"/>
                          <a:cs typeface="+mj-cs"/>
                        </a:defRPr>
                      </a:lvl1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Logout</a:t>
                      </a:r>
                    </a:p>
                  </p:txBody>
                </p:sp>
              </p:grpSp>
              <p:sp>
                <p:nvSpPr>
                  <p:cNvPr id="21" name="Title 63">
                    <a:extLst>
                      <a:ext uri="{FF2B5EF4-FFF2-40B4-BE49-F238E27FC236}">
                        <a16:creationId xmlns:a16="http://schemas.microsoft.com/office/drawing/2014/main" id="{8074C45B-CAFA-696E-9BCD-F8FD495F7616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3595617" y="2718720"/>
                    <a:ext cx="6445306" cy="360000"/>
                  </a:xfrm>
                  <a:prstGeom prst="rect">
                    <a:avLst/>
                  </a:prstGeom>
                  <a:solidFill>
                    <a:srgbClr val="2D6A87"/>
                  </a:solidFill>
                  <a:ln w="38100">
                    <a:noFill/>
                  </a:ln>
                </p:spPr>
                <p:txBody>
                  <a:bodyPr anchor="ctr">
                    <a:normAutofit/>
                  </a:bodyPr>
                  <a:lstStyle>
                    <a:lvl1pPr algn="l" defTabSz="914400" rtl="0" eaLnBrk="1" latinLnBrk="0" hangingPunct="1">
                      <a:lnSpc>
                        <a:spcPts val="4200"/>
                      </a:lnSpc>
                      <a:spcBef>
                        <a:spcPct val="0"/>
                      </a:spcBef>
                      <a:buNone/>
                      <a:defRPr sz="3200" b="1" kern="1200">
                        <a:solidFill>
                          <a:schemeClr val="bg1"/>
                        </a:solidFill>
                        <a:latin typeface="+mj-lt"/>
                        <a:ea typeface="+mj-ea"/>
                        <a:cs typeface="+mj-cs"/>
                      </a:defRPr>
                    </a:lvl1pPr>
                  </a:lstStyle>
                  <a:p>
                    <a:pPr>
                      <a:lnSpc>
                        <a:spcPct val="100000"/>
                      </a:lnSpc>
                    </a:pPr>
                    <a:endParaRPr lang="en-US" sz="1000" b="0" dirty="0">
                      <a:solidFill>
                        <a:schemeClr val="tx2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+mn-cs"/>
                    </a:endParaRPr>
                  </a:p>
                </p:txBody>
              </p:sp>
            </p:grpSp>
            <p:sp>
              <p:nvSpPr>
                <p:cNvPr id="90" name="Title 63">
                  <a:extLst>
                    <a:ext uri="{FF2B5EF4-FFF2-40B4-BE49-F238E27FC236}">
                      <a16:creationId xmlns:a16="http://schemas.microsoft.com/office/drawing/2014/main" id="{F004C947-BBC1-14F4-49CE-D17E49810A6D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720000" y="936090"/>
                  <a:ext cx="720000" cy="360000"/>
                </a:xfrm>
                <a:prstGeom prst="rect">
                  <a:avLst/>
                </a:prstGeom>
                <a:solidFill>
                  <a:srgbClr val="2D6A87"/>
                </a:solidFill>
                <a:ln w="38100">
                  <a:noFill/>
                </a:ln>
              </p:spPr>
              <p:txBody>
                <a:bodyPr anchor="ctr">
                  <a:normAutofit fontScale="92500" lnSpcReduction="10000"/>
                </a:bodyPr>
                <a:lstStyle>
                  <a:lvl1pPr algn="l" defTabSz="914400" rtl="0" eaLnBrk="1" latinLnBrk="0" hangingPunct="1">
                    <a:lnSpc>
                      <a:spcPts val="4200"/>
                    </a:lnSpc>
                    <a:spcBef>
                      <a:spcPct val="0"/>
                    </a:spcBef>
                    <a:buNone/>
                    <a:defRPr sz="3200" b="1" kern="1200">
                      <a:solidFill>
                        <a:schemeClr val="bg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:pPr algn="ctr">
                    <a:lnSpc>
                      <a:spcPct val="100000"/>
                    </a:lnSpc>
                  </a:pPr>
                  <a:r>
                    <a:rPr lang="en-US" sz="1000" b="0" dirty="0">
                      <a:solidFill>
                        <a:schemeClr val="tx2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+mn-cs"/>
                    </a:rPr>
                    <a:t>Asset Register</a:t>
                  </a:r>
                </a:p>
              </p:txBody>
            </p:sp>
          </p:grpSp>
          <p:sp>
            <p:nvSpPr>
              <p:cNvPr id="32" name="Title 63">
                <a:extLst>
                  <a:ext uri="{FF2B5EF4-FFF2-40B4-BE49-F238E27FC236}">
                    <a16:creationId xmlns:a16="http://schemas.microsoft.com/office/drawing/2014/main" id="{E6FA8D2E-2A82-605D-3C98-B91DE2AD09B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040924" y="934984"/>
                <a:ext cx="720000" cy="360000"/>
              </a:xfrm>
              <a:prstGeom prst="rect">
                <a:avLst/>
              </a:prstGeom>
              <a:solidFill>
                <a:srgbClr val="2D6A87"/>
              </a:solidFill>
              <a:ln w="38100">
                <a:noFill/>
              </a:ln>
            </p:spPr>
            <p:txBody>
              <a:bodyPr anchor="ctr">
                <a:normAutofit fontScale="92500" lnSpcReduction="10000"/>
              </a:bodyPr>
              <a:lstStyle>
                <a:lvl1pPr algn="l" defTabSz="914400" rtl="0" eaLnBrk="1" latinLnBrk="0" hangingPunct="1">
                  <a:lnSpc>
                    <a:spcPts val="4200"/>
                  </a:lnSpc>
                  <a:spcBef>
                    <a:spcPct val="0"/>
                  </a:spcBef>
                  <a:buNone/>
                  <a:defRPr sz="3200" b="1" kern="1200">
                    <a:solidFill>
                      <a:schemeClr val="bg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00000"/>
                  </a:lnSpc>
                </a:pPr>
                <a:r>
                  <a:rPr lang="en-US" sz="1000" b="0" dirty="0">
                    <a:solidFill>
                      <a:schemeClr val="tx2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rPr>
                  <a:t>Account Manager</a:t>
                </a:r>
              </a:p>
            </p:txBody>
          </p:sp>
        </p:grpSp>
        <p:sp>
          <p:nvSpPr>
            <p:cNvPr id="38" name="Title 63">
              <a:extLst>
                <a:ext uri="{FF2B5EF4-FFF2-40B4-BE49-F238E27FC236}">
                  <a16:creationId xmlns:a16="http://schemas.microsoft.com/office/drawing/2014/main" id="{2D76C82C-621D-3D6E-9AE4-8FD98B057408}"/>
                </a:ext>
              </a:extLst>
            </p:cNvPr>
            <p:cNvSpPr txBox="1">
              <a:spLocks/>
            </p:cNvSpPr>
            <p:nvPr/>
          </p:nvSpPr>
          <p:spPr>
            <a:xfrm>
              <a:off x="1437809" y="932141"/>
              <a:ext cx="1440000" cy="360000"/>
            </a:xfrm>
            <a:prstGeom prst="rect">
              <a:avLst/>
            </a:prstGeom>
            <a:solidFill>
              <a:srgbClr val="2D6A87"/>
            </a:solidFill>
            <a:ln w="38100">
              <a:noFill/>
            </a:ln>
          </p:spPr>
          <p:txBody>
            <a:bodyPr anchor="ctr">
              <a:normAutofit fontScale="92500" lnSpcReduction="10000"/>
            </a:bodyPr>
            <a:lstStyle>
              <a:lvl1pPr algn="l" defTabSz="914400" rtl="0" eaLnBrk="1" latinLnBrk="0" hangingPunct="1">
                <a:lnSpc>
                  <a:spcPts val="4200"/>
                </a:lnSpc>
                <a:spcBef>
                  <a:spcPct val="0"/>
                </a:spcBef>
                <a:buNone/>
                <a:defRPr sz="3200" b="1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>
                <a:lnSpc>
                  <a:spcPct val="100000"/>
                </a:lnSpc>
              </a:pPr>
              <a:r>
                <a:rPr lang="en-US" sz="1000" b="0" dirty="0">
                  <a:solidFill>
                    <a:schemeClr val="tx2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Risk Based Inspection Planning</a:t>
              </a:r>
            </a:p>
          </p:txBody>
        </p:sp>
        <p:sp>
          <p:nvSpPr>
            <p:cNvPr id="41" name="Title 63">
              <a:extLst>
                <a:ext uri="{FF2B5EF4-FFF2-40B4-BE49-F238E27FC236}">
                  <a16:creationId xmlns:a16="http://schemas.microsoft.com/office/drawing/2014/main" id="{09F8C117-C9FC-44A8-FA8D-6A89532DC605}"/>
                </a:ext>
              </a:extLst>
            </p:cNvPr>
            <p:cNvSpPr txBox="1">
              <a:spLocks/>
            </p:cNvSpPr>
            <p:nvPr/>
          </p:nvSpPr>
          <p:spPr>
            <a:xfrm>
              <a:off x="2877809" y="932141"/>
              <a:ext cx="720000" cy="360000"/>
            </a:xfrm>
            <a:prstGeom prst="rect">
              <a:avLst/>
            </a:prstGeom>
            <a:solidFill>
              <a:srgbClr val="2D6A87"/>
            </a:solidFill>
            <a:ln w="38100">
              <a:noFill/>
            </a:ln>
          </p:spPr>
          <p:txBody>
            <a:bodyPr anchor="ctr">
              <a:normAutofit fontScale="92500" lnSpcReduction="10000"/>
            </a:bodyPr>
            <a:lstStyle>
              <a:lvl1pPr algn="l" defTabSz="914400" rtl="0" eaLnBrk="1" latinLnBrk="0" hangingPunct="1">
                <a:lnSpc>
                  <a:spcPts val="4200"/>
                </a:lnSpc>
                <a:spcBef>
                  <a:spcPct val="0"/>
                </a:spcBef>
                <a:buNone/>
                <a:defRPr sz="3200" b="1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>
                <a:lnSpc>
                  <a:spcPct val="100000"/>
                </a:lnSpc>
              </a:pPr>
              <a:r>
                <a:rPr lang="en-US" sz="1000" b="0" dirty="0">
                  <a:solidFill>
                    <a:schemeClr val="tx2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Add</a:t>
              </a:r>
            </a:p>
            <a:p>
              <a:pPr algn="ctr">
                <a:lnSpc>
                  <a:spcPct val="100000"/>
                </a:lnSpc>
              </a:pPr>
              <a:r>
                <a:rPr lang="en-US" sz="1000" b="0" dirty="0">
                  <a:solidFill>
                    <a:schemeClr val="tx2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Module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02590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939F8-2832-6363-3DCE-F9C739DC7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itle 63">
            <a:extLst>
              <a:ext uri="{FF2B5EF4-FFF2-40B4-BE49-F238E27FC236}">
                <a16:creationId xmlns:a16="http://schemas.microsoft.com/office/drawing/2014/main" id="{FF90F510-2E55-8C20-B5C3-240671C78EE8}"/>
              </a:ext>
            </a:extLst>
          </p:cNvPr>
          <p:cNvSpPr txBox="1">
            <a:spLocks/>
          </p:cNvSpPr>
          <p:nvPr/>
        </p:nvSpPr>
        <p:spPr>
          <a:xfrm>
            <a:off x="0" y="1462924"/>
            <a:ext cx="2152665" cy="5395076"/>
          </a:xfrm>
          <a:prstGeom prst="rect">
            <a:avLst/>
          </a:prstGeom>
          <a:noFill/>
          <a:ln w="19050">
            <a:solidFill>
              <a:srgbClr val="2D6A87"/>
            </a:solidFill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endParaRPr lang="en-US" sz="1000" b="0" dirty="0">
              <a:solidFill>
                <a:schemeClr val="tx2"/>
              </a:solidFill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29" name="Title 63">
            <a:extLst>
              <a:ext uri="{FF2B5EF4-FFF2-40B4-BE49-F238E27FC236}">
                <a16:creationId xmlns:a16="http://schemas.microsoft.com/office/drawing/2014/main" id="{71288830-17B1-B632-9637-EFAC7C9ACDA4}"/>
              </a:ext>
            </a:extLst>
          </p:cNvPr>
          <p:cNvSpPr txBox="1">
            <a:spLocks/>
          </p:cNvSpPr>
          <p:nvPr/>
        </p:nvSpPr>
        <p:spPr>
          <a:xfrm>
            <a:off x="2160000" y="1462924"/>
            <a:ext cx="7873780" cy="5395076"/>
          </a:xfrm>
          <a:prstGeom prst="rect">
            <a:avLst/>
          </a:prstGeom>
          <a:noFill/>
          <a:ln w="19050">
            <a:solidFill>
              <a:srgbClr val="2D6A87"/>
            </a:solidFill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000" b="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Summary </a:t>
            </a:r>
          </a:p>
        </p:txBody>
      </p:sp>
      <p:sp>
        <p:nvSpPr>
          <p:cNvPr id="76" name="Title 63">
            <a:extLst>
              <a:ext uri="{FF2B5EF4-FFF2-40B4-BE49-F238E27FC236}">
                <a16:creationId xmlns:a16="http://schemas.microsoft.com/office/drawing/2014/main" id="{B111F11B-5A4A-374D-BEFF-2514BD031A97}"/>
              </a:ext>
            </a:extLst>
          </p:cNvPr>
          <p:cNvSpPr txBox="1">
            <a:spLocks/>
          </p:cNvSpPr>
          <p:nvPr/>
        </p:nvSpPr>
        <p:spPr>
          <a:xfrm>
            <a:off x="10026445" y="1797157"/>
            <a:ext cx="2152665" cy="5055282"/>
          </a:xfrm>
          <a:prstGeom prst="rect">
            <a:avLst/>
          </a:prstGeom>
          <a:noFill/>
          <a:ln w="19050">
            <a:solidFill>
              <a:srgbClr val="2D6A87"/>
            </a:solidFill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000" b="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Summary </a:t>
            </a:r>
          </a:p>
        </p:txBody>
      </p:sp>
      <p:sp>
        <p:nvSpPr>
          <p:cNvPr id="2" name="Title 63">
            <a:extLst>
              <a:ext uri="{FF2B5EF4-FFF2-40B4-BE49-F238E27FC236}">
                <a16:creationId xmlns:a16="http://schemas.microsoft.com/office/drawing/2014/main" id="{9AE9DD36-316C-53F5-0E95-CA90FD3CEF6A}"/>
              </a:ext>
            </a:extLst>
          </p:cNvPr>
          <p:cNvSpPr txBox="1">
            <a:spLocks/>
          </p:cNvSpPr>
          <p:nvPr/>
        </p:nvSpPr>
        <p:spPr>
          <a:xfrm>
            <a:off x="-1" y="10690"/>
            <a:ext cx="12192001" cy="900000"/>
          </a:xfrm>
          <a:prstGeom prst="rect">
            <a:avLst/>
          </a:prstGeom>
          <a:solidFill>
            <a:schemeClr val="tx2"/>
          </a:solidFill>
          <a:ln w="3810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2D6A87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Structural Integrity Management System (SIMS)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D608D1-0824-D66D-2F10-0123A95B4E15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2836" r="22678"/>
          <a:stretch>
            <a:fillRect/>
          </a:stretch>
        </p:blipFill>
        <p:spPr>
          <a:xfrm>
            <a:off x="174883" y="103675"/>
            <a:ext cx="691633" cy="714030"/>
          </a:xfrm>
          <a:prstGeom prst="rect">
            <a:avLst/>
          </a:prstGeom>
        </p:spPr>
      </p:pic>
      <p:sp>
        <p:nvSpPr>
          <p:cNvPr id="25" name="Title 63">
            <a:extLst>
              <a:ext uri="{FF2B5EF4-FFF2-40B4-BE49-F238E27FC236}">
                <a16:creationId xmlns:a16="http://schemas.microsoft.com/office/drawing/2014/main" id="{EEC041BB-AE44-89B4-7CBC-DFB461458E66}"/>
              </a:ext>
            </a:extLst>
          </p:cNvPr>
          <p:cNvSpPr txBox="1">
            <a:spLocks/>
          </p:cNvSpPr>
          <p:nvPr/>
        </p:nvSpPr>
        <p:spPr>
          <a:xfrm>
            <a:off x="0" y="1449533"/>
            <a:ext cx="2160000" cy="360000"/>
          </a:xfrm>
          <a:prstGeom prst="rect">
            <a:avLst/>
          </a:prstGeom>
          <a:solidFill>
            <a:srgbClr val="2D6A87"/>
          </a:solidFill>
          <a:ln w="3810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000" b="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Asset Tree </a:t>
            </a:r>
          </a:p>
        </p:txBody>
      </p:sp>
      <p:sp>
        <p:nvSpPr>
          <p:cNvPr id="27" name="Title 63">
            <a:extLst>
              <a:ext uri="{FF2B5EF4-FFF2-40B4-BE49-F238E27FC236}">
                <a16:creationId xmlns:a16="http://schemas.microsoft.com/office/drawing/2014/main" id="{E100EA1E-25E6-BE5C-3432-844487BC328B}"/>
              </a:ext>
            </a:extLst>
          </p:cNvPr>
          <p:cNvSpPr txBox="1">
            <a:spLocks/>
          </p:cNvSpPr>
          <p:nvPr/>
        </p:nvSpPr>
        <p:spPr>
          <a:xfrm>
            <a:off x="10033780" y="1449533"/>
            <a:ext cx="2160000" cy="360000"/>
          </a:xfrm>
          <a:prstGeom prst="rect">
            <a:avLst/>
          </a:prstGeom>
          <a:solidFill>
            <a:srgbClr val="2D6A87"/>
          </a:solidFill>
          <a:ln w="3810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000" b="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Description</a:t>
            </a:r>
          </a:p>
        </p:txBody>
      </p:sp>
      <p:sp>
        <p:nvSpPr>
          <p:cNvPr id="31" name="Title 63">
            <a:extLst>
              <a:ext uri="{FF2B5EF4-FFF2-40B4-BE49-F238E27FC236}">
                <a16:creationId xmlns:a16="http://schemas.microsoft.com/office/drawing/2014/main" id="{9BD394BC-3F88-96E8-CD7C-BF9B918BEE2F}"/>
              </a:ext>
            </a:extLst>
          </p:cNvPr>
          <p:cNvSpPr txBox="1">
            <a:spLocks/>
          </p:cNvSpPr>
          <p:nvPr/>
        </p:nvSpPr>
        <p:spPr>
          <a:xfrm>
            <a:off x="0" y="1809532"/>
            <a:ext cx="2160000" cy="5037778"/>
          </a:xfrm>
          <a:prstGeom prst="rect">
            <a:avLst/>
          </a:prstGeom>
          <a:noFill/>
          <a:ln w="38100">
            <a:noFill/>
          </a:ln>
        </p:spPr>
        <p:txBody>
          <a:bodyPr anchor="t">
            <a:no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 Gas Purification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&gt;</a:t>
            </a: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Plant 2 Dehydration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&gt;</a:t>
            </a: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Plant 3 Fractionation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4 Refrigeration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5 Liquefaction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6 Condensate Stripping ...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15 LPG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16 Condensate Stabilize ... 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highlight>
                  <a:srgbClr val="6E98A7"/>
                </a:highlight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17 LPG Storage and Loa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17D-1/Q-1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17D-2/Q-1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17D-3/Q-1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17D-4/Q-1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17D-5/Q-1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+ add asset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19 Relief &amp; Blowdown S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20 Condensate Storage ...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20D-4/Q-1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     20D-5/Q-1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     20D-6/Q-1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+ add asset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21 Feed Gas Knockout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22 Marine Structures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24 LNG Storage and Loa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25 Fueling Facility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26 LPG Filling Station … &gt;Propane and Butane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27 Oxygen Plant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28 Acetylene Plant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29 Nitrogen Generation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30 Electrical </a:t>
            </a:r>
            <a:r>
              <a:rPr lang="en-US" sz="8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Distributio</a:t>
            </a: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31 Steam &amp; Power Gen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32 Seawater Cooling 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33 Fire Protection System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34 Liquid Waste System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35 Compressed Air System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36 Water Treatment Sy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37 Communication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+ add Plant</a:t>
            </a:r>
          </a:p>
        </p:txBody>
      </p:sp>
      <p:sp>
        <p:nvSpPr>
          <p:cNvPr id="37" name="Title 63">
            <a:extLst>
              <a:ext uri="{FF2B5EF4-FFF2-40B4-BE49-F238E27FC236}">
                <a16:creationId xmlns:a16="http://schemas.microsoft.com/office/drawing/2014/main" id="{14C0C021-FAFE-37CA-9FCB-5A6FD9B6EB76}"/>
              </a:ext>
            </a:extLst>
          </p:cNvPr>
          <p:cNvSpPr txBox="1">
            <a:spLocks/>
          </p:cNvSpPr>
          <p:nvPr/>
        </p:nvSpPr>
        <p:spPr>
          <a:xfrm>
            <a:off x="10041115" y="1806682"/>
            <a:ext cx="2160000" cy="5037778"/>
          </a:xfrm>
          <a:prstGeom prst="rect">
            <a:avLst/>
          </a:prstGeom>
          <a:noFill/>
          <a:ln w="38100">
            <a:noFill/>
          </a:ln>
        </p:spPr>
        <p:txBody>
          <a:bodyPr anchor="t">
            <a:no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endParaRPr lang="en-US" sz="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  <a:p>
            <a:pPr>
              <a:lnSpc>
                <a:spcPct val="100000"/>
              </a:lnSpc>
            </a:pPr>
            <a:endParaRPr lang="en-US" sz="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9E9A51B-90DB-4925-31E4-23BB3B26EDD0}"/>
              </a:ext>
            </a:extLst>
          </p:cNvPr>
          <p:cNvGrpSpPr/>
          <p:nvPr/>
        </p:nvGrpSpPr>
        <p:grpSpPr>
          <a:xfrm>
            <a:off x="216151" y="3948414"/>
            <a:ext cx="73594" cy="324419"/>
            <a:chOff x="216151" y="3221023"/>
            <a:chExt cx="73594" cy="324419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A5FE87A9-EF4F-2F7E-C1B4-7B3C3A321750}"/>
                </a:ext>
              </a:extLst>
            </p:cNvPr>
            <p:cNvSpPr/>
            <p:nvPr/>
          </p:nvSpPr>
          <p:spPr>
            <a:xfrm>
              <a:off x="217745" y="3346913"/>
              <a:ext cx="72000" cy="72000"/>
            </a:xfrm>
            <a:prstGeom prst="rect">
              <a:avLst/>
            </a:prstGeom>
            <a:solidFill>
              <a:schemeClr val="bg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0EFA3432-DB57-BFEF-0E72-BD78CFAB7F7A}"/>
                </a:ext>
              </a:extLst>
            </p:cNvPr>
            <p:cNvSpPr/>
            <p:nvPr/>
          </p:nvSpPr>
          <p:spPr>
            <a:xfrm>
              <a:off x="217745" y="3473442"/>
              <a:ext cx="72000" cy="72000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75AF9551-AA4C-DC17-F856-7B7FBAD89D8C}"/>
                </a:ext>
              </a:extLst>
            </p:cNvPr>
            <p:cNvSpPr/>
            <p:nvPr/>
          </p:nvSpPr>
          <p:spPr>
            <a:xfrm>
              <a:off x="216151" y="3221023"/>
              <a:ext cx="72000" cy="720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sp>
        <p:nvSpPr>
          <p:cNvPr id="7" name="Title 63">
            <a:extLst>
              <a:ext uri="{FF2B5EF4-FFF2-40B4-BE49-F238E27FC236}">
                <a16:creationId xmlns:a16="http://schemas.microsoft.com/office/drawing/2014/main" id="{CB6CE161-4096-D097-F120-1A5688B46D19}"/>
              </a:ext>
            </a:extLst>
          </p:cNvPr>
          <p:cNvSpPr txBox="1">
            <a:spLocks/>
          </p:cNvSpPr>
          <p:nvPr/>
        </p:nvSpPr>
        <p:spPr>
          <a:xfrm>
            <a:off x="2157809" y="1449533"/>
            <a:ext cx="7873779" cy="360000"/>
          </a:xfrm>
          <a:prstGeom prst="rect">
            <a:avLst/>
          </a:prstGeom>
          <a:solidFill>
            <a:srgbClr val="2D6A87"/>
          </a:solidFill>
          <a:ln w="3810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1000" b="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Plant 17: LPG Storage and Loading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DBDCED15-F491-4658-4862-54EBCF9CC5CD}"/>
              </a:ext>
            </a:extLst>
          </p:cNvPr>
          <p:cNvGrpSpPr/>
          <p:nvPr/>
        </p:nvGrpSpPr>
        <p:grpSpPr>
          <a:xfrm>
            <a:off x="3020557" y="2016304"/>
            <a:ext cx="6120000" cy="4616707"/>
            <a:chOff x="2283337" y="1962976"/>
            <a:chExt cx="6120000" cy="461670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8D8F06A-3281-B1A9-6FA9-32DC0E1FA92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283337" y="1962976"/>
              <a:ext cx="6120000" cy="4616707"/>
            </a:xfrm>
            <a:prstGeom prst="rect">
              <a:avLst/>
            </a:prstGeom>
          </p:spPr>
        </p:pic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FFF7415C-379B-8439-0386-B7589DB440CD}"/>
                </a:ext>
              </a:extLst>
            </p:cNvPr>
            <p:cNvGrpSpPr/>
            <p:nvPr/>
          </p:nvGrpSpPr>
          <p:grpSpPr>
            <a:xfrm>
              <a:off x="4025245" y="2687284"/>
              <a:ext cx="720000" cy="720000"/>
              <a:chOff x="4025245" y="2649576"/>
              <a:chExt cx="720000" cy="720000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AC368B28-3DAB-89ED-183F-9AAE0D14EB1A}"/>
                  </a:ext>
                </a:extLst>
              </p:cNvPr>
              <p:cNvSpPr/>
              <p:nvPr/>
            </p:nvSpPr>
            <p:spPr>
              <a:xfrm>
                <a:off x="4025245" y="2649576"/>
                <a:ext cx="720000" cy="180000"/>
              </a:xfrm>
              <a:prstGeom prst="rect">
                <a:avLst/>
              </a:prstGeom>
              <a:ln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600" dirty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17D-4/Q-1</a:t>
                </a:r>
                <a:endParaRPr lang="en-ID" sz="600" dirty="0">
                  <a:solidFill>
                    <a:schemeClr val="tx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80D488CC-7298-3720-82DA-28BBF5D3F028}"/>
                  </a:ext>
                </a:extLst>
              </p:cNvPr>
              <p:cNvCxnSpPr>
                <a:stCxn id="13" idx="2"/>
              </p:cNvCxnSpPr>
              <p:nvPr/>
            </p:nvCxnSpPr>
            <p:spPr>
              <a:xfrm>
                <a:off x="4385245" y="2829576"/>
                <a:ext cx="0" cy="54000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9EA3BFB6-A05D-8C20-BB96-E7964FE5C198}"/>
                </a:ext>
              </a:extLst>
            </p:cNvPr>
            <p:cNvGrpSpPr/>
            <p:nvPr/>
          </p:nvGrpSpPr>
          <p:grpSpPr>
            <a:xfrm>
              <a:off x="4562306" y="3176168"/>
              <a:ext cx="720000" cy="720000"/>
              <a:chOff x="4025245" y="2649576"/>
              <a:chExt cx="720000" cy="720000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27AA3055-990A-C28A-1705-00E77FECE5CD}"/>
                  </a:ext>
                </a:extLst>
              </p:cNvPr>
              <p:cNvSpPr/>
              <p:nvPr/>
            </p:nvSpPr>
            <p:spPr>
              <a:xfrm>
                <a:off x="4025245" y="2649576"/>
                <a:ext cx="720000" cy="180000"/>
              </a:xfrm>
              <a:prstGeom prst="rect">
                <a:avLst/>
              </a:prstGeom>
              <a:ln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600" dirty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17D-3/Q-1</a:t>
                </a:r>
                <a:endParaRPr lang="en-ID" sz="600" dirty="0">
                  <a:solidFill>
                    <a:schemeClr val="tx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C2795727-12B1-B965-7D5D-708632441E3A}"/>
                  </a:ext>
                </a:extLst>
              </p:cNvPr>
              <p:cNvCxnSpPr>
                <a:stCxn id="28" idx="2"/>
              </p:cNvCxnSpPr>
              <p:nvPr/>
            </p:nvCxnSpPr>
            <p:spPr>
              <a:xfrm>
                <a:off x="4385245" y="2829576"/>
                <a:ext cx="0" cy="54000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CCD79776-FDE2-EAE0-F9B3-DC109E347A40}"/>
                </a:ext>
              </a:extLst>
            </p:cNvPr>
            <p:cNvGrpSpPr/>
            <p:nvPr/>
          </p:nvGrpSpPr>
          <p:grpSpPr>
            <a:xfrm>
              <a:off x="5099367" y="3591359"/>
              <a:ext cx="720000" cy="720000"/>
              <a:chOff x="4025245" y="2649576"/>
              <a:chExt cx="720000" cy="720000"/>
            </a:xfrm>
          </p:grpSpPr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12461BA9-A803-52A0-D6CA-76FDB9A87A39}"/>
                  </a:ext>
                </a:extLst>
              </p:cNvPr>
              <p:cNvSpPr/>
              <p:nvPr/>
            </p:nvSpPr>
            <p:spPr>
              <a:xfrm>
                <a:off x="4025245" y="2649576"/>
                <a:ext cx="720000" cy="180000"/>
              </a:xfrm>
              <a:prstGeom prst="rect">
                <a:avLst/>
              </a:prstGeom>
              <a:ln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600" dirty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17D-2/Q-1</a:t>
                </a:r>
                <a:endParaRPr lang="en-ID" sz="600" dirty="0">
                  <a:solidFill>
                    <a:schemeClr val="tx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6D2095AD-30B1-DF95-021E-FDC4158F801C}"/>
                  </a:ext>
                </a:extLst>
              </p:cNvPr>
              <p:cNvCxnSpPr>
                <a:stCxn id="33" idx="2"/>
              </p:cNvCxnSpPr>
              <p:nvPr/>
            </p:nvCxnSpPr>
            <p:spPr>
              <a:xfrm>
                <a:off x="4385245" y="2829576"/>
                <a:ext cx="0" cy="54000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E0ABE745-0563-920F-12F3-77093A50A7AF}"/>
                </a:ext>
              </a:extLst>
            </p:cNvPr>
            <p:cNvGrpSpPr/>
            <p:nvPr/>
          </p:nvGrpSpPr>
          <p:grpSpPr>
            <a:xfrm>
              <a:off x="5636428" y="4083553"/>
              <a:ext cx="720000" cy="720000"/>
              <a:chOff x="4025245" y="2649576"/>
              <a:chExt cx="720000" cy="720000"/>
            </a:xfrm>
          </p:grpSpPr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3AB6EFF1-8B06-384A-A725-63583B96EDCA}"/>
                  </a:ext>
                </a:extLst>
              </p:cNvPr>
              <p:cNvSpPr/>
              <p:nvPr/>
            </p:nvSpPr>
            <p:spPr>
              <a:xfrm>
                <a:off x="4025245" y="2649576"/>
                <a:ext cx="720000" cy="180000"/>
              </a:xfrm>
              <a:prstGeom prst="rect">
                <a:avLst/>
              </a:prstGeom>
              <a:ln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600" dirty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17D-1/Q-1</a:t>
                </a:r>
                <a:endParaRPr lang="en-ID" sz="600" dirty="0">
                  <a:solidFill>
                    <a:schemeClr val="tx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FB08EF36-B13D-F389-519A-CCA6ECD56B96}"/>
                  </a:ext>
                </a:extLst>
              </p:cNvPr>
              <p:cNvCxnSpPr>
                <a:stCxn id="36" idx="2"/>
              </p:cNvCxnSpPr>
              <p:nvPr/>
            </p:nvCxnSpPr>
            <p:spPr>
              <a:xfrm>
                <a:off x="4385245" y="2829576"/>
                <a:ext cx="0" cy="54000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C753B127-FB20-727B-D845-9319AB63BA10}"/>
                </a:ext>
              </a:extLst>
            </p:cNvPr>
            <p:cNvGrpSpPr/>
            <p:nvPr/>
          </p:nvGrpSpPr>
          <p:grpSpPr>
            <a:xfrm>
              <a:off x="6671609" y="2941942"/>
              <a:ext cx="720000" cy="720000"/>
              <a:chOff x="4025245" y="2649576"/>
              <a:chExt cx="720000" cy="720000"/>
            </a:xfrm>
          </p:grpSpPr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8AC3CE1E-7683-3FD4-AB4C-EDC94C976ADB}"/>
                  </a:ext>
                </a:extLst>
              </p:cNvPr>
              <p:cNvSpPr/>
              <p:nvPr/>
            </p:nvSpPr>
            <p:spPr>
              <a:xfrm>
                <a:off x="4025245" y="2649576"/>
                <a:ext cx="720000" cy="180000"/>
              </a:xfrm>
              <a:prstGeom prst="rect">
                <a:avLst/>
              </a:prstGeom>
              <a:ln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600" dirty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17D-5/Q-1</a:t>
                </a:r>
                <a:endParaRPr lang="en-ID" sz="600" dirty="0">
                  <a:solidFill>
                    <a:schemeClr val="tx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E2051AF2-1098-DFE7-0FB6-71098B5FE891}"/>
                  </a:ext>
                </a:extLst>
              </p:cNvPr>
              <p:cNvCxnSpPr>
                <a:stCxn id="41" idx="2"/>
              </p:cNvCxnSpPr>
              <p:nvPr/>
            </p:nvCxnSpPr>
            <p:spPr>
              <a:xfrm>
                <a:off x="4385245" y="2829576"/>
                <a:ext cx="0" cy="54000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F1FC390C-F635-72FE-3551-70CDAF764C91}"/>
              </a:ext>
            </a:extLst>
          </p:cNvPr>
          <p:cNvGrpSpPr/>
          <p:nvPr/>
        </p:nvGrpSpPr>
        <p:grpSpPr>
          <a:xfrm>
            <a:off x="214557" y="2975994"/>
            <a:ext cx="73594" cy="324419"/>
            <a:chOff x="216151" y="3221023"/>
            <a:chExt cx="73594" cy="324419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D8C71FBD-52C4-C80F-6807-B3388C5FAA4B}"/>
                </a:ext>
              </a:extLst>
            </p:cNvPr>
            <p:cNvSpPr/>
            <p:nvPr/>
          </p:nvSpPr>
          <p:spPr>
            <a:xfrm>
              <a:off x="217745" y="3346913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616B14EA-6455-390D-B67D-FB72F2ACA381}"/>
                </a:ext>
              </a:extLst>
            </p:cNvPr>
            <p:cNvSpPr/>
            <p:nvPr/>
          </p:nvSpPr>
          <p:spPr>
            <a:xfrm>
              <a:off x="217745" y="3473442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586ECF3C-3960-63F2-B161-F33DD72B6CC3}"/>
                </a:ext>
              </a:extLst>
            </p:cNvPr>
            <p:cNvSpPr/>
            <p:nvPr/>
          </p:nvSpPr>
          <p:spPr>
            <a:xfrm>
              <a:off x="216151" y="3221023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C0D777D8-160A-37D0-5857-2D8B85042E0F}"/>
              </a:ext>
            </a:extLst>
          </p:cNvPr>
          <p:cNvGrpSpPr/>
          <p:nvPr/>
        </p:nvGrpSpPr>
        <p:grpSpPr>
          <a:xfrm>
            <a:off x="214557" y="3346544"/>
            <a:ext cx="73594" cy="197890"/>
            <a:chOff x="216151" y="3221023"/>
            <a:chExt cx="73594" cy="197890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0A820257-B6DC-8297-B83B-D81CE57AA02C}"/>
                </a:ext>
              </a:extLst>
            </p:cNvPr>
            <p:cNvSpPr/>
            <p:nvPr/>
          </p:nvSpPr>
          <p:spPr>
            <a:xfrm>
              <a:off x="217745" y="3346913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6C228AAE-F680-6132-E33F-96B929CDEB83}"/>
                </a:ext>
              </a:extLst>
            </p:cNvPr>
            <p:cNvSpPr/>
            <p:nvPr/>
          </p:nvSpPr>
          <p:spPr>
            <a:xfrm>
              <a:off x="216151" y="3221023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graphicFrame>
        <p:nvGraphicFramePr>
          <p:cNvPr id="84" name="Table 83">
            <a:extLst>
              <a:ext uri="{FF2B5EF4-FFF2-40B4-BE49-F238E27FC236}">
                <a16:creationId xmlns:a16="http://schemas.microsoft.com/office/drawing/2014/main" id="{78414E18-8761-D012-5F35-707F55914A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6539214"/>
              </p:ext>
            </p:extLst>
          </p:nvPr>
        </p:nvGraphicFramePr>
        <p:xfrm>
          <a:off x="10137785" y="2032491"/>
          <a:ext cx="1929983" cy="55621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58408">
                  <a:extLst>
                    <a:ext uri="{9D8B030D-6E8A-4147-A177-3AD203B41FA5}">
                      <a16:colId xmlns:a16="http://schemas.microsoft.com/office/drawing/2014/main" val="1360728645"/>
                    </a:ext>
                  </a:extLst>
                </a:gridCol>
                <a:gridCol w="1171575">
                  <a:extLst>
                    <a:ext uri="{9D8B030D-6E8A-4147-A177-3AD203B41FA5}">
                      <a16:colId xmlns:a16="http://schemas.microsoft.com/office/drawing/2014/main" val="2423881929"/>
                    </a:ext>
                  </a:extLst>
                </a:gridCol>
              </a:tblGrid>
              <a:tr h="220938"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Plant Code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17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3713751"/>
                  </a:ext>
                </a:extLst>
              </a:tr>
              <a:tr h="220938"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Plant Desc.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LPG Storage and Loading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5922342"/>
                  </a:ext>
                </a:extLst>
              </a:tr>
            </a:tbl>
          </a:graphicData>
        </a:graphic>
      </p:graphicFrame>
      <p:pic>
        <p:nvPicPr>
          <p:cNvPr id="91" name="Picture 90">
            <a:extLst>
              <a:ext uri="{FF2B5EF4-FFF2-40B4-BE49-F238E27FC236}">
                <a16:creationId xmlns:a16="http://schemas.microsoft.com/office/drawing/2014/main" id="{4CD79673-38D6-B6D0-1D1C-2EE22AE1D5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2050278" y="2733619"/>
            <a:ext cx="360000" cy="323076"/>
          </a:xfrm>
          <a:prstGeom prst="ellipse">
            <a:avLst/>
          </a:prstGeom>
          <a:ln w="3175" cap="rnd">
            <a:solidFill>
              <a:srgbClr val="00B050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grpSp>
        <p:nvGrpSpPr>
          <p:cNvPr id="93" name="Group 92">
            <a:extLst>
              <a:ext uri="{FF2B5EF4-FFF2-40B4-BE49-F238E27FC236}">
                <a16:creationId xmlns:a16="http://schemas.microsoft.com/office/drawing/2014/main" id="{7754B9F6-DE75-8E60-B448-AEB5046F9DAF}"/>
              </a:ext>
            </a:extLst>
          </p:cNvPr>
          <p:cNvGrpSpPr/>
          <p:nvPr/>
        </p:nvGrpSpPr>
        <p:grpSpPr>
          <a:xfrm>
            <a:off x="0" y="932141"/>
            <a:ext cx="12204000" cy="363949"/>
            <a:chOff x="0" y="932141"/>
            <a:chExt cx="12204000" cy="363949"/>
          </a:xfrm>
        </p:grpSpPr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66FC0557-5172-60CA-A52A-B6937F558DFC}"/>
                </a:ext>
              </a:extLst>
            </p:cNvPr>
            <p:cNvGrpSpPr/>
            <p:nvPr/>
          </p:nvGrpSpPr>
          <p:grpSpPr>
            <a:xfrm>
              <a:off x="0" y="934984"/>
              <a:ext cx="12204000" cy="361106"/>
              <a:chOff x="0" y="934984"/>
              <a:chExt cx="12204000" cy="361106"/>
            </a:xfrm>
          </p:grpSpPr>
          <p:grpSp>
            <p:nvGrpSpPr>
              <p:cNvPr id="97" name="Group 96">
                <a:extLst>
                  <a:ext uri="{FF2B5EF4-FFF2-40B4-BE49-F238E27FC236}">
                    <a16:creationId xmlns:a16="http://schemas.microsoft.com/office/drawing/2014/main" id="{908107A2-36DF-538B-76BF-3B0EDD9FE4D4}"/>
                  </a:ext>
                </a:extLst>
              </p:cNvPr>
              <p:cNvGrpSpPr/>
              <p:nvPr/>
            </p:nvGrpSpPr>
            <p:grpSpPr>
              <a:xfrm>
                <a:off x="0" y="936090"/>
                <a:ext cx="12204000" cy="360000"/>
                <a:chOff x="0" y="936090"/>
                <a:chExt cx="12204000" cy="3600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6601CCE6-C3B2-F8A0-0A9A-E9C1C78DF68E}"/>
                    </a:ext>
                  </a:extLst>
                </p:cNvPr>
                <p:cNvGrpSpPr/>
                <p:nvPr/>
              </p:nvGrpSpPr>
              <p:grpSpPr>
                <a:xfrm>
                  <a:off x="0" y="936090"/>
                  <a:ext cx="12204000" cy="360000"/>
                  <a:chOff x="-2" y="2718720"/>
                  <a:chExt cx="12204000" cy="360000"/>
                </a:xfrm>
              </p:grpSpPr>
              <p:sp>
                <p:nvSpPr>
                  <p:cNvPr id="101" name="Title 63">
                    <a:extLst>
                      <a:ext uri="{FF2B5EF4-FFF2-40B4-BE49-F238E27FC236}">
                        <a16:creationId xmlns:a16="http://schemas.microsoft.com/office/drawing/2014/main" id="{99BCD974-F8D0-BCB1-6728-9522806515AB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-2" y="2718720"/>
                    <a:ext cx="720000" cy="360000"/>
                  </a:xfrm>
                  <a:prstGeom prst="rect">
                    <a:avLst/>
                  </a:prstGeom>
                  <a:solidFill>
                    <a:srgbClr val="2D6A87"/>
                  </a:solidFill>
                  <a:ln w="38100">
                    <a:noFill/>
                  </a:ln>
                </p:spPr>
                <p:txBody>
                  <a:bodyPr anchor="ctr">
                    <a:normAutofit/>
                  </a:bodyPr>
                  <a:lstStyle>
                    <a:lvl1pPr algn="l" defTabSz="914400" rtl="0" eaLnBrk="1" latinLnBrk="0" hangingPunct="1">
                      <a:lnSpc>
                        <a:spcPts val="4200"/>
                      </a:lnSpc>
                      <a:spcBef>
                        <a:spcPct val="0"/>
                      </a:spcBef>
                      <a:buNone/>
                      <a:defRPr sz="3200" b="1" kern="1200">
                        <a:solidFill>
                          <a:schemeClr val="bg1"/>
                        </a:solidFill>
                        <a:latin typeface="+mj-lt"/>
                        <a:ea typeface="+mj-ea"/>
                        <a:cs typeface="+mj-cs"/>
                      </a:defRPr>
                    </a:lvl1pPr>
                  </a:lstStyle>
                  <a:p>
                    <a:pPr algn="ctr">
                      <a:lnSpc>
                        <a:spcPct val="100000"/>
                      </a:lnSpc>
                    </a:pPr>
                    <a:r>
                      <a:rPr lang="en-US" sz="1000" b="0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rPr>
                      <a:t>Home</a:t>
                    </a:r>
                  </a:p>
                </p:txBody>
              </p:sp>
              <p:grpSp>
                <p:nvGrpSpPr>
                  <p:cNvPr id="102" name="Group 101">
                    <a:extLst>
                      <a:ext uri="{FF2B5EF4-FFF2-40B4-BE49-F238E27FC236}">
                        <a16:creationId xmlns:a16="http://schemas.microsoft.com/office/drawing/2014/main" id="{D16BA73F-DB07-C004-AB36-62D297ABDFFF}"/>
                      </a:ext>
                    </a:extLst>
                  </p:cNvPr>
                  <p:cNvGrpSpPr/>
                  <p:nvPr/>
                </p:nvGrpSpPr>
                <p:grpSpPr>
                  <a:xfrm>
                    <a:off x="10763998" y="2718720"/>
                    <a:ext cx="1440000" cy="360000"/>
                    <a:chOff x="4102098" y="3429000"/>
                    <a:chExt cx="1440000" cy="360000"/>
                  </a:xfrm>
                </p:grpSpPr>
                <p:sp>
                  <p:nvSpPr>
                    <p:cNvPr id="104" name="Title 63">
                      <a:extLst>
                        <a:ext uri="{FF2B5EF4-FFF2-40B4-BE49-F238E27FC236}">
                          <a16:creationId xmlns:a16="http://schemas.microsoft.com/office/drawing/2014/main" id="{1D343234-4775-FA2D-0D17-778A1E72788B}"/>
                        </a:ext>
                      </a:extLst>
                    </p:cNvPr>
                    <p:cNvSpPr txBox="1">
                      <a:spLocks/>
                    </p:cNvSpPr>
                    <p:nvPr/>
                  </p:nvSpPr>
                  <p:spPr>
                    <a:xfrm>
                      <a:off x="4102098" y="3429000"/>
                      <a:ext cx="720000" cy="360000"/>
                    </a:xfrm>
                    <a:prstGeom prst="rect">
                      <a:avLst/>
                    </a:prstGeom>
                    <a:solidFill>
                      <a:srgbClr val="2D6A87"/>
                    </a:solidFill>
                    <a:ln w="38100">
                      <a:noFill/>
                    </a:ln>
                  </p:spPr>
                  <p:txBody>
                    <a:bodyPr anchor="ctr">
                      <a:normAutofit/>
                    </a:bodyPr>
                    <a:lstStyle>
                      <a:lvl1pPr algn="l" defTabSz="914400" rtl="0" eaLnBrk="1" latinLnBrk="0" hangingPunct="1">
                        <a:lnSpc>
                          <a:spcPts val="4200"/>
                        </a:lnSpc>
                        <a:spcBef>
                          <a:spcPct val="0"/>
                        </a:spcBef>
                        <a:buNone/>
                        <a:defRPr sz="3200" b="1" kern="1200">
                          <a:solidFill>
                            <a:schemeClr val="bg1"/>
                          </a:solidFill>
                          <a:latin typeface="+mj-lt"/>
                          <a:ea typeface="+mj-ea"/>
                          <a:cs typeface="+mj-cs"/>
                        </a:defRPr>
                      </a:lvl1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Help</a:t>
                      </a:r>
                    </a:p>
                  </p:txBody>
                </p:sp>
                <p:sp>
                  <p:nvSpPr>
                    <p:cNvPr id="105" name="Title 63">
                      <a:extLst>
                        <a:ext uri="{FF2B5EF4-FFF2-40B4-BE49-F238E27FC236}">
                          <a16:creationId xmlns:a16="http://schemas.microsoft.com/office/drawing/2014/main" id="{51CFFFD6-387E-0B13-6645-AFDF69D6ABC6}"/>
                        </a:ext>
                      </a:extLst>
                    </p:cNvPr>
                    <p:cNvSpPr txBox="1">
                      <a:spLocks/>
                    </p:cNvSpPr>
                    <p:nvPr/>
                  </p:nvSpPr>
                  <p:spPr>
                    <a:xfrm>
                      <a:off x="4822098" y="3429000"/>
                      <a:ext cx="720000" cy="360000"/>
                    </a:xfrm>
                    <a:prstGeom prst="rect">
                      <a:avLst/>
                    </a:prstGeom>
                    <a:solidFill>
                      <a:srgbClr val="2D6A87"/>
                    </a:solidFill>
                    <a:ln w="38100">
                      <a:noFill/>
                    </a:ln>
                  </p:spPr>
                  <p:txBody>
                    <a:bodyPr anchor="ctr">
                      <a:normAutofit/>
                    </a:bodyPr>
                    <a:lstStyle>
                      <a:lvl1pPr algn="l" defTabSz="914400" rtl="0" eaLnBrk="1" latinLnBrk="0" hangingPunct="1">
                        <a:lnSpc>
                          <a:spcPts val="4200"/>
                        </a:lnSpc>
                        <a:spcBef>
                          <a:spcPct val="0"/>
                        </a:spcBef>
                        <a:buNone/>
                        <a:defRPr sz="3200" b="1" kern="1200">
                          <a:solidFill>
                            <a:schemeClr val="bg1"/>
                          </a:solidFill>
                          <a:latin typeface="+mj-lt"/>
                          <a:ea typeface="+mj-ea"/>
                          <a:cs typeface="+mj-cs"/>
                        </a:defRPr>
                      </a:lvl1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Logout</a:t>
                      </a:r>
                    </a:p>
                  </p:txBody>
                </p:sp>
              </p:grpSp>
              <p:sp>
                <p:nvSpPr>
                  <p:cNvPr id="103" name="Title 63">
                    <a:extLst>
                      <a:ext uri="{FF2B5EF4-FFF2-40B4-BE49-F238E27FC236}">
                        <a16:creationId xmlns:a16="http://schemas.microsoft.com/office/drawing/2014/main" id="{44956AF4-A2A2-F7CE-CF97-727E57842BD7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3595617" y="2718720"/>
                    <a:ext cx="6445306" cy="360000"/>
                  </a:xfrm>
                  <a:prstGeom prst="rect">
                    <a:avLst/>
                  </a:prstGeom>
                  <a:solidFill>
                    <a:srgbClr val="2D6A87"/>
                  </a:solidFill>
                  <a:ln w="38100">
                    <a:noFill/>
                  </a:ln>
                </p:spPr>
                <p:txBody>
                  <a:bodyPr anchor="ctr">
                    <a:normAutofit/>
                  </a:bodyPr>
                  <a:lstStyle>
                    <a:lvl1pPr algn="l" defTabSz="914400" rtl="0" eaLnBrk="1" latinLnBrk="0" hangingPunct="1">
                      <a:lnSpc>
                        <a:spcPts val="4200"/>
                      </a:lnSpc>
                      <a:spcBef>
                        <a:spcPct val="0"/>
                      </a:spcBef>
                      <a:buNone/>
                      <a:defRPr sz="3200" b="1" kern="1200">
                        <a:solidFill>
                          <a:schemeClr val="bg1"/>
                        </a:solidFill>
                        <a:latin typeface="+mj-lt"/>
                        <a:ea typeface="+mj-ea"/>
                        <a:cs typeface="+mj-cs"/>
                      </a:defRPr>
                    </a:lvl1pPr>
                  </a:lstStyle>
                  <a:p>
                    <a:pPr>
                      <a:lnSpc>
                        <a:spcPct val="100000"/>
                      </a:lnSpc>
                    </a:pPr>
                    <a:endParaRPr lang="en-US" sz="1000" b="0" dirty="0">
                      <a:solidFill>
                        <a:schemeClr val="tx2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+mn-cs"/>
                    </a:endParaRPr>
                  </a:p>
                </p:txBody>
              </p:sp>
            </p:grpSp>
            <p:sp>
              <p:nvSpPr>
                <p:cNvPr id="100" name="Title 63">
                  <a:extLst>
                    <a:ext uri="{FF2B5EF4-FFF2-40B4-BE49-F238E27FC236}">
                      <a16:creationId xmlns:a16="http://schemas.microsoft.com/office/drawing/2014/main" id="{8CF74BA5-49E5-952A-E319-927FAB6B9814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720000" y="936090"/>
                  <a:ext cx="720000" cy="360000"/>
                </a:xfrm>
                <a:prstGeom prst="rect">
                  <a:avLst/>
                </a:prstGeom>
                <a:solidFill>
                  <a:srgbClr val="2D6A87"/>
                </a:solidFill>
                <a:ln w="38100">
                  <a:noFill/>
                </a:ln>
              </p:spPr>
              <p:txBody>
                <a:bodyPr anchor="ctr">
                  <a:normAutofit fontScale="92500" lnSpcReduction="10000"/>
                </a:bodyPr>
                <a:lstStyle>
                  <a:lvl1pPr algn="l" defTabSz="914400" rtl="0" eaLnBrk="1" latinLnBrk="0" hangingPunct="1">
                    <a:lnSpc>
                      <a:spcPts val="4200"/>
                    </a:lnSpc>
                    <a:spcBef>
                      <a:spcPct val="0"/>
                    </a:spcBef>
                    <a:buNone/>
                    <a:defRPr sz="3200" b="1" kern="1200">
                      <a:solidFill>
                        <a:schemeClr val="bg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:pPr algn="ctr">
                    <a:lnSpc>
                      <a:spcPct val="100000"/>
                    </a:lnSpc>
                  </a:pPr>
                  <a:r>
                    <a:rPr lang="en-US" sz="1000" b="0" dirty="0">
                      <a:solidFill>
                        <a:schemeClr val="tx2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+mn-cs"/>
                    </a:rPr>
                    <a:t>Asset Register</a:t>
                  </a:r>
                </a:p>
              </p:txBody>
            </p:sp>
          </p:grpSp>
          <p:sp>
            <p:nvSpPr>
              <p:cNvPr id="98" name="Title 63">
                <a:extLst>
                  <a:ext uri="{FF2B5EF4-FFF2-40B4-BE49-F238E27FC236}">
                    <a16:creationId xmlns:a16="http://schemas.microsoft.com/office/drawing/2014/main" id="{71ED1545-E020-AE2C-8955-C3255CAFD0D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040924" y="934984"/>
                <a:ext cx="720000" cy="360000"/>
              </a:xfrm>
              <a:prstGeom prst="rect">
                <a:avLst/>
              </a:prstGeom>
              <a:solidFill>
                <a:srgbClr val="2D6A87"/>
              </a:solidFill>
              <a:ln w="38100">
                <a:noFill/>
              </a:ln>
            </p:spPr>
            <p:txBody>
              <a:bodyPr anchor="ctr">
                <a:normAutofit fontScale="92500" lnSpcReduction="10000"/>
              </a:bodyPr>
              <a:lstStyle>
                <a:lvl1pPr algn="l" defTabSz="914400" rtl="0" eaLnBrk="1" latinLnBrk="0" hangingPunct="1">
                  <a:lnSpc>
                    <a:spcPts val="4200"/>
                  </a:lnSpc>
                  <a:spcBef>
                    <a:spcPct val="0"/>
                  </a:spcBef>
                  <a:buNone/>
                  <a:defRPr sz="3200" b="1" kern="1200">
                    <a:solidFill>
                      <a:schemeClr val="bg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00000"/>
                  </a:lnSpc>
                </a:pPr>
                <a:r>
                  <a:rPr lang="en-US" sz="1000" b="0" dirty="0">
                    <a:solidFill>
                      <a:schemeClr val="tx2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rPr>
                  <a:t>Account Manager</a:t>
                </a:r>
              </a:p>
            </p:txBody>
          </p:sp>
        </p:grpSp>
        <p:sp>
          <p:nvSpPr>
            <p:cNvPr id="95" name="Title 63">
              <a:extLst>
                <a:ext uri="{FF2B5EF4-FFF2-40B4-BE49-F238E27FC236}">
                  <a16:creationId xmlns:a16="http://schemas.microsoft.com/office/drawing/2014/main" id="{8B26C625-10BD-0186-95F4-DA31AD2CA25A}"/>
                </a:ext>
              </a:extLst>
            </p:cNvPr>
            <p:cNvSpPr txBox="1">
              <a:spLocks/>
            </p:cNvSpPr>
            <p:nvPr/>
          </p:nvSpPr>
          <p:spPr>
            <a:xfrm>
              <a:off x="1437809" y="932141"/>
              <a:ext cx="1440000" cy="360000"/>
            </a:xfrm>
            <a:prstGeom prst="rect">
              <a:avLst/>
            </a:prstGeom>
            <a:solidFill>
              <a:srgbClr val="2D6A87"/>
            </a:solidFill>
            <a:ln w="38100">
              <a:noFill/>
            </a:ln>
          </p:spPr>
          <p:txBody>
            <a:bodyPr anchor="ctr">
              <a:normAutofit fontScale="92500" lnSpcReduction="10000"/>
            </a:bodyPr>
            <a:lstStyle>
              <a:lvl1pPr algn="l" defTabSz="914400" rtl="0" eaLnBrk="1" latinLnBrk="0" hangingPunct="1">
                <a:lnSpc>
                  <a:spcPts val="4200"/>
                </a:lnSpc>
                <a:spcBef>
                  <a:spcPct val="0"/>
                </a:spcBef>
                <a:buNone/>
                <a:defRPr sz="3200" b="1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>
                <a:lnSpc>
                  <a:spcPct val="100000"/>
                </a:lnSpc>
              </a:pPr>
              <a:r>
                <a:rPr lang="en-US" sz="1000" b="0" dirty="0">
                  <a:solidFill>
                    <a:schemeClr val="tx2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Risk Based Inspection Planning</a:t>
              </a:r>
            </a:p>
          </p:txBody>
        </p:sp>
        <p:sp>
          <p:nvSpPr>
            <p:cNvPr id="96" name="Title 63">
              <a:extLst>
                <a:ext uri="{FF2B5EF4-FFF2-40B4-BE49-F238E27FC236}">
                  <a16:creationId xmlns:a16="http://schemas.microsoft.com/office/drawing/2014/main" id="{0755EFCB-68AD-259D-0B57-20062551C613}"/>
                </a:ext>
              </a:extLst>
            </p:cNvPr>
            <p:cNvSpPr txBox="1">
              <a:spLocks/>
            </p:cNvSpPr>
            <p:nvPr/>
          </p:nvSpPr>
          <p:spPr>
            <a:xfrm>
              <a:off x="2877809" y="932141"/>
              <a:ext cx="720000" cy="360000"/>
            </a:xfrm>
            <a:prstGeom prst="rect">
              <a:avLst/>
            </a:prstGeom>
            <a:solidFill>
              <a:srgbClr val="2D6A87"/>
            </a:solidFill>
            <a:ln w="38100">
              <a:noFill/>
            </a:ln>
          </p:spPr>
          <p:txBody>
            <a:bodyPr anchor="ctr">
              <a:normAutofit fontScale="92500" lnSpcReduction="10000"/>
            </a:bodyPr>
            <a:lstStyle>
              <a:lvl1pPr algn="l" defTabSz="914400" rtl="0" eaLnBrk="1" latinLnBrk="0" hangingPunct="1">
                <a:lnSpc>
                  <a:spcPts val="4200"/>
                </a:lnSpc>
                <a:spcBef>
                  <a:spcPct val="0"/>
                </a:spcBef>
                <a:buNone/>
                <a:defRPr sz="3200" b="1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>
                <a:lnSpc>
                  <a:spcPct val="100000"/>
                </a:lnSpc>
              </a:pPr>
              <a:r>
                <a:rPr lang="en-US" sz="1000" b="0" dirty="0">
                  <a:solidFill>
                    <a:schemeClr val="tx2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Add</a:t>
              </a:r>
            </a:p>
            <a:p>
              <a:pPr algn="ctr">
                <a:lnSpc>
                  <a:spcPct val="100000"/>
                </a:lnSpc>
              </a:pPr>
              <a:r>
                <a:rPr lang="en-US" sz="1000" b="0" dirty="0">
                  <a:solidFill>
                    <a:schemeClr val="tx2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Module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78025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1E55E-0039-39E7-0118-C47E0875E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itle 63">
            <a:extLst>
              <a:ext uri="{FF2B5EF4-FFF2-40B4-BE49-F238E27FC236}">
                <a16:creationId xmlns:a16="http://schemas.microsoft.com/office/drawing/2014/main" id="{E05F927D-5312-007F-67C5-F759E8946F6C}"/>
              </a:ext>
            </a:extLst>
          </p:cNvPr>
          <p:cNvSpPr txBox="1">
            <a:spLocks/>
          </p:cNvSpPr>
          <p:nvPr/>
        </p:nvSpPr>
        <p:spPr>
          <a:xfrm>
            <a:off x="0" y="1462924"/>
            <a:ext cx="2152665" cy="5395076"/>
          </a:xfrm>
          <a:prstGeom prst="rect">
            <a:avLst/>
          </a:prstGeom>
          <a:noFill/>
          <a:ln w="19050">
            <a:solidFill>
              <a:srgbClr val="2D6A87"/>
            </a:solidFill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endParaRPr lang="en-US" sz="1000" b="0" dirty="0">
              <a:solidFill>
                <a:schemeClr val="tx2"/>
              </a:solidFill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29" name="Title 63">
            <a:extLst>
              <a:ext uri="{FF2B5EF4-FFF2-40B4-BE49-F238E27FC236}">
                <a16:creationId xmlns:a16="http://schemas.microsoft.com/office/drawing/2014/main" id="{E9CA8D4F-C4DA-0FDB-2183-8545E86E5CA8}"/>
              </a:ext>
            </a:extLst>
          </p:cNvPr>
          <p:cNvSpPr txBox="1">
            <a:spLocks/>
          </p:cNvSpPr>
          <p:nvPr/>
        </p:nvSpPr>
        <p:spPr>
          <a:xfrm>
            <a:off x="2160000" y="1462924"/>
            <a:ext cx="6364875" cy="5395076"/>
          </a:xfrm>
          <a:prstGeom prst="rect">
            <a:avLst/>
          </a:prstGeom>
          <a:noFill/>
          <a:ln w="19050">
            <a:solidFill>
              <a:srgbClr val="2D6A87"/>
            </a:solidFill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000" b="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Summary </a:t>
            </a:r>
          </a:p>
        </p:txBody>
      </p:sp>
      <p:sp>
        <p:nvSpPr>
          <p:cNvPr id="76" name="Title 63">
            <a:extLst>
              <a:ext uri="{FF2B5EF4-FFF2-40B4-BE49-F238E27FC236}">
                <a16:creationId xmlns:a16="http://schemas.microsoft.com/office/drawing/2014/main" id="{5D2A1DDB-107A-F65D-6F64-2D7BE93DB366}"/>
              </a:ext>
            </a:extLst>
          </p:cNvPr>
          <p:cNvSpPr txBox="1">
            <a:spLocks/>
          </p:cNvSpPr>
          <p:nvPr/>
        </p:nvSpPr>
        <p:spPr>
          <a:xfrm>
            <a:off x="8532211" y="1797157"/>
            <a:ext cx="3646900" cy="5055282"/>
          </a:xfrm>
          <a:prstGeom prst="rect">
            <a:avLst/>
          </a:prstGeom>
          <a:noFill/>
          <a:ln w="19050">
            <a:solidFill>
              <a:srgbClr val="2D6A87"/>
            </a:solidFill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000" b="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Summary </a:t>
            </a:r>
          </a:p>
        </p:txBody>
      </p:sp>
      <p:sp>
        <p:nvSpPr>
          <p:cNvPr id="2" name="Title 63">
            <a:extLst>
              <a:ext uri="{FF2B5EF4-FFF2-40B4-BE49-F238E27FC236}">
                <a16:creationId xmlns:a16="http://schemas.microsoft.com/office/drawing/2014/main" id="{CE9548B5-A758-753B-0A15-215810EE62C9}"/>
              </a:ext>
            </a:extLst>
          </p:cNvPr>
          <p:cNvSpPr txBox="1">
            <a:spLocks/>
          </p:cNvSpPr>
          <p:nvPr/>
        </p:nvSpPr>
        <p:spPr>
          <a:xfrm>
            <a:off x="-1" y="10690"/>
            <a:ext cx="12192001" cy="900000"/>
          </a:xfrm>
          <a:prstGeom prst="rect">
            <a:avLst/>
          </a:prstGeom>
          <a:solidFill>
            <a:schemeClr val="tx2"/>
          </a:solidFill>
          <a:ln w="3810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2D6A87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Structural Integrity Management System (SIMS)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16D260-83F8-7F62-EFF2-25F49F4BBAD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2836" r="22678"/>
          <a:stretch>
            <a:fillRect/>
          </a:stretch>
        </p:blipFill>
        <p:spPr>
          <a:xfrm>
            <a:off x="174883" y="103675"/>
            <a:ext cx="691633" cy="714030"/>
          </a:xfrm>
          <a:prstGeom prst="rect">
            <a:avLst/>
          </a:prstGeom>
        </p:spPr>
      </p:pic>
      <p:sp>
        <p:nvSpPr>
          <p:cNvPr id="25" name="Title 63">
            <a:extLst>
              <a:ext uri="{FF2B5EF4-FFF2-40B4-BE49-F238E27FC236}">
                <a16:creationId xmlns:a16="http://schemas.microsoft.com/office/drawing/2014/main" id="{06BCAC5D-2B10-7F5C-834B-2BE206BD2552}"/>
              </a:ext>
            </a:extLst>
          </p:cNvPr>
          <p:cNvSpPr txBox="1">
            <a:spLocks/>
          </p:cNvSpPr>
          <p:nvPr/>
        </p:nvSpPr>
        <p:spPr>
          <a:xfrm>
            <a:off x="0" y="1449533"/>
            <a:ext cx="2160000" cy="360000"/>
          </a:xfrm>
          <a:prstGeom prst="rect">
            <a:avLst/>
          </a:prstGeom>
          <a:solidFill>
            <a:srgbClr val="2D6A87"/>
          </a:solidFill>
          <a:ln w="3810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000" b="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Asset Tree </a:t>
            </a:r>
          </a:p>
        </p:txBody>
      </p:sp>
      <p:sp>
        <p:nvSpPr>
          <p:cNvPr id="27" name="Title 63">
            <a:extLst>
              <a:ext uri="{FF2B5EF4-FFF2-40B4-BE49-F238E27FC236}">
                <a16:creationId xmlns:a16="http://schemas.microsoft.com/office/drawing/2014/main" id="{D914CC99-893B-B886-DBFF-0B3F45893D9F}"/>
              </a:ext>
            </a:extLst>
          </p:cNvPr>
          <p:cNvSpPr txBox="1">
            <a:spLocks/>
          </p:cNvSpPr>
          <p:nvPr/>
        </p:nvSpPr>
        <p:spPr>
          <a:xfrm>
            <a:off x="8546880" y="1449533"/>
            <a:ext cx="3646900" cy="360000"/>
          </a:xfrm>
          <a:prstGeom prst="rect">
            <a:avLst/>
          </a:prstGeom>
          <a:solidFill>
            <a:srgbClr val="2D6A87"/>
          </a:solidFill>
          <a:ln w="3810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000" b="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Description</a:t>
            </a:r>
          </a:p>
        </p:txBody>
      </p:sp>
      <p:sp>
        <p:nvSpPr>
          <p:cNvPr id="31" name="Title 63">
            <a:extLst>
              <a:ext uri="{FF2B5EF4-FFF2-40B4-BE49-F238E27FC236}">
                <a16:creationId xmlns:a16="http://schemas.microsoft.com/office/drawing/2014/main" id="{9338E8A2-4BB2-F3A9-7736-EC552DADBF09}"/>
              </a:ext>
            </a:extLst>
          </p:cNvPr>
          <p:cNvSpPr txBox="1">
            <a:spLocks/>
          </p:cNvSpPr>
          <p:nvPr/>
        </p:nvSpPr>
        <p:spPr>
          <a:xfrm>
            <a:off x="0" y="1809532"/>
            <a:ext cx="2160000" cy="5037778"/>
          </a:xfrm>
          <a:prstGeom prst="rect">
            <a:avLst/>
          </a:prstGeom>
          <a:noFill/>
          <a:ln w="38100">
            <a:noFill/>
          </a:ln>
        </p:spPr>
        <p:txBody>
          <a:bodyPr anchor="t">
            <a:no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 Gas Purification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&gt;</a:t>
            </a: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Plant 2 Dehydration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&gt;</a:t>
            </a: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Plant 3 Fractionation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4 Refrigeration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5 Liquefaction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6 Condensate Stripping ...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15 LPG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16 Condensate Stabilize ... 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17 LPG Storage and Loa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highlight>
                  <a:srgbClr val="6E98A7"/>
                </a:highlight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17D-1/Q-1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17D-2/Q-1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17D-3/Q-1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17D-4/Q-1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17D-5/Q-1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+ add asset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19 Relief &amp; Blowdown S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20 Condensate Storage ...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20D-4/Q-1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     20D-5/Q-1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     20D-6/Q-1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+ add asset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21 Feed Gas Knockout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22 Marine Structures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24 LNG Storage and Loa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25 Fueling Facility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26 LPG Filling Station … &gt;Propane and Butane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27 Oxygen Plant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28 Acetylene Plant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29 Nitrogen Generation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30 Electrical </a:t>
            </a:r>
            <a:r>
              <a:rPr lang="en-US" sz="8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Distributio</a:t>
            </a: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31 Steam &amp; Power Gen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32 Seawater Cooling 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33 Fire Protection System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34 Liquid Waste System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35 Compressed Air System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36 Water Treatment Sy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37 Communication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+ add Plant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2103194-55A0-03C8-79CC-C7FEB5604C86}"/>
              </a:ext>
            </a:extLst>
          </p:cNvPr>
          <p:cNvGrpSpPr/>
          <p:nvPr/>
        </p:nvGrpSpPr>
        <p:grpSpPr>
          <a:xfrm>
            <a:off x="216151" y="3948414"/>
            <a:ext cx="73594" cy="324419"/>
            <a:chOff x="216151" y="3221023"/>
            <a:chExt cx="73594" cy="324419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04CA9220-9654-A42B-CD21-EDA3EE98C888}"/>
                </a:ext>
              </a:extLst>
            </p:cNvPr>
            <p:cNvSpPr/>
            <p:nvPr/>
          </p:nvSpPr>
          <p:spPr>
            <a:xfrm>
              <a:off x="217745" y="3346913"/>
              <a:ext cx="72000" cy="72000"/>
            </a:xfrm>
            <a:prstGeom prst="rect">
              <a:avLst/>
            </a:prstGeom>
            <a:solidFill>
              <a:schemeClr val="bg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6A42102A-79E0-787A-C473-81FE7905FC31}"/>
                </a:ext>
              </a:extLst>
            </p:cNvPr>
            <p:cNvSpPr/>
            <p:nvPr/>
          </p:nvSpPr>
          <p:spPr>
            <a:xfrm>
              <a:off x="217745" y="3473442"/>
              <a:ext cx="72000" cy="72000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DACF1E63-BBD5-855C-3A5A-96FBBC95A93A}"/>
                </a:ext>
              </a:extLst>
            </p:cNvPr>
            <p:cNvSpPr/>
            <p:nvPr/>
          </p:nvSpPr>
          <p:spPr>
            <a:xfrm>
              <a:off x="216151" y="3221023"/>
              <a:ext cx="72000" cy="720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sp>
        <p:nvSpPr>
          <p:cNvPr id="7" name="Title 63">
            <a:extLst>
              <a:ext uri="{FF2B5EF4-FFF2-40B4-BE49-F238E27FC236}">
                <a16:creationId xmlns:a16="http://schemas.microsoft.com/office/drawing/2014/main" id="{AC3B688B-80C6-C06B-0821-8278A18E9BAE}"/>
              </a:ext>
            </a:extLst>
          </p:cNvPr>
          <p:cNvSpPr txBox="1">
            <a:spLocks/>
          </p:cNvSpPr>
          <p:nvPr/>
        </p:nvSpPr>
        <p:spPr>
          <a:xfrm>
            <a:off x="2157809" y="1449533"/>
            <a:ext cx="6389071" cy="360000"/>
          </a:xfrm>
          <a:prstGeom prst="rect">
            <a:avLst/>
          </a:prstGeom>
          <a:solidFill>
            <a:srgbClr val="2D6A87"/>
          </a:solidFill>
          <a:ln w="3810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1000" b="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17D-1/Q-1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DABAC185-51A3-F2F1-CBFF-0EDE8E63C609}"/>
              </a:ext>
            </a:extLst>
          </p:cNvPr>
          <p:cNvGrpSpPr/>
          <p:nvPr/>
        </p:nvGrpSpPr>
        <p:grpSpPr>
          <a:xfrm>
            <a:off x="2281274" y="1959294"/>
            <a:ext cx="6120000" cy="4616707"/>
            <a:chOff x="2283337" y="1962976"/>
            <a:chExt cx="6120000" cy="461670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0D4EFD5-212E-6D4A-52C1-9C9F37EF319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283337" y="1962976"/>
              <a:ext cx="6120000" cy="4616707"/>
            </a:xfrm>
            <a:prstGeom prst="rect">
              <a:avLst/>
            </a:prstGeom>
          </p:spPr>
        </p:pic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AFBE56F2-C185-197C-A1AD-74286F54A971}"/>
                </a:ext>
              </a:extLst>
            </p:cNvPr>
            <p:cNvGrpSpPr/>
            <p:nvPr/>
          </p:nvGrpSpPr>
          <p:grpSpPr>
            <a:xfrm>
              <a:off x="5636428" y="4083553"/>
              <a:ext cx="720000" cy="720000"/>
              <a:chOff x="4025245" y="2649576"/>
              <a:chExt cx="720000" cy="720000"/>
            </a:xfrm>
          </p:grpSpPr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E6939960-AB2A-CA89-48AD-D477AB12C36A}"/>
                  </a:ext>
                </a:extLst>
              </p:cNvPr>
              <p:cNvSpPr/>
              <p:nvPr/>
            </p:nvSpPr>
            <p:spPr>
              <a:xfrm>
                <a:off x="4025245" y="2649576"/>
                <a:ext cx="720000" cy="180000"/>
              </a:xfrm>
              <a:prstGeom prst="rect">
                <a:avLst/>
              </a:prstGeom>
              <a:ln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600" dirty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17D-1/Q-1</a:t>
                </a:r>
                <a:endParaRPr lang="en-ID" sz="600" dirty="0">
                  <a:solidFill>
                    <a:schemeClr val="tx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4C3BF5FB-6C7E-F6B7-9F76-653BEFDE85E1}"/>
                  </a:ext>
                </a:extLst>
              </p:cNvPr>
              <p:cNvCxnSpPr>
                <a:stCxn id="36" idx="2"/>
              </p:cNvCxnSpPr>
              <p:nvPr/>
            </p:nvCxnSpPr>
            <p:spPr>
              <a:xfrm>
                <a:off x="4385245" y="2829576"/>
                <a:ext cx="0" cy="54000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1FA7B87D-E5DA-BB69-4942-3223F09B30DB}"/>
              </a:ext>
            </a:extLst>
          </p:cNvPr>
          <p:cNvGrpSpPr/>
          <p:nvPr/>
        </p:nvGrpSpPr>
        <p:grpSpPr>
          <a:xfrm>
            <a:off x="214557" y="2975994"/>
            <a:ext cx="73594" cy="324419"/>
            <a:chOff x="216151" y="3221023"/>
            <a:chExt cx="73594" cy="324419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42355C97-192B-D7D9-55DF-1A42139A0632}"/>
                </a:ext>
              </a:extLst>
            </p:cNvPr>
            <p:cNvSpPr/>
            <p:nvPr/>
          </p:nvSpPr>
          <p:spPr>
            <a:xfrm>
              <a:off x="217745" y="3346913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5D54370A-E31B-A64A-889C-651421E374F0}"/>
                </a:ext>
              </a:extLst>
            </p:cNvPr>
            <p:cNvSpPr/>
            <p:nvPr/>
          </p:nvSpPr>
          <p:spPr>
            <a:xfrm>
              <a:off x="217745" y="3473442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CE1FA6D2-1223-3885-0E6D-535EE9FFC5E1}"/>
                </a:ext>
              </a:extLst>
            </p:cNvPr>
            <p:cNvSpPr/>
            <p:nvPr/>
          </p:nvSpPr>
          <p:spPr>
            <a:xfrm>
              <a:off x="216151" y="3221023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71952D5C-5585-CB19-C047-A0C863643940}"/>
              </a:ext>
            </a:extLst>
          </p:cNvPr>
          <p:cNvGrpSpPr/>
          <p:nvPr/>
        </p:nvGrpSpPr>
        <p:grpSpPr>
          <a:xfrm>
            <a:off x="214557" y="3346544"/>
            <a:ext cx="73594" cy="197890"/>
            <a:chOff x="216151" y="3221023"/>
            <a:chExt cx="73594" cy="197890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B5EFD8E8-0108-8256-F9BA-1D947AA93A19}"/>
                </a:ext>
              </a:extLst>
            </p:cNvPr>
            <p:cNvSpPr/>
            <p:nvPr/>
          </p:nvSpPr>
          <p:spPr>
            <a:xfrm>
              <a:off x="217745" y="3346913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26521F0B-774E-4A23-9C10-41DFA1CE615C}"/>
                </a:ext>
              </a:extLst>
            </p:cNvPr>
            <p:cNvSpPr/>
            <p:nvPr/>
          </p:nvSpPr>
          <p:spPr>
            <a:xfrm>
              <a:off x="216151" y="3221023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sp>
        <p:nvSpPr>
          <p:cNvPr id="3" name="Oval 2">
            <a:extLst>
              <a:ext uri="{FF2B5EF4-FFF2-40B4-BE49-F238E27FC236}">
                <a16:creationId xmlns:a16="http://schemas.microsoft.com/office/drawing/2014/main" id="{B3C24DC5-6107-3F19-BE9F-42B7A37BB6A8}"/>
              </a:ext>
            </a:extLst>
          </p:cNvPr>
          <p:cNvSpPr/>
          <p:nvPr/>
        </p:nvSpPr>
        <p:spPr>
          <a:xfrm>
            <a:off x="5840840" y="4713021"/>
            <a:ext cx="288000" cy="288000"/>
          </a:xfrm>
          <a:prstGeom prst="ellipse">
            <a:avLst/>
          </a:prstGeom>
          <a:solidFill>
            <a:srgbClr val="FFEF94">
              <a:alpha val="50000"/>
            </a:srgbClr>
          </a:solidFill>
          <a:ln>
            <a:solidFill>
              <a:srgbClr val="C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5BDBEBCF-52F5-290E-159F-A811456BAFEF}"/>
              </a:ext>
            </a:extLst>
          </p:cNvPr>
          <p:cNvGrpSpPr/>
          <p:nvPr/>
        </p:nvGrpSpPr>
        <p:grpSpPr>
          <a:xfrm>
            <a:off x="8314019" y="1546356"/>
            <a:ext cx="432000" cy="432000"/>
            <a:chOff x="9313667" y="2368302"/>
            <a:chExt cx="432000" cy="432000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98B608CE-088A-EB81-0C1A-922DC7DC4911}"/>
                </a:ext>
              </a:extLst>
            </p:cNvPr>
            <p:cNvSpPr/>
            <p:nvPr/>
          </p:nvSpPr>
          <p:spPr>
            <a:xfrm>
              <a:off x="9313667" y="2368302"/>
              <a:ext cx="432000" cy="432000"/>
            </a:xfrm>
            <a:prstGeom prst="ellipse">
              <a:avLst/>
            </a:prstGeom>
            <a:solidFill>
              <a:srgbClr val="FFEF94">
                <a:alpha val="50000"/>
              </a:srgb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0E1DA2D4-2F98-F7B2-2C80-7BC4B65E5BAF}"/>
                </a:ext>
              </a:extLst>
            </p:cNvPr>
            <p:cNvGrpSpPr/>
            <p:nvPr/>
          </p:nvGrpSpPr>
          <p:grpSpPr>
            <a:xfrm>
              <a:off x="9318429" y="2503822"/>
              <a:ext cx="419100" cy="180000"/>
              <a:chOff x="9337675" y="3228412"/>
              <a:chExt cx="419100" cy="180000"/>
            </a:xfrm>
          </p:grpSpPr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3EECEAD0-C7DD-FE5B-19EB-6D4F74A82E8A}"/>
                  </a:ext>
                </a:extLst>
              </p:cNvPr>
              <p:cNvCxnSpPr/>
              <p:nvPr/>
            </p:nvCxnSpPr>
            <p:spPr>
              <a:xfrm>
                <a:off x="9525000" y="3228412"/>
                <a:ext cx="0" cy="18000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A6B03B47-7999-8FD4-17BC-4A20FF4F8437}"/>
                  </a:ext>
                </a:extLst>
              </p:cNvPr>
              <p:cNvCxnSpPr/>
              <p:nvPr/>
            </p:nvCxnSpPr>
            <p:spPr>
              <a:xfrm>
                <a:off x="9569450" y="3228412"/>
                <a:ext cx="0" cy="18000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AE7C197B-3CE5-10C7-C4E6-78E2B77FBB8B}"/>
                  </a:ext>
                </a:extLst>
              </p:cNvPr>
              <p:cNvCxnSpPr/>
              <p:nvPr/>
            </p:nvCxnSpPr>
            <p:spPr>
              <a:xfrm>
                <a:off x="9601200" y="3309938"/>
                <a:ext cx="155575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1C947296-2F47-7BD6-DA59-0A478E78A60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9337675" y="3309938"/>
                <a:ext cx="155575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0" name="Title 63">
            <a:extLst>
              <a:ext uri="{FF2B5EF4-FFF2-40B4-BE49-F238E27FC236}">
                <a16:creationId xmlns:a16="http://schemas.microsoft.com/office/drawing/2014/main" id="{17F5ABC9-FB69-2BFF-CED4-63BD4847B3B4}"/>
              </a:ext>
            </a:extLst>
          </p:cNvPr>
          <p:cNvSpPr txBox="1">
            <a:spLocks/>
          </p:cNvSpPr>
          <p:nvPr/>
        </p:nvSpPr>
        <p:spPr>
          <a:xfrm>
            <a:off x="8694659" y="6213073"/>
            <a:ext cx="3316365" cy="360000"/>
          </a:xfrm>
          <a:prstGeom prst="rect">
            <a:avLst/>
          </a:prstGeom>
          <a:solidFill>
            <a:srgbClr val="2D6A87"/>
          </a:solidFill>
          <a:ln w="3810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1000" b="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Asset Details</a:t>
            </a:r>
          </a:p>
        </p:txBody>
      </p:sp>
      <p:graphicFrame>
        <p:nvGraphicFramePr>
          <p:cNvPr id="82" name="Table 81">
            <a:extLst>
              <a:ext uri="{FF2B5EF4-FFF2-40B4-BE49-F238E27FC236}">
                <a16:creationId xmlns:a16="http://schemas.microsoft.com/office/drawing/2014/main" id="{ED512689-FB7F-6A11-3404-8B2B2A81AC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14773"/>
              </p:ext>
            </p:extLst>
          </p:nvPr>
        </p:nvGraphicFramePr>
        <p:xfrm>
          <a:off x="8646149" y="2011622"/>
          <a:ext cx="3316366" cy="2575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97040">
                  <a:extLst>
                    <a:ext uri="{9D8B030D-6E8A-4147-A177-3AD203B41FA5}">
                      <a16:colId xmlns:a16="http://schemas.microsoft.com/office/drawing/2014/main" val="1360728645"/>
                    </a:ext>
                  </a:extLst>
                </a:gridCol>
                <a:gridCol w="1109663">
                  <a:extLst>
                    <a:ext uri="{9D8B030D-6E8A-4147-A177-3AD203B41FA5}">
                      <a16:colId xmlns:a16="http://schemas.microsoft.com/office/drawing/2014/main" val="2423881929"/>
                    </a:ext>
                  </a:extLst>
                </a:gridCol>
                <a:gridCol w="385763">
                  <a:extLst>
                    <a:ext uri="{9D8B030D-6E8A-4147-A177-3AD203B41FA5}">
                      <a16:colId xmlns:a16="http://schemas.microsoft.com/office/drawing/2014/main" val="3393337549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8058164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register No.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32870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GIS Ref. No.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1234567890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16495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tag no.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17D-1/Q-1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2829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Description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Foundation for 17D-1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711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Plant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17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157029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Zone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Zone 1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619959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Area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LPG Storage and Loading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219248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Train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20372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Coordinate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1234567890 N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algn="r"/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1234567890 E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791459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Installed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1970 (age: 56 years)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22047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Condition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Good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952527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QR Code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http:www.dtp-eng.com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u="sng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Preview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853855238"/>
                  </a:ext>
                </a:extLst>
              </a:tr>
            </a:tbl>
          </a:graphicData>
        </a:graphic>
      </p:graphicFrame>
      <p:pic>
        <p:nvPicPr>
          <p:cNvPr id="84" name="Picture 83">
            <a:extLst>
              <a:ext uri="{FF2B5EF4-FFF2-40B4-BE49-F238E27FC236}">
                <a16:creationId xmlns:a16="http://schemas.microsoft.com/office/drawing/2014/main" id="{AFD7E097-0E9B-C736-3856-5DDF055C9E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1019764" y="2865137"/>
            <a:ext cx="360000" cy="323076"/>
          </a:xfrm>
          <a:prstGeom prst="ellipse">
            <a:avLst/>
          </a:prstGeom>
          <a:ln w="3175" cap="rnd">
            <a:solidFill>
              <a:srgbClr val="00B050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86" name="Picture 85">
            <a:extLst>
              <a:ext uri="{FF2B5EF4-FFF2-40B4-BE49-F238E27FC236}">
                <a16:creationId xmlns:a16="http://schemas.microsoft.com/office/drawing/2014/main" id="{AD201207-07AE-1FA2-C655-74BF77545A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11723155" y="6362610"/>
            <a:ext cx="360000" cy="323076"/>
          </a:xfrm>
          <a:prstGeom prst="ellipse">
            <a:avLst/>
          </a:prstGeom>
          <a:ln w="3175" cap="rnd">
            <a:solidFill>
              <a:srgbClr val="00B050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grpSp>
        <p:nvGrpSpPr>
          <p:cNvPr id="87" name="Group 86">
            <a:extLst>
              <a:ext uri="{FF2B5EF4-FFF2-40B4-BE49-F238E27FC236}">
                <a16:creationId xmlns:a16="http://schemas.microsoft.com/office/drawing/2014/main" id="{35915BF6-4CEF-B844-22D1-328DD5880022}"/>
              </a:ext>
            </a:extLst>
          </p:cNvPr>
          <p:cNvGrpSpPr/>
          <p:nvPr/>
        </p:nvGrpSpPr>
        <p:grpSpPr>
          <a:xfrm>
            <a:off x="0" y="932141"/>
            <a:ext cx="12204000" cy="363949"/>
            <a:chOff x="0" y="932141"/>
            <a:chExt cx="12204000" cy="363949"/>
          </a:xfrm>
        </p:grpSpPr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54F7AD36-3990-BC3C-1C69-295FB89ACD63}"/>
                </a:ext>
              </a:extLst>
            </p:cNvPr>
            <p:cNvGrpSpPr/>
            <p:nvPr/>
          </p:nvGrpSpPr>
          <p:grpSpPr>
            <a:xfrm>
              <a:off x="0" y="934984"/>
              <a:ext cx="12204000" cy="361106"/>
              <a:chOff x="0" y="934984"/>
              <a:chExt cx="12204000" cy="361106"/>
            </a:xfrm>
          </p:grpSpPr>
          <p:grpSp>
            <p:nvGrpSpPr>
              <p:cNvPr id="93" name="Group 92">
                <a:extLst>
                  <a:ext uri="{FF2B5EF4-FFF2-40B4-BE49-F238E27FC236}">
                    <a16:creationId xmlns:a16="http://schemas.microsoft.com/office/drawing/2014/main" id="{597A1535-CD60-1830-1BFC-5CE096844FB4}"/>
                  </a:ext>
                </a:extLst>
              </p:cNvPr>
              <p:cNvGrpSpPr/>
              <p:nvPr/>
            </p:nvGrpSpPr>
            <p:grpSpPr>
              <a:xfrm>
                <a:off x="0" y="936090"/>
                <a:ext cx="12204000" cy="360000"/>
                <a:chOff x="0" y="936090"/>
                <a:chExt cx="12204000" cy="360000"/>
              </a:xfrm>
            </p:grpSpPr>
            <p:grpSp>
              <p:nvGrpSpPr>
                <p:cNvPr id="95" name="Group 94">
                  <a:extLst>
                    <a:ext uri="{FF2B5EF4-FFF2-40B4-BE49-F238E27FC236}">
                      <a16:creationId xmlns:a16="http://schemas.microsoft.com/office/drawing/2014/main" id="{48B3FD82-3D86-5D2D-40D8-B358680302E5}"/>
                    </a:ext>
                  </a:extLst>
                </p:cNvPr>
                <p:cNvGrpSpPr/>
                <p:nvPr/>
              </p:nvGrpSpPr>
              <p:grpSpPr>
                <a:xfrm>
                  <a:off x="0" y="936090"/>
                  <a:ext cx="12204000" cy="360000"/>
                  <a:chOff x="-2" y="2718720"/>
                  <a:chExt cx="12204000" cy="360000"/>
                </a:xfrm>
              </p:grpSpPr>
              <p:sp>
                <p:nvSpPr>
                  <p:cNvPr id="97" name="Title 63">
                    <a:extLst>
                      <a:ext uri="{FF2B5EF4-FFF2-40B4-BE49-F238E27FC236}">
                        <a16:creationId xmlns:a16="http://schemas.microsoft.com/office/drawing/2014/main" id="{65F9D778-CC69-3C66-A057-CAC7041D61CC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-2" y="2718720"/>
                    <a:ext cx="720000" cy="360000"/>
                  </a:xfrm>
                  <a:prstGeom prst="rect">
                    <a:avLst/>
                  </a:prstGeom>
                  <a:solidFill>
                    <a:srgbClr val="2D6A87"/>
                  </a:solidFill>
                  <a:ln w="38100">
                    <a:noFill/>
                  </a:ln>
                </p:spPr>
                <p:txBody>
                  <a:bodyPr anchor="ctr">
                    <a:normAutofit/>
                  </a:bodyPr>
                  <a:lstStyle>
                    <a:lvl1pPr algn="l" defTabSz="914400" rtl="0" eaLnBrk="1" latinLnBrk="0" hangingPunct="1">
                      <a:lnSpc>
                        <a:spcPts val="4200"/>
                      </a:lnSpc>
                      <a:spcBef>
                        <a:spcPct val="0"/>
                      </a:spcBef>
                      <a:buNone/>
                      <a:defRPr sz="3200" b="1" kern="1200">
                        <a:solidFill>
                          <a:schemeClr val="bg1"/>
                        </a:solidFill>
                        <a:latin typeface="+mj-lt"/>
                        <a:ea typeface="+mj-ea"/>
                        <a:cs typeface="+mj-cs"/>
                      </a:defRPr>
                    </a:lvl1pPr>
                  </a:lstStyle>
                  <a:p>
                    <a:pPr algn="ctr">
                      <a:lnSpc>
                        <a:spcPct val="100000"/>
                      </a:lnSpc>
                    </a:pPr>
                    <a:r>
                      <a:rPr lang="en-US" sz="1000" b="0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rPr>
                      <a:t>Home</a:t>
                    </a:r>
                  </a:p>
                </p:txBody>
              </p:sp>
              <p:grpSp>
                <p:nvGrpSpPr>
                  <p:cNvPr id="98" name="Group 97">
                    <a:extLst>
                      <a:ext uri="{FF2B5EF4-FFF2-40B4-BE49-F238E27FC236}">
                        <a16:creationId xmlns:a16="http://schemas.microsoft.com/office/drawing/2014/main" id="{8D82D698-D247-38AC-C42C-6FAC101B20AD}"/>
                      </a:ext>
                    </a:extLst>
                  </p:cNvPr>
                  <p:cNvGrpSpPr/>
                  <p:nvPr/>
                </p:nvGrpSpPr>
                <p:grpSpPr>
                  <a:xfrm>
                    <a:off x="10763998" y="2718720"/>
                    <a:ext cx="1440000" cy="360000"/>
                    <a:chOff x="4102098" y="3429000"/>
                    <a:chExt cx="1440000" cy="360000"/>
                  </a:xfrm>
                </p:grpSpPr>
                <p:sp>
                  <p:nvSpPr>
                    <p:cNvPr id="100" name="Title 63">
                      <a:extLst>
                        <a:ext uri="{FF2B5EF4-FFF2-40B4-BE49-F238E27FC236}">
                          <a16:creationId xmlns:a16="http://schemas.microsoft.com/office/drawing/2014/main" id="{9F58BF18-F852-C9EC-02BE-C199D5C3A860}"/>
                        </a:ext>
                      </a:extLst>
                    </p:cNvPr>
                    <p:cNvSpPr txBox="1">
                      <a:spLocks/>
                    </p:cNvSpPr>
                    <p:nvPr/>
                  </p:nvSpPr>
                  <p:spPr>
                    <a:xfrm>
                      <a:off x="4102098" y="3429000"/>
                      <a:ext cx="720000" cy="360000"/>
                    </a:xfrm>
                    <a:prstGeom prst="rect">
                      <a:avLst/>
                    </a:prstGeom>
                    <a:solidFill>
                      <a:srgbClr val="2D6A87"/>
                    </a:solidFill>
                    <a:ln w="38100">
                      <a:noFill/>
                    </a:ln>
                  </p:spPr>
                  <p:txBody>
                    <a:bodyPr anchor="ctr">
                      <a:normAutofit/>
                    </a:bodyPr>
                    <a:lstStyle>
                      <a:lvl1pPr algn="l" defTabSz="914400" rtl="0" eaLnBrk="1" latinLnBrk="0" hangingPunct="1">
                        <a:lnSpc>
                          <a:spcPts val="4200"/>
                        </a:lnSpc>
                        <a:spcBef>
                          <a:spcPct val="0"/>
                        </a:spcBef>
                        <a:buNone/>
                        <a:defRPr sz="3200" b="1" kern="1200">
                          <a:solidFill>
                            <a:schemeClr val="bg1"/>
                          </a:solidFill>
                          <a:latin typeface="+mj-lt"/>
                          <a:ea typeface="+mj-ea"/>
                          <a:cs typeface="+mj-cs"/>
                        </a:defRPr>
                      </a:lvl1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Help</a:t>
                      </a:r>
                    </a:p>
                  </p:txBody>
                </p:sp>
                <p:sp>
                  <p:nvSpPr>
                    <p:cNvPr id="101" name="Title 63">
                      <a:extLst>
                        <a:ext uri="{FF2B5EF4-FFF2-40B4-BE49-F238E27FC236}">
                          <a16:creationId xmlns:a16="http://schemas.microsoft.com/office/drawing/2014/main" id="{DFE6A230-2411-49CD-5591-D51179BF3634}"/>
                        </a:ext>
                      </a:extLst>
                    </p:cNvPr>
                    <p:cNvSpPr txBox="1">
                      <a:spLocks/>
                    </p:cNvSpPr>
                    <p:nvPr/>
                  </p:nvSpPr>
                  <p:spPr>
                    <a:xfrm>
                      <a:off x="4822098" y="3429000"/>
                      <a:ext cx="720000" cy="360000"/>
                    </a:xfrm>
                    <a:prstGeom prst="rect">
                      <a:avLst/>
                    </a:prstGeom>
                    <a:solidFill>
                      <a:srgbClr val="2D6A87"/>
                    </a:solidFill>
                    <a:ln w="38100">
                      <a:noFill/>
                    </a:ln>
                  </p:spPr>
                  <p:txBody>
                    <a:bodyPr anchor="ctr">
                      <a:normAutofit/>
                    </a:bodyPr>
                    <a:lstStyle>
                      <a:lvl1pPr algn="l" defTabSz="914400" rtl="0" eaLnBrk="1" latinLnBrk="0" hangingPunct="1">
                        <a:lnSpc>
                          <a:spcPts val="4200"/>
                        </a:lnSpc>
                        <a:spcBef>
                          <a:spcPct val="0"/>
                        </a:spcBef>
                        <a:buNone/>
                        <a:defRPr sz="3200" b="1" kern="1200">
                          <a:solidFill>
                            <a:schemeClr val="bg1"/>
                          </a:solidFill>
                          <a:latin typeface="+mj-lt"/>
                          <a:ea typeface="+mj-ea"/>
                          <a:cs typeface="+mj-cs"/>
                        </a:defRPr>
                      </a:lvl1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Logout</a:t>
                      </a:r>
                    </a:p>
                  </p:txBody>
                </p:sp>
              </p:grpSp>
              <p:sp>
                <p:nvSpPr>
                  <p:cNvPr id="99" name="Title 63">
                    <a:extLst>
                      <a:ext uri="{FF2B5EF4-FFF2-40B4-BE49-F238E27FC236}">
                        <a16:creationId xmlns:a16="http://schemas.microsoft.com/office/drawing/2014/main" id="{89D31423-22AC-9E51-97BE-6BDAED9A78F6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3595617" y="2718720"/>
                    <a:ext cx="6445306" cy="360000"/>
                  </a:xfrm>
                  <a:prstGeom prst="rect">
                    <a:avLst/>
                  </a:prstGeom>
                  <a:solidFill>
                    <a:srgbClr val="2D6A87"/>
                  </a:solidFill>
                  <a:ln w="38100">
                    <a:noFill/>
                  </a:ln>
                </p:spPr>
                <p:txBody>
                  <a:bodyPr anchor="ctr">
                    <a:normAutofit/>
                  </a:bodyPr>
                  <a:lstStyle>
                    <a:lvl1pPr algn="l" defTabSz="914400" rtl="0" eaLnBrk="1" latinLnBrk="0" hangingPunct="1">
                      <a:lnSpc>
                        <a:spcPts val="4200"/>
                      </a:lnSpc>
                      <a:spcBef>
                        <a:spcPct val="0"/>
                      </a:spcBef>
                      <a:buNone/>
                      <a:defRPr sz="3200" b="1" kern="1200">
                        <a:solidFill>
                          <a:schemeClr val="bg1"/>
                        </a:solidFill>
                        <a:latin typeface="+mj-lt"/>
                        <a:ea typeface="+mj-ea"/>
                        <a:cs typeface="+mj-cs"/>
                      </a:defRPr>
                    </a:lvl1pPr>
                  </a:lstStyle>
                  <a:p>
                    <a:pPr>
                      <a:lnSpc>
                        <a:spcPct val="100000"/>
                      </a:lnSpc>
                    </a:pPr>
                    <a:endParaRPr lang="en-US" sz="1000" b="0" dirty="0">
                      <a:solidFill>
                        <a:schemeClr val="tx2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+mn-cs"/>
                    </a:endParaRPr>
                  </a:p>
                </p:txBody>
              </p:sp>
            </p:grpSp>
            <p:sp>
              <p:nvSpPr>
                <p:cNvPr id="96" name="Title 63">
                  <a:extLst>
                    <a:ext uri="{FF2B5EF4-FFF2-40B4-BE49-F238E27FC236}">
                      <a16:creationId xmlns:a16="http://schemas.microsoft.com/office/drawing/2014/main" id="{88D318FE-404B-D4DB-02CE-5AB11656EDF3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720000" y="936090"/>
                  <a:ext cx="720000" cy="360000"/>
                </a:xfrm>
                <a:prstGeom prst="rect">
                  <a:avLst/>
                </a:prstGeom>
                <a:solidFill>
                  <a:srgbClr val="2D6A87"/>
                </a:solidFill>
                <a:ln w="38100">
                  <a:noFill/>
                </a:ln>
              </p:spPr>
              <p:txBody>
                <a:bodyPr anchor="ctr">
                  <a:normAutofit fontScale="92500" lnSpcReduction="10000"/>
                </a:bodyPr>
                <a:lstStyle>
                  <a:lvl1pPr algn="l" defTabSz="914400" rtl="0" eaLnBrk="1" latinLnBrk="0" hangingPunct="1">
                    <a:lnSpc>
                      <a:spcPts val="4200"/>
                    </a:lnSpc>
                    <a:spcBef>
                      <a:spcPct val="0"/>
                    </a:spcBef>
                    <a:buNone/>
                    <a:defRPr sz="3200" b="1" kern="1200">
                      <a:solidFill>
                        <a:schemeClr val="bg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:pPr algn="ctr">
                    <a:lnSpc>
                      <a:spcPct val="100000"/>
                    </a:lnSpc>
                  </a:pPr>
                  <a:r>
                    <a:rPr lang="en-US" sz="1000" b="0" dirty="0">
                      <a:solidFill>
                        <a:schemeClr val="tx2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+mn-cs"/>
                    </a:rPr>
                    <a:t>Asset Register</a:t>
                  </a:r>
                </a:p>
              </p:txBody>
            </p:sp>
          </p:grpSp>
          <p:sp>
            <p:nvSpPr>
              <p:cNvPr id="94" name="Title 63">
                <a:extLst>
                  <a:ext uri="{FF2B5EF4-FFF2-40B4-BE49-F238E27FC236}">
                    <a16:creationId xmlns:a16="http://schemas.microsoft.com/office/drawing/2014/main" id="{CA140039-70ED-262D-F567-D319317E105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040924" y="934984"/>
                <a:ext cx="720000" cy="360000"/>
              </a:xfrm>
              <a:prstGeom prst="rect">
                <a:avLst/>
              </a:prstGeom>
              <a:solidFill>
                <a:srgbClr val="2D6A87"/>
              </a:solidFill>
              <a:ln w="38100">
                <a:noFill/>
              </a:ln>
            </p:spPr>
            <p:txBody>
              <a:bodyPr anchor="ctr">
                <a:normAutofit fontScale="92500" lnSpcReduction="10000"/>
              </a:bodyPr>
              <a:lstStyle>
                <a:lvl1pPr algn="l" defTabSz="914400" rtl="0" eaLnBrk="1" latinLnBrk="0" hangingPunct="1">
                  <a:lnSpc>
                    <a:spcPts val="4200"/>
                  </a:lnSpc>
                  <a:spcBef>
                    <a:spcPct val="0"/>
                  </a:spcBef>
                  <a:buNone/>
                  <a:defRPr sz="3200" b="1" kern="1200">
                    <a:solidFill>
                      <a:schemeClr val="bg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00000"/>
                  </a:lnSpc>
                </a:pPr>
                <a:r>
                  <a:rPr lang="en-US" sz="1000" b="0" dirty="0">
                    <a:solidFill>
                      <a:schemeClr val="tx2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rPr>
                  <a:t>Account Manager</a:t>
                </a:r>
              </a:p>
            </p:txBody>
          </p:sp>
        </p:grpSp>
        <p:sp>
          <p:nvSpPr>
            <p:cNvPr id="89" name="Title 63">
              <a:extLst>
                <a:ext uri="{FF2B5EF4-FFF2-40B4-BE49-F238E27FC236}">
                  <a16:creationId xmlns:a16="http://schemas.microsoft.com/office/drawing/2014/main" id="{2225572F-0059-BA5F-E832-B3D37BC4CBD5}"/>
                </a:ext>
              </a:extLst>
            </p:cNvPr>
            <p:cNvSpPr txBox="1">
              <a:spLocks/>
            </p:cNvSpPr>
            <p:nvPr/>
          </p:nvSpPr>
          <p:spPr>
            <a:xfrm>
              <a:off x="1437809" y="932141"/>
              <a:ext cx="1440000" cy="360000"/>
            </a:xfrm>
            <a:prstGeom prst="rect">
              <a:avLst/>
            </a:prstGeom>
            <a:solidFill>
              <a:srgbClr val="2D6A87"/>
            </a:solidFill>
            <a:ln w="38100">
              <a:noFill/>
            </a:ln>
          </p:spPr>
          <p:txBody>
            <a:bodyPr anchor="ctr">
              <a:normAutofit fontScale="92500" lnSpcReduction="10000"/>
            </a:bodyPr>
            <a:lstStyle>
              <a:lvl1pPr algn="l" defTabSz="914400" rtl="0" eaLnBrk="1" latinLnBrk="0" hangingPunct="1">
                <a:lnSpc>
                  <a:spcPts val="4200"/>
                </a:lnSpc>
                <a:spcBef>
                  <a:spcPct val="0"/>
                </a:spcBef>
                <a:buNone/>
                <a:defRPr sz="3200" b="1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>
                <a:lnSpc>
                  <a:spcPct val="100000"/>
                </a:lnSpc>
              </a:pPr>
              <a:r>
                <a:rPr lang="en-US" sz="1000" b="0" dirty="0">
                  <a:solidFill>
                    <a:schemeClr val="tx2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Risk Based Inspection Planning</a:t>
              </a:r>
            </a:p>
          </p:txBody>
        </p:sp>
        <p:sp>
          <p:nvSpPr>
            <p:cNvPr id="91" name="Title 63">
              <a:extLst>
                <a:ext uri="{FF2B5EF4-FFF2-40B4-BE49-F238E27FC236}">
                  <a16:creationId xmlns:a16="http://schemas.microsoft.com/office/drawing/2014/main" id="{5D27B959-0ACE-F739-CBFD-1F1D862A5A17}"/>
                </a:ext>
              </a:extLst>
            </p:cNvPr>
            <p:cNvSpPr txBox="1">
              <a:spLocks/>
            </p:cNvSpPr>
            <p:nvPr/>
          </p:nvSpPr>
          <p:spPr>
            <a:xfrm>
              <a:off x="2877809" y="932141"/>
              <a:ext cx="720000" cy="360000"/>
            </a:xfrm>
            <a:prstGeom prst="rect">
              <a:avLst/>
            </a:prstGeom>
            <a:solidFill>
              <a:srgbClr val="2D6A87"/>
            </a:solidFill>
            <a:ln w="38100">
              <a:noFill/>
            </a:ln>
          </p:spPr>
          <p:txBody>
            <a:bodyPr anchor="ctr">
              <a:normAutofit fontScale="92500" lnSpcReduction="10000"/>
            </a:bodyPr>
            <a:lstStyle>
              <a:lvl1pPr algn="l" defTabSz="914400" rtl="0" eaLnBrk="1" latinLnBrk="0" hangingPunct="1">
                <a:lnSpc>
                  <a:spcPts val="4200"/>
                </a:lnSpc>
                <a:spcBef>
                  <a:spcPct val="0"/>
                </a:spcBef>
                <a:buNone/>
                <a:defRPr sz="3200" b="1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>
                <a:lnSpc>
                  <a:spcPct val="100000"/>
                </a:lnSpc>
              </a:pPr>
              <a:r>
                <a:rPr lang="en-US" sz="1000" b="0" dirty="0">
                  <a:solidFill>
                    <a:schemeClr val="tx2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Add</a:t>
              </a:r>
            </a:p>
            <a:p>
              <a:pPr algn="ctr">
                <a:lnSpc>
                  <a:spcPct val="100000"/>
                </a:lnSpc>
              </a:pPr>
              <a:r>
                <a:rPr lang="en-US" sz="1000" b="0" dirty="0">
                  <a:solidFill>
                    <a:schemeClr val="tx2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Module</a:t>
              </a:r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685E53EF-636D-811E-3A12-CF28FF5E1D10}"/>
              </a:ext>
            </a:extLst>
          </p:cNvPr>
          <p:cNvSpPr/>
          <p:nvPr/>
        </p:nvSpPr>
        <p:spPr>
          <a:xfrm>
            <a:off x="8660093" y="2870410"/>
            <a:ext cx="1764067" cy="201403"/>
          </a:xfrm>
          <a:prstGeom prst="rect">
            <a:avLst/>
          </a:prstGeom>
          <a:solidFill>
            <a:srgbClr val="FFFF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F8E3A833-C9E7-91AB-1691-95ADD485EB81}"/>
              </a:ext>
            </a:extLst>
          </p:cNvPr>
          <p:cNvSpPr/>
          <p:nvPr/>
        </p:nvSpPr>
        <p:spPr>
          <a:xfrm>
            <a:off x="11657117" y="318924"/>
            <a:ext cx="360000" cy="360000"/>
          </a:xfrm>
          <a:prstGeom prst="triangl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</a:rPr>
              <a:t>B</a:t>
            </a:r>
            <a:endParaRPr lang="en-ID" sz="12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5565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63">
            <a:extLst>
              <a:ext uri="{FF2B5EF4-FFF2-40B4-BE49-F238E27FC236}">
                <a16:creationId xmlns:a16="http://schemas.microsoft.com/office/drawing/2014/main" id="{C7B9BD27-C6BF-1637-1BAB-46774E2BEE7C}"/>
              </a:ext>
            </a:extLst>
          </p:cNvPr>
          <p:cNvSpPr txBox="1">
            <a:spLocks/>
          </p:cNvSpPr>
          <p:nvPr/>
        </p:nvSpPr>
        <p:spPr>
          <a:xfrm>
            <a:off x="636785" y="340010"/>
            <a:ext cx="8371028" cy="525525"/>
          </a:xfrm>
          <a:prstGeom prst="rect">
            <a:avLst/>
          </a:prstGeom>
          <a:noFill/>
          <a:ln w="38100">
            <a:noFill/>
          </a:ln>
        </p:spPr>
        <p:txBody>
          <a:bodyPr anchor="t">
            <a:no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200" b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Tabel Description</a:t>
            </a:r>
          </a:p>
          <a:p>
            <a:pPr>
              <a:lnSpc>
                <a:spcPct val="100000"/>
              </a:lnSpc>
            </a:pPr>
            <a:r>
              <a:rPr lang="en-US" sz="1200" b="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Mengambil</a:t>
            </a:r>
            <a:r>
              <a:rPr lang="en-US" sz="1200" b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/</a:t>
            </a:r>
            <a:r>
              <a:rPr lang="en-US" sz="1200" b="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memanggil</a:t>
            </a:r>
            <a:r>
              <a:rPr lang="en-US" sz="1200" b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data 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Asset details </a:t>
            </a:r>
            <a:r>
              <a:rPr lang="en-US" sz="1200" b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 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Asset register </a:t>
            </a:r>
            <a:r>
              <a:rPr lang="en-US" sz="1200" b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dan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Asset details </a:t>
            </a:r>
            <a:r>
              <a:rPr lang="en-US" sz="1200" b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&gt; 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Condition (GVI)</a:t>
            </a:r>
            <a:endParaRPr lang="en-US" sz="1200" dirty="0">
              <a:solidFill>
                <a:schemeClr val="tx1"/>
              </a:solidFill>
              <a:latin typeface="Courier New" panose="02070309020205020404" pitchFamily="49" charset="0"/>
              <a:ea typeface="Verdana" panose="020B0604030504040204" pitchFamily="34" charset="0"/>
              <a:cs typeface="Courier New" panose="02070309020205020404" pitchFamily="49" charset="0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29C50D7-B3CA-C570-01C9-9A650A960D94}"/>
              </a:ext>
            </a:extLst>
          </p:cNvPr>
          <p:cNvCxnSpPr>
            <a:cxnSpLocks/>
          </p:cNvCxnSpPr>
          <p:nvPr/>
        </p:nvCxnSpPr>
        <p:spPr>
          <a:xfrm flipH="1">
            <a:off x="3953151" y="1510623"/>
            <a:ext cx="223782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A6038F1-3542-80CD-F9B2-4D67D939ED91}"/>
              </a:ext>
            </a:extLst>
          </p:cNvPr>
          <p:cNvCxnSpPr>
            <a:cxnSpLocks/>
          </p:cNvCxnSpPr>
          <p:nvPr/>
        </p:nvCxnSpPr>
        <p:spPr>
          <a:xfrm flipH="1">
            <a:off x="3953151" y="1739223"/>
            <a:ext cx="223782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2D6FED8-96F6-4B9C-2652-E1CA4A290535}"/>
              </a:ext>
            </a:extLst>
          </p:cNvPr>
          <p:cNvCxnSpPr>
            <a:cxnSpLocks/>
          </p:cNvCxnSpPr>
          <p:nvPr/>
        </p:nvCxnSpPr>
        <p:spPr>
          <a:xfrm flipH="1">
            <a:off x="3953151" y="1958298"/>
            <a:ext cx="223782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0732EAF-010A-8A34-B312-50BDC5F38C31}"/>
              </a:ext>
            </a:extLst>
          </p:cNvPr>
          <p:cNvCxnSpPr>
            <a:cxnSpLocks/>
          </p:cNvCxnSpPr>
          <p:nvPr/>
        </p:nvCxnSpPr>
        <p:spPr>
          <a:xfrm flipH="1" flipV="1">
            <a:off x="3953151" y="2110698"/>
            <a:ext cx="2237823" cy="11450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0A8E2C2-4049-E26C-2CDB-5AC9A2C66419}"/>
              </a:ext>
            </a:extLst>
          </p:cNvPr>
          <p:cNvCxnSpPr>
            <a:cxnSpLocks/>
          </p:cNvCxnSpPr>
          <p:nvPr/>
        </p:nvCxnSpPr>
        <p:spPr>
          <a:xfrm flipH="1" flipV="1">
            <a:off x="3953151" y="2329773"/>
            <a:ext cx="2294972" cy="33091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303D028-7F5A-AC09-B4B9-08494B86AD89}"/>
              </a:ext>
            </a:extLst>
          </p:cNvPr>
          <p:cNvCxnSpPr>
            <a:cxnSpLocks/>
          </p:cNvCxnSpPr>
          <p:nvPr/>
        </p:nvCxnSpPr>
        <p:spPr>
          <a:xfrm flipH="1" flipV="1">
            <a:off x="3953151" y="2562125"/>
            <a:ext cx="2237823" cy="32959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53B46BC-7F4B-8287-EDA5-ED481BA7D43C}"/>
              </a:ext>
            </a:extLst>
          </p:cNvPr>
          <p:cNvCxnSpPr>
            <a:cxnSpLocks/>
          </p:cNvCxnSpPr>
          <p:nvPr/>
        </p:nvCxnSpPr>
        <p:spPr>
          <a:xfrm flipH="1" flipV="1">
            <a:off x="3953151" y="2779817"/>
            <a:ext cx="2237823" cy="33105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AFB3A35A-F15F-9280-40AB-37BD612367D5}"/>
              </a:ext>
            </a:extLst>
          </p:cNvPr>
          <p:cNvCxnSpPr>
            <a:cxnSpLocks/>
          </p:cNvCxnSpPr>
          <p:nvPr/>
        </p:nvCxnSpPr>
        <p:spPr>
          <a:xfrm flipH="1" flipV="1">
            <a:off x="3953151" y="3025302"/>
            <a:ext cx="2211432" cy="32827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5E34155D-C3D7-9516-3EA1-8B29BA130D36}"/>
              </a:ext>
            </a:extLst>
          </p:cNvPr>
          <p:cNvCxnSpPr>
            <a:cxnSpLocks/>
          </p:cNvCxnSpPr>
          <p:nvPr/>
        </p:nvCxnSpPr>
        <p:spPr>
          <a:xfrm flipH="1" flipV="1">
            <a:off x="3953151" y="3244173"/>
            <a:ext cx="2237823" cy="21846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139FD318-E477-C15A-C85C-F081EB346B52}"/>
              </a:ext>
            </a:extLst>
          </p:cNvPr>
          <p:cNvCxnSpPr>
            <a:cxnSpLocks/>
          </p:cNvCxnSpPr>
          <p:nvPr/>
        </p:nvCxnSpPr>
        <p:spPr>
          <a:xfrm flipH="1" flipV="1">
            <a:off x="3896002" y="3473416"/>
            <a:ext cx="2268581" cy="8989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56" name="Table 55">
            <a:extLst>
              <a:ext uri="{FF2B5EF4-FFF2-40B4-BE49-F238E27FC236}">
                <a16:creationId xmlns:a16="http://schemas.microsoft.com/office/drawing/2014/main" id="{CEBD46FD-AADE-2291-61BD-B47CDE5189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1370943"/>
              </p:ext>
            </p:extLst>
          </p:nvPr>
        </p:nvGraphicFramePr>
        <p:xfrm>
          <a:off x="636785" y="5006846"/>
          <a:ext cx="2626120" cy="154195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97040">
                  <a:extLst>
                    <a:ext uri="{9D8B030D-6E8A-4147-A177-3AD203B41FA5}">
                      <a16:colId xmlns:a16="http://schemas.microsoft.com/office/drawing/2014/main" val="1360728645"/>
                    </a:ext>
                  </a:extLst>
                </a:gridCol>
                <a:gridCol w="1529080">
                  <a:extLst>
                    <a:ext uri="{9D8B030D-6E8A-4147-A177-3AD203B41FA5}">
                      <a16:colId xmlns:a16="http://schemas.microsoft.com/office/drawing/2014/main" val="2423881929"/>
                    </a:ext>
                  </a:extLst>
                </a:gridCol>
              </a:tblGrid>
              <a:tr h="127863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Date of Inspection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15/Aug/2026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3287019"/>
                  </a:ext>
                </a:extLst>
              </a:tr>
              <a:tr h="127863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Inspector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James Bond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1649554"/>
                  </a:ext>
                </a:extLst>
              </a:tr>
              <a:tr h="127863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Condition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highlight>
                            <a:srgbClr val="00FFFF"/>
                          </a:highlight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Good</a:t>
                      </a:r>
                      <a:endParaRPr lang="en-ID" sz="700" dirty="0">
                        <a:highlight>
                          <a:srgbClr val="00FFFF"/>
                        </a:highlight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0242237"/>
                  </a:ext>
                </a:extLst>
              </a:tr>
              <a:tr h="196713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Comment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Structure is in good condition</a:t>
                      </a:r>
                    </a:p>
                    <a:p>
                      <a:r>
                        <a:rPr lang="en-ID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Minor coating degradation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1250460"/>
                  </a:ext>
                </a:extLst>
              </a:tr>
              <a:tr h="642794">
                <a:tc gridSpan="2"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Preview</a:t>
                      </a:r>
                    </a:p>
                    <a:p>
                      <a:endParaRPr lang="en-US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9245464"/>
                  </a:ext>
                </a:extLst>
              </a:tr>
            </a:tbl>
          </a:graphicData>
        </a:graphic>
      </p:graphicFrame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86269A3A-69E8-134E-85EA-8237A2B6E502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705542" y="4258245"/>
            <a:ext cx="1878658" cy="61656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Title 63">
            <a:extLst>
              <a:ext uri="{FF2B5EF4-FFF2-40B4-BE49-F238E27FC236}">
                <a16:creationId xmlns:a16="http://schemas.microsoft.com/office/drawing/2014/main" id="{3F6EFDAD-234B-9603-7CA5-27D875640B60}"/>
              </a:ext>
            </a:extLst>
          </p:cNvPr>
          <p:cNvSpPr txBox="1">
            <a:spLocks/>
          </p:cNvSpPr>
          <p:nvPr/>
        </p:nvSpPr>
        <p:spPr>
          <a:xfrm>
            <a:off x="6096000" y="896951"/>
            <a:ext cx="3232826" cy="284799"/>
          </a:xfrm>
          <a:prstGeom prst="rect">
            <a:avLst/>
          </a:prstGeom>
          <a:noFill/>
          <a:ln w="38100">
            <a:noFill/>
          </a:ln>
        </p:spPr>
        <p:txBody>
          <a:bodyPr anchor="t">
            <a:no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Asset details </a:t>
            </a:r>
            <a:r>
              <a:rPr lang="en-US" sz="1200" b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 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Asset Register</a:t>
            </a:r>
            <a:endParaRPr lang="en-US" sz="1200" dirty="0">
              <a:solidFill>
                <a:schemeClr val="tx1"/>
              </a:solidFill>
              <a:latin typeface="Courier New" panose="02070309020205020404" pitchFamily="49" charset="0"/>
              <a:ea typeface="Verdana" panose="020B0604030504040204" pitchFamily="34" charset="0"/>
              <a:cs typeface="Courier New" panose="02070309020205020404" pitchFamily="49" charset="0"/>
            </a:endParaRPr>
          </a:p>
        </p:txBody>
      </p:sp>
      <p:sp>
        <p:nvSpPr>
          <p:cNvPr id="65" name="Title 63">
            <a:extLst>
              <a:ext uri="{FF2B5EF4-FFF2-40B4-BE49-F238E27FC236}">
                <a16:creationId xmlns:a16="http://schemas.microsoft.com/office/drawing/2014/main" id="{E7565F72-C316-C61F-7E9B-9E051DF4013E}"/>
              </a:ext>
            </a:extLst>
          </p:cNvPr>
          <p:cNvSpPr txBox="1">
            <a:spLocks/>
          </p:cNvSpPr>
          <p:nvPr/>
        </p:nvSpPr>
        <p:spPr>
          <a:xfrm>
            <a:off x="523913" y="4601630"/>
            <a:ext cx="3232826" cy="284799"/>
          </a:xfrm>
          <a:prstGeom prst="rect">
            <a:avLst/>
          </a:prstGeom>
          <a:noFill/>
          <a:ln w="38100">
            <a:noFill/>
          </a:ln>
        </p:spPr>
        <p:txBody>
          <a:bodyPr anchor="t">
            <a:no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Asset details </a:t>
            </a:r>
            <a:r>
              <a:rPr lang="en-US" sz="1200" b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 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Condition (GVI)</a:t>
            </a:r>
            <a:endParaRPr lang="en-US" sz="1200" dirty="0">
              <a:solidFill>
                <a:schemeClr val="tx1"/>
              </a:solidFill>
              <a:latin typeface="Courier New" panose="02070309020205020404" pitchFamily="49" charset="0"/>
              <a:ea typeface="Verdana" panose="020B0604030504040204" pitchFamily="34" charset="0"/>
              <a:cs typeface="Courier New" panose="02070309020205020404" pitchFamily="49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1768684-70DC-038D-FB6B-60EF3C8DEC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5618692"/>
              </p:ext>
            </p:extLst>
          </p:nvPr>
        </p:nvGraphicFramePr>
        <p:xfrm>
          <a:off x="523913" y="1407301"/>
          <a:ext cx="3316366" cy="2575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97040">
                  <a:extLst>
                    <a:ext uri="{9D8B030D-6E8A-4147-A177-3AD203B41FA5}">
                      <a16:colId xmlns:a16="http://schemas.microsoft.com/office/drawing/2014/main" val="1360728645"/>
                    </a:ext>
                  </a:extLst>
                </a:gridCol>
                <a:gridCol w="1109663">
                  <a:extLst>
                    <a:ext uri="{9D8B030D-6E8A-4147-A177-3AD203B41FA5}">
                      <a16:colId xmlns:a16="http://schemas.microsoft.com/office/drawing/2014/main" val="2423881929"/>
                    </a:ext>
                  </a:extLst>
                </a:gridCol>
                <a:gridCol w="385763">
                  <a:extLst>
                    <a:ext uri="{9D8B030D-6E8A-4147-A177-3AD203B41FA5}">
                      <a16:colId xmlns:a16="http://schemas.microsoft.com/office/drawing/2014/main" val="3393337549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8058164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register No.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32870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GIS Ref. No.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1234567890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16495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tag no.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17D-1/Q-1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2829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Description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Foundation for 17D-1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711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Plant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17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157029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Zone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Zone 1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619959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Area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LPG Storage and Loading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219248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Train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20372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Coordinate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1234567890 N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algn="r"/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1234567890 E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791459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Installed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1970 (age: 56 years)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22047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Condition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Good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952527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QR Code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sz="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http:www.dtp-eng.com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u="sng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Preview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853855238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AE76C40-65B0-D9F7-823B-A1CDE15757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6720389"/>
              </p:ext>
            </p:extLst>
          </p:nvPr>
        </p:nvGraphicFramePr>
        <p:xfrm>
          <a:off x="6248123" y="1213166"/>
          <a:ext cx="3080703" cy="52268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35393">
                  <a:extLst>
                    <a:ext uri="{9D8B030D-6E8A-4147-A177-3AD203B41FA5}">
                      <a16:colId xmlns:a16="http://schemas.microsoft.com/office/drawing/2014/main" val="1360728645"/>
                    </a:ext>
                  </a:extLst>
                </a:gridCol>
                <a:gridCol w="438150">
                  <a:extLst>
                    <a:ext uri="{9D8B030D-6E8A-4147-A177-3AD203B41FA5}">
                      <a16:colId xmlns:a16="http://schemas.microsoft.com/office/drawing/2014/main" val="2423881929"/>
                    </a:ext>
                  </a:extLst>
                </a:gridCol>
                <a:gridCol w="446405">
                  <a:extLst>
                    <a:ext uri="{9D8B030D-6E8A-4147-A177-3AD203B41FA5}">
                      <a16:colId xmlns:a16="http://schemas.microsoft.com/office/drawing/2014/main" val="868974484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3030883691"/>
                    </a:ext>
                  </a:extLst>
                </a:gridCol>
                <a:gridCol w="560705">
                  <a:extLst>
                    <a:ext uri="{9D8B030D-6E8A-4147-A177-3AD203B41FA5}">
                      <a16:colId xmlns:a16="http://schemas.microsoft.com/office/drawing/2014/main" val="106965890"/>
                    </a:ext>
                  </a:extLst>
                </a:gridCol>
              </a:tblGrid>
              <a:tr h="134959">
                <a:tc gridSpan="5">
                  <a:txBody>
                    <a:bodyPr/>
                    <a:lstStyle/>
                    <a:p>
                      <a:r>
                        <a:rPr lang="en-US" sz="700" b="1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Register</a:t>
                      </a:r>
                      <a:endParaRPr lang="en-ID" sz="700" b="1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b="1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 sz="700" b="1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158135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register No.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sz="700" dirty="0">
                          <a:highlight>
                            <a:srgbClr val="00FFFF"/>
                          </a:highlight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</a:t>
                      </a:r>
                      <a:endParaRPr lang="en-ID" sz="700" dirty="0">
                        <a:highlight>
                          <a:srgbClr val="00FFFF"/>
                        </a:highlight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32870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GIS Ref. No.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sz="700" dirty="0">
                          <a:highlight>
                            <a:srgbClr val="00FFFF"/>
                          </a:highlight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1234567890</a:t>
                      </a:r>
                      <a:endParaRPr lang="en-ID" sz="700" dirty="0">
                        <a:highlight>
                          <a:srgbClr val="00FFFF"/>
                        </a:highlight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16495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tag no.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sz="700" dirty="0">
                          <a:highlight>
                            <a:srgbClr val="00FFFF"/>
                          </a:highlight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17D-1/Q-1</a:t>
                      </a:r>
                      <a:endParaRPr lang="en-ID" sz="700" dirty="0">
                        <a:highlight>
                          <a:srgbClr val="00FFFF"/>
                        </a:highlight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2829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Plant code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17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3"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LPG Storage and Loading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53081491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Code Lv. 1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3"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Tanks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5883990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Lv. 1 order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3734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Lv. 1 desc.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Propane tank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9437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Code Lv. 2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Q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3"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Foundation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6624068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Lv. 2 order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56906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Lv. 2 desc.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>
                          <a:highlight>
                            <a:srgbClr val="00FFFF"/>
                          </a:highlight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Foundation for 17D-1</a:t>
                      </a:r>
                      <a:endParaRPr lang="en-ID" sz="700" dirty="0">
                        <a:highlight>
                          <a:srgbClr val="00FFFF"/>
                        </a:highlight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711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QR Code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http: www.dtp-eng.com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r>
                        <a:rPr lang="en-US" sz="900" u="sng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↑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u="sng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Preview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853855238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r>
                        <a:rPr lang="en-US" sz="700" b="1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Attribute</a:t>
                      </a:r>
                      <a:endParaRPr lang="en-ID" sz="700" b="1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b="1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 sz="700" b="1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104965"/>
                  </a:ext>
                </a:extLst>
              </a:tr>
              <a:tr h="220938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Function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Equipment foundation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0240442"/>
                  </a:ext>
                </a:extLst>
              </a:tr>
              <a:tr h="220938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Material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Reinforced concrete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1885395"/>
                  </a:ext>
                </a:extLst>
              </a:tr>
              <a:tr h="220938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Year Installed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sz="700" dirty="0">
                          <a:highlight>
                            <a:srgbClr val="00FFFF"/>
                          </a:highlight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1970 (age: 56 year)</a:t>
                      </a:r>
                      <a:endParaRPr lang="en-ID" sz="700" dirty="0">
                        <a:highlight>
                          <a:srgbClr val="00FFFF"/>
                        </a:highlight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7608198"/>
                  </a:ext>
                </a:extLst>
              </a:tr>
              <a:tr h="220938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Owner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PT. </a:t>
                      </a:r>
                      <a:r>
                        <a:rPr lang="en-US" sz="700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Badak</a:t>
                      </a:r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NGL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3561346"/>
                  </a:ext>
                </a:extLst>
              </a:tr>
              <a:tr h="220938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Constrain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N/A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4299433"/>
                  </a:ext>
                </a:extLst>
              </a:tr>
              <a:tr h="220938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Access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Road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887778"/>
                  </a:ext>
                </a:extLst>
              </a:tr>
              <a:tr h="220938">
                <a:tc gridSpan="5">
                  <a:txBody>
                    <a:bodyPr/>
                    <a:lstStyle/>
                    <a:p>
                      <a:r>
                        <a:rPr lang="en-US" sz="700" b="1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Location</a:t>
                      </a:r>
                      <a:endParaRPr lang="en-ID" sz="700" b="1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b="1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 sz="700" b="1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676785"/>
                  </a:ext>
                </a:extLst>
              </a:tr>
              <a:tr h="220938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Coordinate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r"/>
                      <a:r>
                        <a:rPr lang="en-US" sz="700" dirty="0">
                          <a:highlight>
                            <a:srgbClr val="00FFFF"/>
                          </a:highlight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1234567890 N</a:t>
                      </a:r>
                      <a:endParaRPr lang="en-ID" sz="700" dirty="0">
                        <a:highlight>
                          <a:srgbClr val="00FFFF"/>
                        </a:highlight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2">
                  <a:txBody>
                    <a:bodyPr/>
                    <a:lstStyle/>
                    <a:p>
                      <a:pPr algn="r"/>
                      <a:r>
                        <a:rPr lang="en-US" sz="700" dirty="0">
                          <a:highlight>
                            <a:srgbClr val="00FFFF"/>
                          </a:highlight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1234567890 E</a:t>
                      </a:r>
                      <a:endParaRPr lang="en-ID" sz="700" dirty="0">
                        <a:highlight>
                          <a:srgbClr val="00FFFF"/>
                        </a:highlight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r"/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4259847"/>
                  </a:ext>
                </a:extLst>
              </a:tr>
              <a:tr h="220938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Plant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sz="700" dirty="0">
                          <a:highlight>
                            <a:srgbClr val="00FFFF"/>
                          </a:highlight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17</a:t>
                      </a:r>
                      <a:endParaRPr lang="en-ID" sz="700" dirty="0">
                        <a:highlight>
                          <a:srgbClr val="00FFFF"/>
                        </a:highlight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5747019"/>
                  </a:ext>
                </a:extLst>
              </a:tr>
              <a:tr h="220938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Zone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sz="700" dirty="0">
                          <a:highlight>
                            <a:srgbClr val="00FFFF"/>
                          </a:highlight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Zone 1</a:t>
                      </a:r>
                      <a:endParaRPr lang="en-ID" sz="700" dirty="0">
                        <a:highlight>
                          <a:srgbClr val="00FFFF"/>
                        </a:highlight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82014042"/>
                  </a:ext>
                </a:extLst>
              </a:tr>
              <a:tr h="220938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Area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sz="700" dirty="0">
                          <a:highlight>
                            <a:srgbClr val="00FFFF"/>
                          </a:highlight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LPG Storage and Loading</a:t>
                      </a:r>
                      <a:endParaRPr lang="en-ID" sz="700" dirty="0">
                        <a:highlight>
                          <a:srgbClr val="00FFFF"/>
                        </a:highlight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7028895"/>
                  </a:ext>
                </a:extLst>
              </a:tr>
              <a:tr h="220938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Train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sz="700" dirty="0">
                          <a:highlight>
                            <a:srgbClr val="00FFFF"/>
                          </a:highlight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N/A</a:t>
                      </a:r>
                      <a:endParaRPr lang="en-ID" sz="700" dirty="0">
                        <a:highlight>
                          <a:srgbClr val="00FFFF"/>
                        </a:highlight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2359536"/>
                  </a:ext>
                </a:extLst>
              </a:tr>
            </a:tbl>
          </a:graphicData>
        </a:graphic>
      </p:graphicFrame>
      <p:sp>
        <p:nvSpPr>
          <p:cNvPr id="22" name="Rectangle 21">
            <a:extLst>
              <a:ext uri="{FF2B5EF4-FFF2-40B4-BE49-F238E27FC236}">
                <a16:creationId xmlns:a16="http://schemas.microsoft.com/office/drawing/2014/main" id="{19E15044-56A5-B921-498C-DAFC36DF7C31}"/>
              </a:ext>
            </a:extLst>
          </p:cNvPr>
          <p:cNvSpPr/>
          <p:nvPr/>
        </p:nvSpPr>
        <p:spPr>
          <a:xfrm>
            <a:off x="6231781" y="5576420"/>
            <a:ext cx="1764067" cy="201403"/>
          </a:xfrm>
          <a:prstGeom prst="rect">
            <a:avLst/>
          </a:prstGeom>
          <a:solidFill>
            <a:srgbClr val="FFFF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29318E0-4D85-BD5B-FC1C-AB6B5E1491D2}"/>
              </a:ext>
            </a:extLst>
          </p:cNvPr>
          <p:cNvSpPr/>
          <p:nvPr/>
        </p:nvSpPr>
        <p:spPr>
          <a:xfrm>
            <a:off x="6248123" y="2230997"/>
            <a:ext cx="2424187" cy="1145026"/>
          </a:xfrm>
          <a:prstGeom prst="rect">
            <a:avLst/>
          </a:prstGeom>
          <a:solidFill>
            <a:srgbClr val="FFFF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50E5BDC-B979-EDFD-8F3C-E66EC39B574C}"/>
              </a:ext>
            </a:extLst>
          </p:cNvPr>
          <p:cNvSpPr/>
          <p:nvPr/>
        </p:nvSpPr>
        <p:spPr>
          <a:xfrm>
            <a:off x="483106" y="2255180"/>
            <a:ext cx="2424187" cy="177124"/>
          </a:xfrm>
          <a:prstGeom prst="rect">
            <a:avLst/>
          </a:prstGeom>
          <a:solidFill>
            <a:srgbClr val="FFFF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46FB57C8-DD33-12CD-06E2-61DEB3158839}"/>
              </a:ext>
            </a:extLst>
          </p:cNvPr>
          <p:cNvSpPr/>
          <p:nvPr/>
        </p:nvSpPr>
        <p:spPr>
          <a:xfrm>
            <a:off x="11657117" y="318924"/>
            <a:ext cx="360000" cy="360000"/>
          </a:xfrm>
          <a:prstGeom prst="triangl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</a:rPr>
              <a:t>B</a:t>
            </a:r>
            <a:endParaRPr lang="en-ID" sz="12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4334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FF569-9912-6FEA-88B3-946765AFA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itle 63">
            <a:extLst>
              <a:ext uri="{FF2B5EF4-FFF2-40B4-BE49-F238E27FC236}">
                <a16:creationId xmlns:a16="http://schemas.microsoft.com/office/drawing/2014/main" id="{B9F17963-F0AC-A4B7-7F99-88BF4B18721E}"/>
              </a:ext>
            </a:extLst>
          </p:cNvPr>
          <p:cNvSpPr txBox="1">
            <a:spLocks/>
          </p:cNvSpPr>
          <p:nvPr/>
        </p:nvSpPr>
        <p:spPr>
          <a:xfrm>
            <a:off x="0" y="1462924"/>
            <a:ext cx="2152665" cy="5395076"/>
          </a:xfrm>
          <a:prstGeom prst="rect">
            <a:avLst/>
          </a:prstGeom>
          <a:noFill/>
          <a:ln w="19050">
            <a:solidFill>
              <a:srgbClr val="2D6A87"/>
            </a:solidFill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endParaRPr lang="en-US" sz="1000" b="0" dirty="0">
              <a:solidFill>
                <a:schemeClr val="tx2"/>
              </a:solidFill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2" name="Title 63">
            <a:extLst>
              <a:ext uri="{FF2B5EF4-FFF2-40B4-BE49-F238E27FC236}">
                <a16:creationId xmlns:a16="http://schemas.microsoft.com/office/drawing/2014/main" id="{14B4CA7F-2F8C-083E-10CF-701694308857}"/>
              </a:ext>
            </a:extLst>
          </p:cNvPr>
          <p:cNvSpPr txBox="1">
            <a:spLocks/>
          </p:cNvSpPr>
          <p:nvPr/>
        </p:nvSpPr>
        <p:spPr>
          <a:xfrm>
            <a:off x="-1" y="10690"/>
            <a:ext cx="12192001" cy="900000"/>
          </a:xfrm>
          <a:prstGeom prst="rect">
            <a:avLst/>
          </a:prstGeom>
          <a:solidFill>
            <a:schemeClr val="tx2"/>
          </a:solidFill>
          <a:ln w="3810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2D6A87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Structural Integrity Management System (SIMS)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C5D1F2-798E-9E70-BCB3-9294A2CF6108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2836" r="22678"/>
          <a:stretch>
            <a:fillRect/>
          </a:stretch>
        </p:blipFill>
        <p:spPr>
          <a:xfrm>
            <a:off x="174883" y="103675"/>
            <a:ext cx="691633" cy="714030"/>
          </a:xfrm>
          <a:prstGeom prst="rect">
            <a:avLst/>
          </a:prstGeom>
        </p:spPr>
      </p:pic>
      <p:sp>
        <p:nvSpPr>
          <p:cNvPr id="25" name="Title 63">
            <a:extLst>
              <a:ext uri="{FF2B5EF4-FFF2-40B4-BE49-F238E27FC236}">
                <a16:creationId xmlns:a16="http://schemas.microsoft.com/office/drawing/2014/main" id="{174D46D3-630F-50A7-73AF-3C187B4A6E39}"/>
              </a:ext>
            </a:extLst>
          </p:cNvPr>
          <p:cNvSpPr txBox="1">
            <a:spLocks/>
          </p:cNvSpPr>
          <p:nvPr/>
        </p:nvSpPr>
        <p:spPr>
          <a:xfrm>
            <a:off x="0" y="1449533"/>
            <a:ext cx="2160000" cy="360000"/>
          </a:xfrm>
          <a:prstGeom prst="rect">
            <a:avLst/>
          </a:prstGeom>
          <a:solidFill>
            <a:srgbClr val="2D6A87"/>
          </a:solidFill>
          <a:ln w="3810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000" b="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Asset Tree </a:t>
            </a:r>
          </a:p>
        </p:txBody>
      </p:sp>
      <p:sp>
        <p:nvSpPr>
          <p:cNvPr id="31" name="Title 63">
            <a:extLst>
              <a:ext uri="{FF2B5EF4-FFF2-40B4-BE49-F238E27FC236}">
                <a16:creationId xmlns:a16="http://schemas.microsoft.com/office/drawing/2014/main" id="{4878AF12-5D78-0AA6-1E4B-4460B23A32F7}"/>
              </a:ext>
            </a:extLst>
          </p:cNvPr>
          <p:cNvSpPr txBox="1">
            <a:spLocks/>
          </p:cNvSpPr>
          <p:nvPr/>
        </p:nvSpPr>
        <p:spPr>
          <a:xfrm>
            <a:off x="0" y="1809532"/>
            <a:ext cx="2160000" cy="5037778"/>
          </a:xfrm>
          <a:prstGeom prst="rect">
            <a:avLst/>
          </a:prstGeom>
          <a:noFill/>
          <a:ln w="38100">
            <a:noFill/>
          </a:ln>
        </p:spPr>
        <p:txBody>
          <a:bodyPr anchor="t">
            <a:no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 Gas Purification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&gt;</a:t>
            </a: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Plant 2 Dehydration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&gt;</a:t>
            </a: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Plant 3 Fractionation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4 Refrigeration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5 Liquefaction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6 Condensate Stripping ...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15 LPG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16 Condensate Stabilize ... 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17 LPG Storage and Loa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highlight>
                  <a:srgbClr val="6E98A7"/>
                </a:highlight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17D-1/Q-1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17D-2/Q-1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17D-3/Q-1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17D-4/Q-1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17D-5/Q-1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+ add asset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19 Relief &amp; Blowdown S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20 Condensate Storage ...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20D-4/Q-1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     20D-5/Q-1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     20D-6/Q-1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+ add asset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21 Feed Gas Knockout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22 Marine Structures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24 LNG Storage and Loa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25 Fueling Facility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26 LPG Filling Station … &gt;Propane and Butane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27 Oxygen Plant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28 Acetylene Plant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29 Nitrogen Generation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30 Electrical </a:t>
            </a:r>
            <a:r>
              <a:rPr lang="en-US" sz="8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Distributio</a:t>
            </a: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31 Steam &amp; Power Gen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32 Seawater Cooling 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33 Fire Protection System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34 Liquid Waste System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35 Compressed Air System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36 Water Treatment Sy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37 Communication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+ add Plant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FA5D826-A3AB-E7C5-7147-3F72F86B357B}"/>
              </a:ext>
            </a:extLst>
          </p:cNvPr>
          <p:cNvGrpSpPr/>
          <p:nvPr/>
        </p:nvGrpSpPr>
        <p:grpSpPr>
          <a:xfrm>
            <a:off x="216151" y="3948414"/>
            <a:ext cx="73594" cy="324419"/>
            <a:chOff x="216151" y="3221023"/>
            <a:chExt cx="73594" cy="324419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2A2AEDCC-9107-0005-80F3-E600E2CBB13E}"/>
                </a:ext>
              </a:extLst>
            </p:cNvPr>
            <p:cNvSpPr/>
            <p:nvPr/>
          </p:nvSpPr>
          <p:spPr>
            <a:xfrm>
              <a:off x="217745" y="3346913"/>
              <a:ext cx="72000" cy="72000"/>
            </a:xfrm>
            <a:prstGeom prst="rect">
              <a:avLst/>
            </a:prstGeom>
            <a:solidFill>
              <a:schemeClr val="bg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0A48C773-6F6B-3809-FADE-7D9496A45598}"/>
                </a:ext>
              </a:extLst>
            </p:cNvPr>
            <p:cNvSpPr/>
            <p:nvPr/>
          </p:nvSpPr>
          <p:spPr>
            <a:xfrm>
              <a:off x="217745" y="3473442"/>
              <a:ext cx="72000" cy="72000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D62457E8-AE63-669B-97B1-C21F53A63EAB}"/>
                </a:ext>
              </a:extLst>
            </p:cNvPr>
            <p:cNvSpPr/>
            <p:nvPr/>
          </p:nvSpPr>
          <p:spPr>
            <a:xfrm>
              <a:off x="216151" y="3221023"/>
              <a:ext cx="72000" cy="720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sp>
        <p:nvSpPr>
          <p:cNvPr id="7" name="Title 63">
            <a:extLst>
              <a:ext uri="{FF2B5EF4-FFF2-40B4-BE49-F238E27FC236}">
                <a16:creationId xmlns:a16="http://schemas.microsoft.com/office/drawing/2014/main" id="{3FD3BC02-6175-CC98-1ACF-7608BDCEE112}"/>
              </a:ext>
            </a:extLst>
          </p:cNvPr>
          <p:cNvSpPr txBox="1">
            <a:spLocks/>
          </p:cNvSpPr>
          <p:nvPr/>
        </p:nvSpPr>
        <p:spPr>
          <a:xfrm>
            <a:off x="2176858" y="1449533"/>
            <a:ext cx="1800000" cy="360000"/>
          </a:xfrm>
          <a:prstGeom prst="rect">
            <a:avLst/>
          </a:prstGeom>
          <a:solidFill>
            <a:srgbClr val="2D6A87"/>
          </a:solidFill>
          <a:ln w="3810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1000" b="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17D-1/Q-1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FC9724EB-7D1E-B6DB-A56A-CF558D404038}"/>
              </a:ext>
            </a:extLst>
          </p:cNvPr>
          <p:cNvGrpSpPr/>
          <p:nvPr/>
        </p:nvGrpSpPr>
        <p:grpSpPr>
          <a:xfrm>
            <a:off x="214557" y="2975994"/>
            <a:ext cx="73594" cy="324419"/>
            <a:chOff x="216151" y="3221023"/>
            <a:chExt cx="73594" cy="324419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E5E1F23F-AE57-0C6B-4525-116146B0D47E}"/>
                </a:ext>
              </a:extLst>
            </p:cNvPr>
            <p:cNvSpPr/>
            <p:nvPr/>
          </p:nvSpPr>
          <p:spPr>
            <a:xfrm>
              <a:off x="217745" y="3346913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19F1DA12-98A0-9188-A0BF-6DDEDCF7C19C}"/>
                </a:ext>
              </a:extLst>
            </p:cNvPr>
            <p:cNvSpPr/>
            <p:nvPr/>
          </p:nvSpPr>
          <p:spPr>
            <a:xfrm>
              <a:off x="217745" y="3473442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341E67E9-813F-51DA-26F1-0F41A57E847C}"/>
                </a:ext>
              </a:extLst>
            </p:cNvPr>
            <p:cNvSpPr/>
            <p:nvPr/>
          </p:nvSpPr>
          <p:spPr>
            <a:xfrm>
              <a:off x="216151" y="3221023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BDF7A9BB-F1B8-F5EE-C39D-B1A0EC690297}"/>
              </a:ext>
            </a:extLst>
          </p:cNvPr>
          <p:cNvGrpSpPr/>
          <p:nvPr/>
        </p:nvGrpSpPr>
        <p:grpSpPr>
          <a:xfrm>
            <a:off x="214557" y="3346544"/>
            <a:ext cx="73594" cy="197890"/>
            <a:chOff x="216151" y="3221023"/>
            <a:chExt cx="73594" cy="197890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53DEFC9C-1D2C-9C53-C18A-3A9C915D57C2}"/>
                </a:ext>
              </a:extLst>
            </p:cNvPr>
            <p:cNvSpPr/>
            <p:nvPr/>
          </p:nvSpPr>
          <p:spPr>
            <a:xfrm>
              <a:off x="217745" y="3346913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93B177A3-0525-1593-DCBD-A2D3F81BCF1E}"/>
                </a:ext>
              </a:extLst>
            </p:cNvPr>
            <p:cNvSpPr/>
            <p:nvPr/>
          </p:nvSpPr>
          <p:spPr>
            <a:xfrm>
              <a:off x="216151" y="3221023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sp>
        <p:nvSpPr>
          <p:cNvPr id="8" name="Title 63">
            <a:extLst>
              <a:ext uri="{FF2B5EF4-FFF2-40B4-BE49-F238E27FC236}">
                <a16:creationId xmlns:a16="http://schemas.microsoft.com/office/drawing/2014/main" id="{DE6683DA-CE53-F018-58AD-3346173398B2}"/>
              </a:ext>
            </a:extLst>
          </p:cNvPr>
          <p:cNvSpPr txBox="1">
            <a:spLocks/>
          </p:cNvSpPr>
          <p:nvPr/>
        </p:nvSpPr>
        <p:spPr>
          <a:xfrm>
            <a:off x="3993716" y="1449316"/>
            <a:ext cx="8210283" cy="360000"/>
          </a:xfrm>
          <a:prstGeom prst="rect">
            <a:avLst/>
          </a:prstGeom>
          <a:solidFill>
            <a:srgbClr val="2D6A87"/>
          </a:solidFill>
          <a:ln w="3810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000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Asset Register </a:t>
            </a:r>
            <a:r>
              <a:rPr lang="en-US" sz="1000" b="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| Condition (GVI) | Inspection | Risk Based Inspection | Technical Document | Documentation | Name Plate</a:t>
            </a: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2C6892DC-F03E-5A49-2928-0F62953401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6737850"/>
              </p:ext>
            </p:extLst>
          </p:nvPr>
        </p:nvGraphicFramePr>
        <p:xfrm>
          <a:off x="2389386" y="1827572"/>
          <a:ext cx="8820131" cy="502869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35393">
                  <a:extLst>
                    <a:ext uri="{9D8B030D-6E8A-4147-A177-3AD203B41FA5}">
                      <a16:colId xmlns:a16="http://schemas.microsoft.com/office/drawing/2014/main" val="1360728645"/>
                    </a:ext>
                  </a:extLst>
                </a:gridCol>
                <a:gridCol w="438150">
                  <a:extLst>
                    <a:ext uri="{9D8B030D-6E8A-4147-A177-3AD203B41FA5}">
                      <a16:colId xmlns:a16="http://schemas.microsoft.com/office/drawing/2014/main" val="2423881929"/>
                    </a:ext>
                  </a:extLst>
                </a:gridCol>
                <a:gridCol w="3495399">
                  <a:extLst>
                    <a:ext uri="{9D8B030D-6E8A-4147-A177-3AD203B41FA5}">
                      <a16:colId xmlns:a16="http://schemas.microsoft.com/office/drawing/2014/main" val="868974484"/>
                    </a:ext>
                  </a:extLst>
                </a:gridCol>
                <a:gridCol w="3038475">
                  <a:extLst>
                    <a:ext uri="{9D8B030D-6E8A-4147-A177-3AD203B41FA5}">
                      <a16:colId xmlns:a16="http://schemas.microsoft.com/office/drawing/2014/main" val="3030883691"/>
                    </a:ext>
                  </a:extLst>
                </a:gridCol>
                <a:gridCol w="612714">
                  <a:extLst>
                    <a:ext uri="{9D8B030D-6E8A-4147-A177-3AD203B41FA5}">
                      <a16:colId xmlns:a16="http://schemas.microsoft.com/office/drawing/2014/main" val="106965890"/>
                    </a:ext>
                  </a:extLst>
                </a:gridCol>
              </a:tblGrid>
              <a:tr h="134959">
                <a:tc gridSpan="5">
                  <a:txBody>
                    <a:bodyPr/>
                    <a:lstStyle/>
                    <a:p>
                      <a:r>
                        <a:rPr lang="en-US" sz="600" b="1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Register</a:t>
                      </a:r>
                      <a:endParaRPr lang="en-ID" sz="600" b="1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b="1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 sz="700" b="1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158135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register No.</a:t>
                      </a:r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sz="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</a:t>
                      </a:r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32870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GIS Ref. No.</a:t>
                      </a:r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sz="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1234567890</a:t>
                      </a:r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16495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tag no.</a:t>
                      </a:r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sz="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17D-1/Q-1</a:t>
                      </a:r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2829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Plant code</a:t>
                      </a:r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17</a:t>
                      </a:r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3">
                  <a:txBody>
                    <a:bodyPr/>
                    <a:lstStyle/>
                    <a:p>
                      <a:r>
                        <a:rPr lang="en-US" sz="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LPG Storage and Loading</a:t>
                      </a:r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53081491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Code Lv. 1</a:t>
                      </a:r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</a:t>
                      </a:r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3">
                  <a:txBody>
                    <a:bodyPr/>
                    <a:lstStyle/>
                    <a:p>
                      <a:r>
                        <a:rPr lang="en-US" sz="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Tanks</a:t>
                      </a:r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5883990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Lv. 1 order</a:t>
                      </a:r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sz="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</a:t>
                      </a:r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3734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Lv. 1 desc.</a:t>
                      </a:r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sz="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Propane tank</a:t>
                      </a:r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9437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Code Lv. 2</a:t>
                      </a:r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Q</a:t>
                      </a:r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3">
                  <a:txBody>
                    <a:bodyPr/>
                    <a:lstStyle/>
                    <a:p>
                      <a:r>
                        <a:rPr lang="en-US" sz="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Foundation</a:t>
                      </a:r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6624068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Lv. 2 order.</a:t>
                      </a:r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sz="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</a:t>
                      </a:r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56906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Lv. 2 desc</a:t>
                      </a:r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Foundation for 17D-1</a:t>
                      </a:r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711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QR Code</a:t>
                      </a:r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en-US" sz="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http: www.dtp-eng.com</a:t>
                      </a:r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r>
                        <a:rPr lang="en-US" sz="900" u="sng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↑</a:t>
                      </a:r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600" u="sng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Preview</a:t>
                      </a:r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853855238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r>
                        <a:rPr lang="en-US" sz="600" b="1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Attribute</a:t>
                      </a:r>
                      <a:endParaRPr lang="en-ID" sz="600" b="1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b="1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 sz="700" b="1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104965"/>
                  </a:ext>
                </a:extLst>
              </a:tr>
              <a:tr h="220938">
                <a:tc>
                  <a:txBody>
                    <a:bodyPr/>
                    <a:lstStyle/>
                    <a:p>
                      <a:r>
                        <a:rPr lang="en-US" sz="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Function</a:t>
                      </a:r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sz="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Equipment foundation</a:t>
                      </a:r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0240442"/>
                  </a:ext>
                </a:extLst>
              </a:tr>
              <a:tr h="220938">
                <a:tc>
                  <a:txBody>
                    <a:bodyPr/>
                    <a:lstStyle/>
                    <a:p>
                      <a:r>
                        <a:rPr lang="en-US" sz="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Material</a:t>
                      </a:r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sz="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Reinforced concrete</a:t>
                      </a:r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1885395"/>
                  </a:ext>
                </a:extLst>
              </a:tr>
              <a:tr h="220938">
                <a:tc>
                  <a:txBody>
                    <a:bodyPr/>
                    <a:lstStyle/>
                    <a:p>
                      <a:r>
                        <a:rPr lang="en-US" sz="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Year Installed</a:t>
                      </a:r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sz="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1970 (age: 56 year)</a:t>
                      </a:r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7608198"/>
                  </a:ext>
                </a:extLst>
              </a:tr>
              <a:tr h="220938">
                <a:tc>
                  <a:txBody>
                    <a:bodyPr/>
                    <a:lstStyle/>
                    <a:p>
                      <a:r>
                        <a:rPr lang="en-US" sz="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Owner</a:t>
                      </a:r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sz="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PT. </a:t>
                      </a:r>
                      <a:r>
                        <a:rPr lang="en-US" sz="600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Badak</a:t>
                      </a:r>
                      <a:r>
                        <a:rPr lang="en-US" sz="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NGL</a:t>
                      </a:r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3561346"/>
                  </a:ext>
                </a:extLst>
              </a:tr>
              <a:tr h="220938">
                <a:tc>
                  <a:txBody>
                    <a:bodyPr/>
                    <a:lstStyle/>
                    <a:p>
                      <a:r>
                        <a:rPr lang="en-US" sz="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Constrain</a:t>
                      </a:r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sz="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N/A</a:t>
                      </a:r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4299433"/>
                  </a:ext>
                </a:extLst>
              </a:tr>
              <a:tr h="220938">
                <a:tc>
                  <a:txBody>
                    <a:bodyPr/>
                    <a:lstStyle/>
                    <a:p>
                      <a:r>
                        <a:rPr lang="en-US" sz="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Access</a:t>
                      </a:r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sz="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Road</a:t>
                      </a:r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887778"/>
                  </a:ext>
                </a:extLst>
              </a:tr>
              <a:tr h="220938">
                <a:tc gridSpan="5">
                  <a:txBody>
                    <a:bodyPr/>
                    <a:lstStyle/>
                    <a:p>
                      <a:r>
                        <a:rPr lang="en-US" sz="600" b="1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Location</a:t>
                      </a:r>
                      <a:endParaRPr lang="en-ID" sz="600" b="1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b="1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 sz="700" b="1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676785"/>
                  </a:ext>
                </a:extLst>
              </a:tr>
              <a:tr h="220938">
                <a:tc>
                  <a:txBody>
                    <a:bodyPr/>
                    <a:lstStyle/>
                    <a:p>
                      <a:r>
                        <a:rPr lang="en-US" sz="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Coordinate</a:t>
                      </a:r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r"/>
                      <a:r>
                        <a:rPr lang="en-US" sz="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1234567890 N</a:t>
                      </a:r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2">
                  <a:txBody>
                    <a:bodyPr/>
                    <a:lstStyle/>
                    <a:p>
                      <a:pPr algn="r"/>
                      <a:r>
                        <a:rPr lang="en-US" sz="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1234567890 E</a:t>
                      </a:r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r"/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4259847"/>
                  </a:ext>
                </a:extLst>
              </a:tr>
              <a:tr h="220938">
                <a:tc>
                  <a:txBody>
                    <a:bodyPr/>
                    <a:lstStyle/>
                    <a:p>
                      <a:r>
                        <a:rPr lang="en-US" sz="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Plant</a:t>
                      </a:r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sz="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17</a:t>
                      </a:r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9613332"/>
                  </a:ext>
                </a:extLst>
              </a:tr>
              <a:tr h="220938">
                <a:tc>
                  <a:txBody>
                    <a:bodyPr/>
                    <a:lstStyle/>
                    <a:p>
                      <a:r>
                        <a:rPr lang="en-US" sz="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Zone</a:t>
                      </a:r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sz="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</a:t>
                      </a:r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82014042"/>
                  </a:ext>
                </a:extLst>
              </a:tr>
              <a:tr h="220938">
                <a:tc>
                  <a:txBody>
                    <a:bodyPr/>
                    <a:lstStyle/>
                    <a:p>
                      <a:r>
                        <a:rPr lang="en-US" sz="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Area</a:t>
                      </a:r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sz="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LPG Storage and Loading</a:t>
                      </a:r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7028895"/>
                  </a:ext>
                </a:extLst>
              </a:tr>
              <a:tr h="220938">
                <a:tc>
                  <a:txBody>
                    <a:bodyPr/>
                    <a:lstStyle/>
                    <a:p>
                      <a:r>
                        <a:rPr lang="en-US" sz="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Train</a:t>
                      </a:r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sz="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N/A</a:t>
                      </a:r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2359536"/>
                  </a:ext>
                </a:extLst>
              </a:tr>
            </a:tbl>
          </a:graphicData>
        </a:graphic>
      </p:graphicFrame>
      <p:sp>
        <p:nvSpPr>
          <p:cNvPr id="33" name="Title 63">
            <a:extLst>
              <a:ext uri="{FF2B5EF4-FFF2-40B4-BE49-F238E27FC236}">
                <a16:creationId xmlns:a16="http://schemas.microsoft.com/office/drawing/2014/main" id="{E5B5C305-50D2-E672-1A41-6C978E1F84EA}"/>
              </a:ext>
            </a:extLst>
          </p:cNvPr>
          <p:cNvSpPr txBox="1">
            <a:spLocks/>
          </p:cNvSpPr>
          <p:nvPr/>
        </p:nvSpPr>
        <p:spPr>
          <a:xfrm>
            <a:off x="11300550" y="1912916"/>
            <a:ext cx="720000" cy="360000"/>
          </a:xfrm>
          <a:prstGeom prst="rect">
            <a:avLst/>
          </a:prstGeom>
          <a:solidFill>
            <a:srgbClr val="2D6A87"/>
          </a:solidFill>
          <a:ln w="3810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800" b="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Edit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C525C6A6-BF09-8ED3-77A8-2F7122CA36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11889936" y="2111378"/>
            <a:ext cx="360000" cy="323076"/>
          </a:xfrm>
          <a:prstGeom prst="ellipse">
            <a:avLst/>
          </a:prstGeom>
          <a:ln w="3175" cap="rnd">
            <a:solidFill>
              <a:srgbClr val="00B050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grpSp>
        <p:nvGrpSpPr>
          <p:cNvPr id="39" name="Group 38">
            <a:extLst>
              <a:ext uri="{FF2B5EF4-FFF2-40B4-BE49-F238E27FC236}">
                <a16:creationId xmlns:a16="http://schemas.microsoft.com/office/drawing/2014/main" id="{9F64445D-5EC4-B5C8-AE50-0896E143840D}"/>
              </a:ext>
            </a:extLst>
          </p:cNvPr>
          <p:cNvGrpSpPr/>
          <p:nvPr/>
        </p:nvGrpSpPr>
        <p:grpSpPr>
          <a:xfrm>
            <a:off x="0" y="932141"/>
            <a:ext cx="12204000" cy="363949"/>
            <a:chOff x="0" y="932141"/>
            <a:chExt cx="12204000" cy="363949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C5769345-0339-E754-5F57-831977E0FE7A}"/>
                </a:ext>
              </a:extLst>
            </p:cNvPr>
            <p:cNvGrpSpPr/>
            <p:nvPr/>
          </p:nvGrpSpPr>
          <p:grpSpPr>
            <a:xfrm>
              <a:off x="0" y="934984"/>
              <a:ext cx="12204000" cy="361106"/>
              <a:chOff x="0" y="934984"/>
              <a:chExt cx="12204000" cy="361106"/>
            </a:xfrm>
          </p:grpSpPr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30273B3F-80FE-3870-4EB8-732035EABCD9}"/>
                  </a:ext>
                </a:extLst>
              </p:cNvPr>
              <p:cNvGrpSpPr/>
              <p:nvPr/>
            </p:nvGrpSpPr>
            <p:grpSpPr>
              <a:xfrm>
                <a:off x="0" y="936090"/>
                <a:ext cx="12204000" cy="360000"/>
                <a:chOff x="0" y="936090"/>
                <a:chExt cx="12204000" cy="360000"/>
              </a:xfrm>
            </p:grpSpPr>
            <p:grpSp>
              <p:nvGrpSpPr>
                <p:cNvPr id="50" name="Group 49">
                  <a:extLst>
                    <a:ext uri="{FF2B5EF4-FFF2-40B4-BE49-F238E27FC236}">
                      <a16:creationId xmlns:a16="http://schemas.microsoft.com/office/drawing/2014/main" id="{6C17CB99-4495-77E2-4DE5-1BAD2DF9DC90}"/>
                    </a:ext>
                  </a:extLst>
                </p:cNvPr>
                <p:cNvGrpSpPr/>
                <p:nvPr/>
              </p:nvGrpSpPr>
              <p:grpSpPr>
                <a:xfrm>
                  <a:off x="0" y="936090"/>
                  <a:ext cx="12204000" cy="360000"/>
                  <a:chOff x="-2" y="2718720"/>
                  <a:chExt cx="12204000" cy="360000"/>
                </a:xfrm>
              </p:grpSpPr>
              <p:sp>
                <p:nvSpPr>
                  <p:cNvPr id="52" name="Title 63">
                    <a:extLst>
                      <a:ext uri="{FF2B5EF4-FFF2-40B4-BE49-F238E27FC236}">
                        <a16:creationId xmlns:a16="http://schemas.microsoft.com/office/drawing/2014/main" id="{AFD6CEC9-65E2-6EB2-4102-5ACB9B2554F6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-2" y="2718720"/>
                    <a:ext cx="720000" cy="360000"/>
                  </a:xfrm>
                  <a:prstGeom prst="rect">
                    <a:avLst/>
                  </a:prstGeom>
                  <a:solidFill>
                    <a:srgbClr val="2D6A87"/>
                  </a:solidFill>
                  <a:ln w="38100">
                    <a:noFill/>
                  </a:ln>
                </p:spPr>
                <p:txBody>
                  <a:bodyPr anchor="ctr">
                    <a:normAutofit/>
                  </a:bodyPr>
                  <a:lstStyle>
                    <a:lvl1pPr algn="l" defTabSz="914400" rtl="0" eaLnBrk="1" latinLnBrk="0" hangingPunct="1">
                      <a:lnSpc>
                        <a:spcPts val="4200"/>
                      </a:lnSpc>
                      <a:spcBef>
                        <a:spcPct val="0"/>
                      </a:spcBef>
                      <a:buNone/>
                      <a:defRPr sz="3200" b="1" kern="1200">
                        <a:solidFill>
                          <a:schemeClr val="bg1"/>
                        </a:solidFill>
                        <a:latin typeface="+mj-lt"/>
                        <a:ea typeface="+mj-ea"/>
                        <a:cs typeface="+mj-cs"/>
                      </a:defRPr>
                    </a:lvl1pPr>
                  </a:lstStyle>
                  <a:p>
                    <a:pPr algn="ctr">
                      <a:lnSpc>
                        <a:spcPct val="100000"/>
                      </a:lnSpc>
                    </a:pPr>
                    <a:r>
                      <a:rPr lang="en-US" sz="1000" b="0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rPr>
                      <a:t>Home</a:t>
                    </a:r>
                  </a:p>
                </p:txBody>
              </p:sp>
              <p:grpSp>
                <p:nvGrpSpPr>
                  <p:cNvPr id="56" name="Group 55">
                    <a:extLst>
                      <a:ext uri="{FF2B5EF4-FFF2-40B4-BE49-F238E27FC236}">
                        <a16:creationId xmlns:a16="http://schemas.microsoft.com/office/drawing/2014/main" id="{C2285E68-6B92-2C97-F212-0A6CCDDEC76C}"/>
                      </a:ext>
                    </a:extLst>
                  </p:cNvPr>
                  <p:cNvGrpSpPr/>
                  <p:nvPr/>
                </p:nvGrpSpPr>
                <p:grpSpPr>
                  <a:xfrm>
                    <a:off x="10763998" y="2718720"/>
                    <a:ext cx="1440000" cy="360000"/>
                    <a:chOff x="4102098" y="3429000"/>
                    <a:chExt cx="1440000" cy="360000"/>
                  </a:xfrm>
                </p:grpSpPr>
                <p:sp>
                  <p:nvSpPr>
                    <p:cNvPr id="65" name="Title 63">
                      <a:extLst>
                        <a:ext uri="{FF2B5EF4-FFF2-40B4-BE49-F238E27FC236}">
                          <a16:creationId xmlns:a16="http://schemas.microsoft.com/office/drawing/2014/main" id="{671E1F74-BAAA-E447-3A75-0614F25AD0BB}"/>
                        </a:ext>
                      </a:extLst>
                    </p:cNvPr>
                    <p:cNvSpPr txBox="1">
                      <a:spLocks/>
                    </p:cNvSpPr>
                    <p:nvPr/>
                  </p:nvSpPr>
                  <p:spPr>
                    <a:xfrm>
                      <a:off x="4102098" y="3429000"/>
                      <a:ext cx="720000" cy="360000"/>
                    </a:xfrm>
                    <a:prstGeom prst="rect">
                      <a:avLst/>
                    </a:prstGeom>
                    <a:solidFill>
                      <a:srgbClr val="2D6A87"/>
                    </a:solidFill>
                    <a:ln w="38100">
                      <a:noFill/>
                    </a:ln>
                  </p:spPr>
                  <p:txBody>
                    <a:bodyPr anchor="ctr">
                      <a:normAutofit/>
                    </a:bodyPr>
                    <a:lstStyle>
                      <a:lvl1pPr algn="l" defTabSz="914400" rtl="0" eaLnBrk="1" latinLnBrk="0" hangingPunct="1">
                        <a:lnSpc>
                          <a:spcPts val="4200"/>
                        </a:lnSpc>
                        <a:spcBef>
                          <a:spcPct val="0"/>
                        </a:spcBef>
                        <a:buNone/>
                        <a:defRPr sz="3200" b="1" kern="1200">
                          <a:solidFill>
                            <a:schemeClr val="bg1"/>
                          </a:solidFill>
                          <a:latin typeface="+mj-lt"/>
                          <a:ea typeface="+mj-ea"/>
                          <a:cs typeface="+mj-cs"/>
                        </a:defRPr>
                      </a:lvl1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Help</a:t>
                      </a:r>
                    </a:p>
                  </p:txBody>
                </p:sp>
                <p:sp>
                  <p:nvSpPr>
                    <p:cNvPr id="68" name="Title 63">
                      <a:extLst>
                        <a:ext uri="{FF2B5EF4-FFF2-40B4-BE49-F238E27FC236}">
                          <a16:creationId xmlns:a16="http://schemas.microsoft.com/office/drawing/2014/main" id="{6112F477-B42B-5DD2-2FFE-A9DB12214C8F}"/>
                        </a:ext>
                      </a:extLst>
                    </p:cNvPr>
                    <p:cNvSpPr txBox="1">
                      <a:spLocks/>
                    </p:cNvSpPr>
                    <p:nvPr/>
                  </p:nvSpPr>
                  <p:spPr>
                    <a:xfrm>
                      <a:off x="4822098" y="3429000"/>
                      <a:ext cx="720000" cy="360000"/>
                    </a:xfrm>
                    <a:prstGeom prst="rect">
                      <a:avLst/>
                    </a:prstGeom>
                    <a:solidFill>
                      <a:srgbClr val="2D6A87"/>
                    </a:solidFill>
                    <a:ln w="38100">
                      <a:noFill/>
                    </a:ln>
                  </p:spPr>
                  <p:txBody>
                    <a:bodyPr anchor="ctr">
                      <a:normAutofit/>
                    </a:bodyPr>
                    <a:lstStyle>
                      <a:lvl1pPr algn="l" defTabSz="914400" rtl="0" eaLnBrk="1" latinLnBrk="0" hangingPunct="1">
                        <a:lnSpc>
                          <a:spcPts val="4200"/>
                        </a:lnSpc>
                        <a:spcBef>
                          <a:spcPct val="0"/>
                        </a:spcBef>
                        <a:buNone/>
                        <a:defRPr sz="3200" b="1" kern="1200">
                          <a:solidFill>
                            <a:schemeClr val="bg1"/>
                          </a:solidFill>
                          <a:latin typeface="+mj-lt"/>
                          <a:ea typeface="+mj-ea"/>
                          <a:cs typeface="+mj-cs"/>
                        </a:defRPr>
                      </a:lvl1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Logout</a:t>
                      </a:r>
                    </a:p>
                  </p:txBody>
                </p:sp>
              </p:grpSp>
              <p:sp>
                <p:nvSpPr>
                  <p:cNvPr id="58" name="Title 63">
                    <a:extLst>
                      <a:ext uri="{FF2B5EF4-FFF2-40B4-BE49-F238E27FC236}">
                        <a16:creationId xmlns:a16="http://schemas.microsoft.com/office/drawing/2014/main" id="{F1AE3533-0061-6BC5-D8DF-230A421548BE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3595617" y="2718720"/>
                    <a:ext cx="6445306" cy="360000"/>
                  </a:xfrm>
                  <a:prstGeom prst="rect">
                    <a:avLst/>
                  </a:prstGeom>
                  <a:solidFill>
                    <a:srgbClr val="2D6A87"/>
                  </a:solidFill>
                  <a:ln w="38100">
                    <a:noFill/>
                  </a:ln>
                </p:spPr>
                <p:txBody>
                  <a:bodyPr anchor="ctr">
                    <a:normAutofit/>
                  </a:bodyPr>
                  <a:lstStyle>
                    <a:lvl1pPr algn="l" defTabSz="914400" rtl="0" eaLnBrk="1" latinLnBrk="0" hangingPunct="1">
                      <a:lnSpc>
                        <a:spcPts val="4200"/>
                      </a:lnSpc>
                      <a:spcBef>
                        <a:spcPct val="0"/>
                      </a:spcBef>
                      <a:buNone/>
                      <a:defRPr sz="3200" b="1" kern="1200">
                        <a:solidFill>
                          <a:schemeClr val="bg1"/>
                        </a:solidFill>
                        <a:latin typeface="+mj-lt"/>
                        <a:ea typeface="+mj-ea"/>
                        <a:cs typeface="+mj-cs"/>
                      </a:defRPr>
                    </a:lvl1pPr>
                  </a:lstStyle>
                  <a:p>
                    <a:pPr>
                      <a:lnSpc>
                        <a:spcPct val="100000"/>
                      </a:lnSpc>
                    </a:pPr>
                    <a:endParaRPr lang="en-US" sz="1000" b="0" dirty="0">
                      <a:solidFill>
                        <a:schemeClr val="tx2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+mn-cs"/>
                    </a:endParaRPr>
                  </a:p>
                </p:txBody>
              </p:sp>
            </p:grpSp>
            <p:sp>
              <p:nvSpPr>
                <p:cNvPr id="51" name="Title 63">
                  <a:extLst>
                    <a:ext uri="{FF2B5EF4-FFF2-40B4-BE49-F238E27FC236}">
                      <a16:creationId xmlns:a16="http://schemas.microsoft.com/office/drawing/2014/main" id="{0DA1D52E-91C3-338D-9437-ABF021A3998E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720000" y="936090"/>
                  <a:ext cx="720000" cy="360000"/>
                </a:xfrm>
                <a:prstGeom prst="rect">
                  <a:avLst/>
                </a:prstGeom>
                <a:solidFill>
                  <a:srgbClr val="2D6A87"/>
                </a:solidFill>
                <a:ln w="38100">
                  <a:noFill/>
                </a:ln>
              </p:spPr>
              <p:txBody>
                <a:bodyPr anchor="ctr">
                  <a:normAutofit fontScale="92500" lnSpcReduction="10000"/>
                </a:bodyPr>
                <a:lstStyle>
                  <a:lvl1pPr algn="l" defTabSz="914400" rtl="0" eaLnBrk="1" latinLnBrk="0" hangingPunct="1">
                    <a:lnSpc>
                      <a:spcPts val="4200"/>
                    </a:lnSpc>
                    <a:spcBef>
                      <a:spcPct val="0"/>
                    </a:spcBef>
                    <a:buNone/>
                    <a:defRPr sz="3200" b="1" kern="1200">
                      <a:solidFill>
                        <a:schemeClr val="bg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:pPr algn="ctr">
                    <a:lnSpc>
                      <a:spcPct val="100000"/>
                    </a:lnSpc>
                  </a:pPr>
                  <a:r>
                    <a:rPr lang="en-US" sz="1000" b="0" dirty="0">
                      <a:solidFill>
                        <a:schemeClr val="tx2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+mn-cs"/>
                    </a:rPr>
                    <a:t>Asset Register</a:t>
                  </a:r>
                </a:p>
              </p:txBody>
            </p:sp>
          </p:grpSp>
          <p:sp>
            <p:nvSpPr>
              <p:cNvPr id="49" name="Title 63">
                <a:extLst>
                  <a:ext uri="{FF2B5EF4-FFF2-40B4-BE49-F238E27FC236}">
                    <a16:creationId xmlns:a16="http://schemas.microsoft.com/office/drawing/2014/main" id="{929A497B-866D-C961-9F0F-0EE3516A026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040924" y="934984"/>
                <a:ext cx="720000" cy="360000"/>
              </a:xfrm>
              <a:prstGeom prst="rect">
                <a:avLst/>
              </a:prstGeom>
              <a:solidFill>
                <a:srgbClr val="2D6A87"/>
              </a:solidFill>
              <a:ln w="38100">
                <a:noFill/>
              </a:ln>
            </p:spPr>
            <p:txBody>
              <a:bodyPr anchor="ctr">
                <a:normAutofit fontScale="92500" lnSpcReduction="10000"/>
              </a:bodyPr>
              <a:lstStyle>
                <a:lvl1pPr algn="l" defTabSz="914400" rtl="0" eaLnBrk="1" latinLnBrk="0" hangingPunct="1">
                  <a:lnSpc>
                    <a:spcPts val="4200"/>
                  </a:lnSpc>
                  <a:spcBef>
                    <a:spcPct val="0"/>
                  </a:spcBef>
                  <a:buNone/>
                  <a:defRPr sz="3200" b="1" kern="1200">
                    <a:solidFill>
                      <a:schemeClr val="bg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00000"/>
                  </a:lnSpc>
                </a:pPr>
                <a:r>
                  <a:rPr lang="en-US" sz="1000" b="0" dirty="0">
                    <a:solidFill>
                      <a:schemeClr val="tx2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rPr>
                  <a:t>Account Manager</a:t>
                </a:r>
              </a:p>
            </p:txBody>
          </p:sp>
        </p:grpSp>
        <p:sp>
          <p:nvSpPr>
            <p:cNvPr id="41" name="Title 63">
              <a:extLst>
                <a:ext uri="{FF2B5EF4-FFF2-40B4-BE49-F238E27FC236}">
                  <a16:creationId xmlns:a16="http://schemas.microsoft.com/office/drawing/2014/main" id="{ED27E803-2431-3AA8-4513-5A224995AB58}"/>
                </a:ext>
              </a:extLst>
            </p:cNvPr>
            <p:cNvSpPr txBox="1">
              <a:spLocks/>
            </p:cNvSpPr>
            <p:nvPr/>
          </p:nvSpPr>
          <p:spPr>
            <a:xfrm>
              <a:off x="1437809" y="932141"/>
              <a:ext cx="1440000" cy="360000"/>
            </a:xfrm>
            <a:prstGeom prst="rect">
              <a:avLst/>
            </a:prstGeom>
            <a:solidFill>
              <a:srgbClr val="2D6A87"/>
            </a:solidFill>
            <a:ln w="38100">
              <a:noFill/>
            </a:ln>
          </p:spPr>
          <p:txBody>
            <a:bodyPr anchor="ctr">
              <a:normAutofit fontScale="92500" lnSpcReduction="10000"/>
            </a:bodyPr>
            <a:lstStyle>
              <a:lvl1pPr algn="l" defTabSz="914400" rtl="0" eaLnBrk="1" latinLnBrk="0" hangingPunct="1">
                <a:lnSpc>
                  <a:spcPts val="4200"/>
                </a:lnSpc>
                <a:spcBef>
                  <a:spcPct val="0"/>
                </a:spcBef>
                <a:buNone/>
                <a:defRPr sz="3200" b="1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>
                <a:lnSpc>
                  <a:spcPct val="100000"/>
                </a:lnSpc>
              </a:pPr>
              <a:r>
                <a:rPr lang="en-US" sz="1000" b="0" dirty="0">
                  <a:solidFill>
                    <a:schemeClr val="tx2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Risk Based Inspection Planning</a:t>
              </a:r>
            </a:p>
          </p:txBody>
        </p:sp>
        <p:sp>
          <p:nvSpPr>
            <p:cNvPr id="43" name="Title 63">
              <a:extLst>
                <a:ext uri="{FF2B5EF4-FFF2-40B4-BE49-F238E27FC236}">
                  <a16:creationId xmlns:a16="http://schemas.microsoft.com/office/drawing/2014/main" id="{04CA701E-1738-68F3-9C7F-FA543C72E6B4}"/>
                </a:ext>
              </a:extLst>
            </p:cNvPr>
            <p:cNvSpPr txBox="1">
              <a:spLocks/>
            </p:cNvSpPr>
            <p:nvPr/>
          </p:nvSpPr>
          <p:spPr>
            <a:xfrm>
              <a:off x="2877809" y="932141"/>
              <a:ext cx="720000" cy="360000"/>
            </a:xfrm>
            <a:prstGeom prst="rect">
              <a:avLst/>
            </a:prstGeom>
            <a:solidFill>
              <a:srgbClr val="2D6A87"/>
            </a:solidFill>
            <a:ln w="38100">
              <a:noFill/>
            </a:ln>
          </p:spPr>
          <p:txBody>
            <a:bodyPr anchor="ctr">
              <a:normAutofit fontScale="92500" lnSpcReduction="10000"/>
            </a:bodyPr>
            <a:lstStyle>
              <a:lvl1pPr algn="l" defTabSz="914400" rtl="0" eaLnBrk="1" latinLnBrk="0" hangingPunct="1">
                <a:lnSpc>
                  <a:spcPts val="4200"/>
                </a:lnSpc>
                <a:spcBef>
                  <a:spcPct val="0"/>
                </a:spcBef>
                <a:buNone/>
                <a:defRPr sz="3200" b="1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>
                <a:lnSpc>
                  <a:spcPct val="100000"/>
                </a:lnSpc>
              </a:pPr>
              <a:r>
                <a:rPr lang="en-US" sz="1000" b="0" dirty="0">
                  <a:solidFill>
                    <a:schemeClr val="tx2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Add</a:t>
              </a:r>
            </a:p>
            <a:p>
              <a:pPr algn="ctr">
                <a:lnSpc>
                  <a:spcPct val="100000"/>
                </a:lnSpc>
              </a:pPr>
              <a:r>
                <a:rPr lang="en-US" sz="1000" b="0" dirty="0">
                  <a:solidFill>
                    <a:schemeClr val="tx2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Module</a:t>
              </a: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6D1826AC-0BF9-7B72-DBE8-664FA93FDA7B}"/>
              </a:ext>
            </a:extLst>
          </p:cNvPr>
          <p:cNvSpPr/>
          <p:nvPr/>
        </p:nvSpPr>
        <p:spPr>
          <a:xfrm>
            <a:off x="2396721" y="2725488"/>
            <a:ext cx="2440455" cy="1105848"/>
          </a:xfrm>
          <a:prstGeom prst="rect">
            <a:avLst/>
          </a:prstGeom>
          <a:solidFill>
            <a:srgbClr val="FFFF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DBD761-39C5-563B-445A-097B3687C4FA}"/>
              </a:ext>
            </a:extLst>
          </p:cNvPr>
          <p:cNvSpPr/>
          <p:nvPr/>
        </p:nvSpPr>
        <p:spPr>
          <a:xfrm>
            <a:off x="2382051" y="5921910"/>
            <a:ext cx="2658102" cy="277722"/>
          </a:xfrm>
          <a:prstGeom prst="rect">
            <a:avLst/>
          </a:prstGeom>
          <a:solidFill>
            <a:srgbClr val="FFFF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6220A270-6133-8A73-111C-1C11C6A82D99}"/>
              </a:ext>
            </a:extLst>
          </p:cNvPr>
          <p:cNvSpPr/>
          <p:nvPr/>
        </p:nvSpPr>
        <p:spPr>
          <a:xfrm>
            <a:off x="11657117" y="318924"/>
            <a:ext cx="360000" cy="360000"/>
          </a:xfrm>
          <a:prstGeom prst="triangl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</a:rPr>
              <a:t>B</a:t>
            </a:r>
            <a:endParaRPr lang="en-ID" sz="12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3082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C506D-A08B-E531-0B08-F79FA9F86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itle 63">
            <a:extLst>
              <a:ext uri="{FF2B5EF4-FFF2-40B4-BE49-F238E27FC236}">
                <a16:creationId xmlns:a16="http://schemas.microsoft.com/office/drawing/2014/main" id="{AD650518-FA48-234B-0133-55363A4F40A0}"/>
              </a:ext>
            </a:extLst>
          </p:cNvPr>
          <p:cNvSpPr txBox="1">
            <a:spLocks/>
          </p:cNvSpPr>
          <p:nvPr/>
        </p:nvSpPr>
        <p:spPr>
          <a:xfrm>
            <a:off x="0" y="1462924"/>
            <a:ext cx="2152665" cy="5395076"/>
          </a:xfrm>
          <a:prstGeom prst="rect">
            <a:avLst/>
          </a:prstGeom>
          <a:noFill/>
          <a:ln w="19050">
            <a:solidFill>
              <a:srgbClr val="2D6A87"/>
            </a:solidFill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endParaRPr lang="en-US" sz="1000" b="0" dirty="0">
              <a:solidFill>
                <a:schemeClr val="tx2"/>
              </a:solidFill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2" name="Title 63">
            <a:extLst>
              <a:ext uri="{FF2B5EF4-FFF2-40B4-BE49-F238E27FC236}">
                <a16:creationId xmlns:a16="http://schemas.microsoft.com/office/drawing/2014/main" id="{0819B44E-FC64-21ED-AD0C-25E06E2F3798}"/>
              </a:ext>
            </a:extLst>
          </p:cNvPr>
          <p:cNvSpPr txBox="1">
            <a:spLocks/>
          </p:cNvSpPr>
          <p:nvPr/>
        </p:nvSpPr>
        <p:spPr>
          <a:xfrm>
            <a:off x="-1" y="10690"/>
            <a:ext cx="12192001" cy="900000"/>
          </a:xfrm>
          <a:prstGeom prst="rect">
            <a:avLst/>
          </a:prstGeom>
          <a:solidFill>
            <a:schemeClr val="tx2"/>
          </a:solidFill>
          <a:ln w="3810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2D6A87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Structural Integrity Management System (SIMS)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2FCD07-F1D6-03C5-73EC-517F45FFC5CA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2836" r="22678"/>
          <a:stretch>
            <a:fillRect/>
          </a:stretch>
        </p:blipFill>
        <p:spPr>
          <a:xfrm>
            <a:off x="174883" y="103675"/>
            <a:ext cx="691633" cy="714030"/>
          </a:xfrm>
          <a:prstGeom prst="rect">
            <a:avLst/>
          </a:prstGeom>
        </p:spPr>
      </p:pic>
      <p:sp>
        <p:nvSpPr>
          <p:cNvPr id="25" name="Title 63">
            <a:extLst>
              <a:ext uri="{FF2B5EF4-FFF2-40B4-BE49-F238E27FC236}">
                <a16:creationId xmlns:a16="http://schemas.microsoft.com/office/drawing/2014/main" id="{09C5E22A-226B-FD49-348A-FBF9219E1C06}"/>
              </a:ext>
            </a:extLst>
          </p:cNvPr>
          <p:cNvSpPr txBox="1">
            <a:spLocks/>
          </p:cNvSpPr>
          <p:nvPr/>
        </p:nvSpPr>
        <p:spPr>
          <a:xfrm>
            <a:off x="0" y="1449533"/>
            <a:ext cx="2160000" cy="360000"/>
          </a:xfrm>
          <a:prstGeom prst="rect">
            <a:avLst/>
          </a:prstGeom>
          <a:solidFill>
            <a:srgbClr val="2D6A87"/>
          </a:solidFill>
          <a:ln w="3810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000" b="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Asset Tree </a:t>
            </a:r>
          </a:p>
        </p:txBody>
      </p:sp>
      <p:sp>
        <p:nvSpPr>
          <p:cNvPr id="31" name="Title 63">
            <a:extLst>
              <a:ext uri="{FF2B5EF4-FFF2-40B4-BE49-F238E27FC236}">
                <a16:creationId xmlns:a16="http://schemas.microsoft.com/office/drawing/2014/main" id="{B9929C2E-8DEB-3886-F542-BAC47B8BC587}"/>
              </a:ext>
            </a:extLst>
          </p:cNvPr>
          <p:cNvSpPr txBox="1">
            <a:spLocks/>
          </p:cNvSpPr>
          <p:nvPr/>
        </p:nvSpPr>
        <p:spPr>
          <a:xfrm>
            <a:off x="0" y="1809532"/>
            <a:ext cx="2160000" cy="5037778"/>
          </a:xfrm>
          <a:prstGeom prst="rect">
            <a:avLst/>
          </a:prstGeom>
          <a:noFill/>
          <a:ln w="38100">
            <a:noFill/>
          </a:ln>
        </p:spPr>
        <p:txBody>
          <a:bodyPr anchor="t">
            <a:no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 Gas Purification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&gt;</a:t>
            </a: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Plant 2 Dehydration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&gt;</a:t>
            </a: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Plant 3 Fractionation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4 Refrigeration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5 Liquefaction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6 Condensate Stripping ...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15 LPG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16 Condensate Stabilize ... 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17 LPG Storage and Loa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highlight>
                  <a:srgbClr val="6E98A7"/>
                </a:highlight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17D-1/Q-1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17D-2/Q-1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17D-3/Q-1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17D-4/Q-1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17D-5/Q-1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+ add asset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19 Relief &amp; Blowdown S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20 Condensate Storage ...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20D-4/Q-1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     20D-5/Q-1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     20D-6/Q-1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+ add asset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21 Feed Gas Knockout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22 Marine Structures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24 LNG Storage and Loa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25 Fueling Facility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26 LPG Filling Station … &gt;Propane and Butane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27 Oxygen Plant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28 Acetylene Plant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29 Nitrogen Generation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30 Electrical </a:t>
            </a:r>
            <a:r>
              <a:rPr lang="en-US" sz="8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Distributio</a:t>
            </a: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31 Steam &amp; Power Gen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32 Seawater Cooling 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33 Fire Protection System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34 Liquid Waste System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35 Compressed Air System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36 Water Treatment Sy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37 Communication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+ add Plant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98B4344-B6AF-E20C-6E22-AF64DA0F1519}"/>
              </a:ext>
            </a:extLst>
          </p:cNvPr>
          <p:cNvGrpSpPr/>
          <p:nvPr/>
        </p:nvGrpSpPr>
        <p:grpSpPr>
          <a:xfrm>
            <a:off x="216151" y="3948414"/>
            <a:ext cx="73594" cy="324419"/>
            <a:chOff x="216151" y="3221023"/>
            <a:chExt cx="73594" cy="324419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20584B76-4526-ED24-7212-364852842F58}"/>
                </a:ext>
              </a:extLst>
            </p:cNvPr>
            <p:cNvSpPr/>
            <p:nvPr/>
          </p:nvSpPr>
          <p:spPr>
            <a:xfrm>
              <a:off x="217745" y="3346913"/>
              <a:ext cx="72000" cy="72000"/>
            </a:xfrm>
            <a:prstGeom prst="rect">
              <a:avLst/>
            </a:prstGeom>
            <a:solidFill>
              <a:schemeClr val="bg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4127A696-C6EE-7A3C-7EEA-8ABDABF12D7D}"/>
                </a:ext>
              </a:extLst>
            </p:cNvPr>
            <p:cNvSpPr/>
            <p:nvPr/>
          </p:nvSpPr>
          <p:spPr>
            <a:xfrm>
              <a:off x="217745" y="3473442"/>
              <a:ext cx="72000" cy="72000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2337AA01-4DC8-E920-D832-1DB00664C99A}"/>
                </a:ext>
              </a:extLst>
            </p:cNvPr>
            <p:cNvSpPr/>
            <p:nvPr/>
          </p:nvSpPr>
          <p:spPr>
            <a:xfrm>
              <a:off x="216151" y="3221023"/>
              <a:ext cx="72000" cy="720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sp>
        <p:nvSpPr>
          <p:cNvPr id="7" name="Title 63">
            <a:extLst>
              <a:ext uri="{FF2B5EF4-FFF2-40B4-BE49-F238E27FC236}">
                <a16:creationId xmlns:a16="http://schemas.microsoft.com/office/drawing/2014/main" id="{C5C66AC5-A2CB-5FB1-5394-A2A4B53E2EA1}"/>
              </a:ext>
            </a:extLst>
          </p:cNvPr>
          <p:cNvSpPr txBox="1">
            <a:spLocks/>
          </p:cNvSpPr>
          <p:nvPr/>
        </p:nvSpPr>
        <p:spPr>
          <a:xfrm>
            <a:off x="2176858" y="1449533"/>
            <a:ext cx="1800000" cy="360000"/>
          </a:xfrm>
          <a:prstGeom prst="rect">
            <a:avLst/>
          </a:prstGeom>
          <a:solidFill>
            <a:srgbClr val="2D6A87"/>
          </a:solidFill>
          <a:ln w="3810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1000" b="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17D-1/Q-1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F298913D-230A-900A-5F1E-EC3425AF283F}"/>
              </a:ext>
            </a:extLst>
          </p:cNvPr>
          <p:cNvGrpSpPr/>
          <p:nvPr/>
        </p:nvGrpSpPr>
        <p:grpSpPr>
          <a:xfrm>
            <a:off x="214557" y="2975994"/>
            <a:ext cx="73594" cy="324419"/>
            <a:chOff x="216151" y="3221023"/>
            <a:chExt cx="73594" cy="324419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ABF6DB51-7CE8-3847-3B8E-F41A4A4EBD1E}"/>
                </a:ext>
              </a:extLst>
            </p:cNvPr>
            <p:cNvSpPr/>
            <p:nvPr/>
          </p:nvSpPr>
          <p:spPr>
            <a:xfrm>
              <a:off x="217745" y="3346913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DA2C989B-6F6B-CB0C-21F5-E43E20F1B615}"/>
                </a:ext>
              </a:extLst>
            </p:cNvPr>
            <p:cNvSpPr/>
            <p:nvPr/>
          </p:nvSpPr>
          <p:spPr>
            <a:xfrm>
              <a:off x="217745" y="3473442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C3EF3088-34F9-65B0-2CC0-55BE73026A3C}"/>
                </a:ext>
              </a:extLst>
            </p:cNvPr>
            <p:cNvSpPr/>
            <p:nvPr/>
          </p:nvSpPr>
          <p:spPr>
            <a:xfrm>
              <a:off x="216151" y="3221023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84CDA2BD-6CAF-1301-7119-3321E438E729}"/>
              </a:ext>
            </a:extLst>
          </p:cNvPr>
          <p:cNvGrpSpPr/>
          <p:nvPr/>
        </p:nvGrpSpPr>
        <p:grpSpPr>
          <a:xfrm>
            <a:off x="214557" y="3346544"/>
            <a:ext cx="73594" cy="197890"/>
            <a:chOff x="216151" y="3221023"/>
            <a:chExt cx="73594" cy="197890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A5980777-FB17-01CB-A5B0-6F57F7D30C9D}"/>
                </a:ext>
              </a:extLst>
            </p:cNvPr>
            <p:cNvSpPr/>
            <p:nvPr/>
          </p:nvSpPr>
          <p:spPr>
            <a:xfrm>
              <a:off x="217745" y="3346913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437D741B-BD50-C90F-0749-5C6C11E95837}"/>
                </a:ext>
              </a:extLst>
            </p:cNvPr>
            <p:cNvSpPr/>
            <p:nvPr/>
          </p:nvSpPr>
          <p:spPr>
            <a:xfrm>
              <a:off x="216151" y="3221023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sp>
        <p:nvSpPr>
          <p:cNvPr id="8" name="Title 63">
            <a:extLst>
              <a:ext uri="{FF2B5EF4-FFF2-40B4-BE49-F238E27FC236}">
                <a16:creationId xmlns:a16="http://schemas.microsoft.com/office/drawing/2014/main" id="{39BEC001-5F30-B26D-B9F6-AEE67CC6ED58}"/>
              </a:ext>
            </a:extLst>
          </p:cNvPr>
          <p:cNvSpPr txBox="1">
            <a:spLocks/>
          </p:cNvSpPr>
          <p:nvPr/>
        </p:nvSpPr>
        <p:spPr>
          <a:xfrm>
            <a:off x="3993716" y="1449316"/>
            <a:ext cx="8210283" cy="360000"/>
          </a:xfrm>
          <a:prstGeom prst="rect">
            <a:avLst/>
          </a:prstGeom>
          <a:solidFill>
            <a:srgbClr val="2D6A87"/>
          </a:solidFill>
          <a:ln w="3810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000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Asset Register </a:t>
            </a:r>
            <a:r>
              <a:rPr lang="en-US" sz="1000" b="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| Condition (GVI) | Inspection | Risk Based Inspection | Technical Document | Documentation | Name Plate</a:t>
            </a: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8D42061A-78AF-A999-4F95-CF2F79BBFB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947519"/>
              </p:ext>
            </p:extLst>
          </p:nvPr>
        </p:nvGraphicFramePr>
        <p:xfrm>
          <a:off x="2389386" y="1836716"/>
          <a:ext cx="8681778" cy="502869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97040">
                  <a:extLst>
                    <a:ext uri="{9D8B030D-6E8A-4147-A177-3AD203B41FA5}">
                      <a16:colId xmlns:a16="http://schemas.microsoft.com/office/drawing/2014/main" val="1360728645"/>
                    </a:ext>
                  </a:extLst>
                </a:gridCol>
                <a:gridCol w="1647549">
                  <a:extLst>
                    <a:ext uri="{9D8B030D-6E8A-4147-A177-3AD203B41FA5}">
                      <a16:colId xmlns:a16="http://schemas.microsoft.com/office/drawing/2014/main" val="2423881929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1852556450"/>
                    </a:ext>
                  </a:extLst>
                </a:gridCol>
                <a:gridCol w="2828925">
                  <a:extLst>
                    <a:ext uri="{9D8B030D-6E8A-4147-A177-3AD203B41FA5}">
                      <a16:colId xmlns:a16="http://schemas.microsoft.com/office/drawing/2014/main" val="3030883691"/>
                    </a:ext>
                  </a:extLst>
                </a:gridCol>
                <a:gridCol w="822264">
                  <a:extLst>
                    <a:ext uri="{9D8B030D-6E8A-4147-A177-3AD203B41FA5}">
                      <a16:colId xmlns:a16="http://schemas.microsoft.com/office/drawing/2014/main" val="106965890"/>
                    </a:ext>
                  </a:extLst>
                </a:gridCol>
              </a:tblGrid>
              <a:tr h="134959">
                <a:tc gridSpan="5">
                  <a:txBody>
                    <a:bodyPr/>
                    <a:lstStyle/>
                    <a:p>
                      <a:r>
                        <a:rPr lang="en-US" sz="600" b="1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Register</a:t>
                      </a:r>
                      <a:endParaRPr lang="en-ID" sz="600" b="1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b="1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 sz="700" b="1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158135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register No.</a:t>
                      </a:r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sz="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&lt;auto numbering&gt;</a:t>
                      </a:r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32870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GIS Ref. No.</a:t>
                      </a:r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sz="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&lt;number&gt;</a:t>
                      </a:r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16495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tag no.</a:t>
                      </a:r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sz="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&lt;auto generate tag number&gt;</a:t>
                      </a:r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2829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Plant code</a:t>
                      </a:r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&lt;Plant code selection&gt;</a:t>
                      </a:r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3">
                  <a:txBody>
                    <a:bodyPr/>
                    <a:lstStyle/>
                    <a:p>
                      <a:r>
                        <a:rPr lang="en-US" sz="60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&lt;Look up plant code&gt;</a:t>
                      </a:r>
                      <a:endParaRPr lang="en-ID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53081491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Code Lv. 1</a:t>
                      </a:r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&lt;Asset Code Selection&gt;</a:t>
                      </a:r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3">
                  <a:txBody>
                    <a:bodyPr/>
                    <a:lstStyle/>
                    <a:p>
                      <a:r>
                        <a:rPr lang="en-US" sz="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&lt;Look up asset code&gt;</a:t>
                      </a:r>
                      <a:endParaRPr lang="en-ID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5883990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Lv. 1 order</a:t>
                      </a:r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sz="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&lt;number&gt;</a:t>
                      </a:r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3734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Lv. 1 desc.</a:t>
                      </a:r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sz="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&lt;Text&gt;</a:t>
                      </a:r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9437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Code Lv. 2</a:t>
                      </a:r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&lt;Civil code Selection&gt;</a:t>
                      </a:r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3">
                  <a:txBody>
                    <a:bodyPr/>
                    <a:lstStyle/>
                    <a:p>
                      <a:r>
                        <a:rPr lang="en-US" sz="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&lt;Look up asset code&gt;</a:t>
                      </a:r>
                      <a:endParaRPr lang="en-ID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6624068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Lv. 2 order.</a:t>
                      </a:r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sz="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&lt;number&gt;</a:t>
                      </a:r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711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Lv. 2 desc</a:t>
                      </a:r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sz="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&lt;text&gt;</a:t>
                      </a:r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740869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QR Code</a:t>
                      </a:r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en-US" sz="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&lt;text&gt;</a:t>
                      </a:r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D" sz="600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 &lt;Select file&gt;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853855238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r>
                        <a:rPr lang="en-US" sz="600" b="1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Attribute</a:t>
                      </a:r>
                      <a:endParaRPr lang="en-ID" sz="600" b="1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b="1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 sz="700" b="1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104965"/>
                  </a:ext>
                </a:extLst>
              </a:tr>
              <a:tr h="220938">
                <a:tc>
                  <a:txBody>
                    <a:bodyPr/>
                    <a:lstStyle/>
                    <a:p>
                      <a:r>
                        <a:rPr lang="en-US" sz="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Function</a:t>
                      </a:r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sz="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&lt;Function selection&gt;</a:t>
                      </a:r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0240442"/>
                  </a:ext>
                </a:extLst>
              </a:tr>
              <a:tr h="220938">
                <a:tc>
                  <a:txBody>
                    <a:bodyPr/>
                    <a:lstStyle/>
                    <a:p>
                      <a:r>
                        <a:rPr lang="en-US" sz="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Material</a:t>
                      </a:r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sz="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&lt;Material selection&gt;</a:t>
                      </a:r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1885395"/>
                  </a:ext>
                </a:extLst>
              </a:tr>
              <a:tr h="220938">
                <a:tc>
                  <a:txBody>
                    <a:bodyPr/>
                    <a:lstStyle/>
                    <a:p>
                      <a:r>
                        <a:rPr lang="en-US" sz="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Year Installed</a:t>
                      </a:r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sz="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&lt;Number&gt;</a:t>
                      </a:r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7608198"/>
                  </a:ext>
                </a:extLst>
              </a:tr>
              <a:tr h="220938">
                <a:tc>
                  <a:txBody>
                    <a:bodyPr/>
                    <a:lstStyle/>
                    <a:p>
                      <a:r>
                        <a:rPr lang="en-US" sz="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Owner</a:t>
                      </a:r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sz="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&lt;Text&gt;</a:t>
                      </a:r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3561346"/>
                  </a:ext>
                </a:extLst>
              </a:tr>
              <a:tr h="220938">
                <a:tc>
                  <a:txBody>
                    <a:bodyPr/>
                    <a:lstStyle/>
                    <a:p>
                      <a:r>
                        <a:rPr lang="en-US" sz="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Constrain</a:t>
                      </a:r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sz="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&lt;Text&gt;</a:t>
                      </a:r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4299433"/>
                  </a:ext>
                </a:extLst>
              </a:tr>
              <a:tr h="220938">
                <a:tc>
                  <a:txBody>
                    <a:bodyPr/>
                    <a:lstStyle/>
                    <a:p>
                      <a:r>
                        <a:rPr lang="en-US" sz="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Access</a:t>
                      </a:r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sz="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&lt;Access selection&gt;</a:t>
                      </a:r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887778"/>
                  </a:ext>
                </a:extLst>
              </a:tr>
              <a:tr h="220938">
                <a:tc gridSpan="5">
                  <a:txBody>
                    <a:bodyPr/>
                    <a:lstStyle/>
                    <a:p>
                      <a:r>
                        <a:rPr lang="en-US" sz="600" b="1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Location</a:t>
                      </a:r>
                      <a:endParaRPr lang="en-ID" sz="600" b="1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b="1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 sz="700" b="1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676785"/>
                  </a:ext>
                </a:extLst>
              </a:tr>
              <a:tr h="220938">
                <a:tc>
                  <a:txBody>
                    <a:bodyPr/>
                    <a:lstStyle/>
                    <a:p>
                      <a:r>
                        <a:rPr lang="en-US" sz="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Coordinate</a:t>
                      </a:r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r"/>
                      <a:r>
                        <a:rPr lang="en-US" sz="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&lt;Number&gt; N</a:t>
                      </a:r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algn="r"/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algn="r"/>
                      <a:r>
                        <a:rPr lang="en-US" sz="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&lt;Number&gt; E</a:t>
                      </a:r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r"/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4259847"/>
                  </a:ext>
                </a:extLst>
              </a:tr>
              <a:tr h="220938">
                <a:tc>
                  <a:txBody>
                    <a:bodyPr/>
                    <a:lstStyle/>
                    <a:p>
                      <a:r>
                        <a:rPr lang="en-US" sz="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Plant</a:t>
                      </a:r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sz="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&lt;refer to plant code&gt;</a:t>
                      </a:r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6023027"/>
                  </a:ext>
                </a:extLst>
              </a:tr>
              <a:tr h="220938">
                <a:tc>
                  <a:txBody>
                    <a:bodyPr/>
                    <a:lstStyle/>
                    <a:p>
                      <a:r>
                        <a:rPr lang="en-US" sz="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Zone</a:t>
                      </a:r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sz="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&lt;Number&gt;</a:t>
                      </a:r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82014042"/>
                  </a:ext>
                </a:extLst>
              </a:tr>
              <a:tr h="220938">
                <a:tc>
                  <a:txBody>
                    <a:bodyPr/>
                    <a:lstStyle/>
                    <a:p>
                      <a:r>
                        <a:rPr lang="en-US" sz="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Area</a:t>
                      </a:r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sz="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&lt;Text&gt;</a:t>
                      </a:r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7028895"/>
                  </a:ext>
                </a:extLst>
              </a:tr>
              <a:tr h="220938">
                <a:tc>
                  <a:txBody>
                    <a:bodyPr/>
                    <a:lstStyle/>
                    <a:p>
                      <a:r>
                        <a:rPr lang="en-US" sz="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Train</a:t>
                      </a:r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sz="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&lt;Text&gt;</a:t>
                      </a:r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2359536"/>
                  </a:ext>
                </a:extLst>
              </a:tr>
            </a:tbl>
          </a:graphicData>
        </a:graphic>
      </p:graphicFrame>
      <p:sp>
        <p:nvSpPr>
          <p:cNvPr id="33" name="Title 63">
            <a:extLst>
              <a:ext uri="{FF2B5EF4-FFF2-40B4-BE49-F238E27FC236}">
                <a16:creationId xmlns:a16="http://schemas.microsoft.com/office/drawing/2014/main" id="{BF80E311-A67F-DC38-A743-D4B85F1B0409}"/>
              </a:ext>
            </a:extLst>
          </p:cNvPr>
          <p:cNvSpPr txBox="1">
            <a:spLocks/>
          </p:cNvSpPr>
          <p:nvPr/>
        </p:nvSpPr>
        <p:spPr>
          <a:xfrm>
            <a:off x="11300550" y="1912916"/>
            <a:ext cx="720000" cy="360000"/>
          </a:xfrm>
          <a:prstGeom prst="rect">
            <a:avLst/>
          </a:prstGeom>
          <a:solidFill>
            <a:srgbClr val="2D6A87"/>
          </a:solidFill>
          <a:ln w="3810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800" b="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Save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E87FCB-3122-AF22-5942-B045FE7EBB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11889936" y="2111378"/>
            <a:ext cx="360000" cy="323076"/>
          </a:xfrm>
          <a:prstGeom prst="ellipse">
            <a:avLst/>
          </a:prstGeom>
          <a:ln w="3175" cap="rnd">
            <a:solidFill>
              <a:srgbClr val="00B050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C80BEABB-3763-31A7-0373-B23291FCCD35}"/>
              </a:ext>
            </a:extLst>
          </p:cNvPr>
          <p:cNvGrpSpPr/>
          <p:nvPr/>
        </p:nvGrpSpPr>
        <p:grpSpPr>
          <a:xfrm>
            <a:off x="0" y="932141"/>
            <a:ext cx="12204000" cy="363949"/>
            <a:chOff x="0" y="932141"/>
            <a:chExt cx="12204000" cy="363949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E6AFDD1C-B748-8A0C-AC20-D10F9EA64584}"/>
                </a:ext>
              </a:extLst>
            </p:cNvPr>
            <p:cNvGrpSpPr/>
            <p:nvPr/>
          </p:nvGrpSpPr>
          <p:grpSpPr>
            <a:xfrm>
              <a:off x="0" y="934984"/>
              <a:ext cx="12204000" cy="361106"/>
              <a:chOff x="0" y="934984"/>
              <a:chExt cx="12204000" cy="361106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D7975A60-2548-06F1-F3E6-78C06D6E1886}"/>
                  </a:ext>
                </a:extLst>
              </p:cNvPr>
              <p:cNvGrpSpPr/>
              <p:nvPr/>
            </p:nvGrpSpPr>
            <p:grpSpPr>
              <a:xfrm>
                <a:off x="0" y="936090"/>
                <a:ext cx="12204000" cy="360000"/>
                <a:chOff x="0" y="936090"/>
                <a:chExt cx="12204000" cy="360000"/>
              </a:xfrm>
            </p:grpSpPr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E8040BFC-D64A-24C2-6E37-93198E877C83}"/>
                    </a:ext>
                  </a:extLst>
                </p:cNvPr>
                <p:cNvGrpSpPr/>
                <p:nvPr/>
              </p:nvGrpSpPr>
              <p:grpSpPr>
                <a:xfrm>
                  <a:off x="0" y="936090"/>
                  <a:ext cx="12204000" cy="360000"/>
                  <a:chOff x="-2" y="2718720"/>
                  <a:chExt cx="12204000" cy="360000"/>
                </a:xfrm>
              </p:grpSpPr>
              <p:sp>
                <p:nvSpPr>
                  <p:cNvPr id="17" name="Title 63">
                    <a:extLst>
                      <a:ext uri="{FF2B5EF4-FFF2-40B4-BE49-F238E27FC236}">
                        <a16:creationId xmlns:a16="http://schemas.microsoft.com/office/drawing/2014/main" id="{B6DD31DE-ECDA-FAF8-F87A-BBB3BF22B735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-2" y="2718720"/>
                    <a:ext cx="720000" cy="360000"/>
                  </a:xfrm>
                  <a:prstGeom prst="rect">
                    <a:avLst/>
                  </a:prstGeom>
                  <a:solidFill>
                    <a:srgbClr val="2D6A87"/>
                  </a:solidFill>
                  <a:ln w="38100">
                    <a:noFill/>
                  </a:ln>
                </p:spPr>
                <p:txBody>
                  <a:bodyPr anchor="ctr">
                    <a:normAutofit/>
                  </a:bodyPr>
                  <a:lstStyle>
                    <a:lvl1pPr algn="l" defTabSz="914400" rtl="0" eaLnBrk="1" latinLnBrk="0" hangingPunct="1">
                      <a:lnSpc>
                        <a:spcPts val="4200"/>
                      </a:lnSpc>
                      <a:spcBef>
                        <a:spcPct val="0"/>
                      </a:spcBef>
                      <a:buNone/>
                      <a:defRPr sz="3200" b="1" kern="1200">
                        <a:solidFill>
                          <a:schemeClr val="bg1"/>
                        </a:solidFill>
                        <a:latin typeface="+mj-lt"/>
                        <a:ea typeface="+mj-ea"/>
                        <a:cs typeface="+mj-cs"/>
                      </a:defRPr>
                    </a:lvl1pPr>
                  </a:lstStyle>
                  <a:p>
                    <a:pPr algn="ctr">
                      <a:lnSpc>
                        <a:spcPct val="100000"/>
                      </a:lnSpc>
                    </a:pPr>
                    <a:r>
                      <a:rPr lang="en-US" sz="1000" b="0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rPr>
                      <a:t>Home</a:t>
                    </a:r>
                  </a:p>
                </p:txBody>
              </p:sp>
              <p:grpSp>
                <p:nvGrpSpPr>
                  <p:cNvPr id="18" name="Group 17">
                    <a:extLst>
                      <a:ext uri="{FF2B5EF4-FFF2-40B4-BE49-F238E27FC236}">
                        <a16:creationId xmlns:a16="http://schemas.microsoft.com/office/drawing/2014/main" id="{791C3610-4BDA-E27D-939E-6A882279AA0C}"/>
                      </a:ext>
                    </a:extLst>
                  </p:cNvPr>
                  <p:cNvGrpSpPr/>
                  <p:nvPr/>
                </p:nvGrpSpPr>
                <p:grpSpPr>
                  <a:xfrm>
                    <a:off x="10763998" y="2718720"/>
                    <a:ext cx="1440000" cy="360000"/>
                    <a:chOff x="4102098" y="3429000"/>
                    <a:chExt cx="1440000" cy="360000"/>
                  </a:xfrm>
                </p:grpSpPr>
                <p:sp>
                  <p:nvSpPr>
                    <p:cNvPr id="21" name="Title 63">
                      <a:extLst>
                        <a:ext uri="{FF2B5EF4-FFF2-40B4-BE49-F238E27FC236}">
                          <a16:creationId xmlns:a16="http://schemas.microsoft.com/office/drawing/2014/main" id="{36276131-C149-DE4C-DAE1-47A26FAD3C57}"/>
                        </a:ext>
                      </a:extLst>
                    </p:cNvPr>
                    <p:cNvSpPr txBox="1">
                      <a:spLocks/>
                    </p:cNvSpPr>
                    <p:nvPr/>
                  </p:nvSpPr>
                  <p:spPr>
                    <a:xfrm>
                      <a:off x="4102098" y="3429000"/>
                      <a:ext cx="720000" cy="360000"/>
                    </a:xfrm>
                    <a:prstGeom prst="rect">
                      <a:avLst/>
                    </a:prstGeom>
                    <a:solidFill>
                      <a:srgbClr val="2D6A87"/>
                    </a:solidFill>
                    <a:ln w="38100">
                      <a:noFill/>
                    </a:ln>
                  </p:spPr>
                  <p:txBody>
                    <a:bodyPr anchor="ctr">
                      <a:normAutofit/>
                    </a:bodyPr>
                    <a:lstStyle>
                      <a:lvl1pPr algn="l" defTabSz="914400" rtl="0" eaLnBrk="1" latinLnBrk="0" hangingPunct="1">
                        <a:lnSpc>
                          <a:spcPts val="4200"/>
                        </a:lnSpc>
                        <a:spcBef>
                          <a:spcPct val="0"/>
                        </a:spcBef>
                        <a:buNone/>
                        <a:defRPr sz="3200" b="1" kern="1200">
                          <a:solidFill>
                            <a:schemeClr val="bg1"/>
                          </a:solidFill>
                          <a:latin typeface="+mj-lt"/>
                          <a:ea typeface="+mj-ea"/>
                          <a:cs typeface="+mj-cs"/>
                        </a:defRPr>
                      </a:lvl1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Help</a:t>
                      </a:r>
                    </a:p>
                  </p:txBody>
                </p:sp>
                <p:sp>
                  <p:nvSpPr>
                    <p:cNvPr id="22" name="Title 63">
                      <a:extLst>
                        <a:ext uri="{FF2B5EF4-FFF2-40B4-BE49-F238E27FC236}">
                          <a16:creationId xmlns:a16="http://schemas.microsoft.com/office/drawing/2014/main" id="{B2077E79-1655-5A28-44DC-59D188A08B3B}"/>
                        </a:ext>
                      </a:extLst>
                    </p:cNvPr>
                    <p:cNvSpPr txBox="1">
                      <a:spLocks/>
                    </p:cNvSpPr>
                    <p:nvPr/>
                  </p:nvSpPr>
                  <p:spPr>
                    <a:xfrm>
                      <a:off x="4822098" y="3429000"/>
                      <a:ext cx="720000" cy="360000"/>
                    </a:xfrm>
                    <a:prstGeom prst="rect">
                      <a:avLst/>
                    </a:prstGeom>
                    <a:solidFill>
                      <a:srgbClr val="2D6A87"/>
                    </a:solidFill>
                    <a:ln w="38100">
                      <a:noFill/>
                    </a:ln>
                  </p:spPr>
                  <p:txBody>
                    <a:bodyPr anchor="ctr">
                      <a:normAutofit/>
                    </a:bodyPr>
                    <a:lstStyle>
                      <a:lvl1pPr algn="l" defTabSz="914400" rtl="0" eaLnBrk="1" latinLnBrk="0" hangingPunct="1">
                        <a:lnSpc>
                          <a:spcPts val="4200"/>
                        </a:lnSpc>
                        <a:spcBef>
                          <a:spcPct val="0"/>
                        </a:spcBef>
                        <a:buNone/>
                        <a:defRPr sz="3200" b="1" kern="1200">
                          <a:solidFill>
                            <a:schemeClr val="bg1"/>
                          </a:solidFill>
                          <a:latin typeface="+mj-lt"/>
                          <a:ea typeface="+mj-ea"/>
                          <a:cs typeface="+mj-cs"/>
                        </a:defRPr>
                      </a:lvl1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Logout</a:t>
                      </a:r>
                    </a:p>
                  </p:txBody>
                </p:sp>
              </p:grpSp>
              <p:sp>
                <p:nvSpPr>
                  <p:cNvPr id="20" name="Title 63">
                    <a:extLst>
                      <a:ext uri="{FF2B5EF4-FFF2-40B4-BE49-F238E27FC236}">
                        <a16:creationId xmlns:a16="http://schemas.microsoft.com/office/drawing/2014/main" id="{85624AE0-5BB9-B0F2-00E4-15076CDE15B4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3595617" y="2718720"/>
                    <a:ext cx="6445306" cy="360000"/>
                  </a:xfrm>
                  <a:prstGeom prst="rect">
                    <a:avLst/>
                  </a:prstGeom>
                  <a:solidFill>
                    <a:srgbClr val="2D6A87"/>
                  </a:solidFill>
                  <a:ln w="38100">
                    <a:noFill/>
                  </a:ln>
                </p:spPr>
                <p:txBody>
                  <a:bodyPr anchor="ctr">
                    <a:normAutofit/>
                  </a:bodyPr>
                  <a:lstStyle>
                    <a:lvl1pPr algn="l" defTabSz="914400" rtl="0" eaLnBrk="1" latinLnBrk="0" hangingPunct="1">
                      <a:lnSpc>
                        <a:spcPts val="4200"/>
                      </a:lnSpc>
                      <a:spcBef>
                        <a:spcPct val="0"/>
                      </a:spcBef>
                      <a:buNone/>
                      <a:defRPr sz="3200" b="1" kern="1200">
                        <a:solidFill>
                          <a:schemeClr val="bg1"/>
                        </a:solidFill>
                        <a:latin typeface="+mj-lt"/>
                        <a:ea typeface="+mj-ea"/>
                        <a:cs typeface="+mj-cs"/>
                      </a:defRPr>
                    </a:lvl1pPr>
                  </a:lstStyle>
                  <a:p>
                    <a:pPr>
                      <a:lnSpc>
                        <a:spcPct val="100000"/>
                      </a:lnSpc>
                    </a:pPr>
                    <a:endParaRPr lang="en-US" sz="1000" b="0" dirty="0">
                      <a:solidFill>
                        <a:schemeClr val="tx2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+mn-cs"/>
                    </a:endParaRPr>
                  </a:p>
                </p:txBody>
              </p:sp>
            </p:grpSp>
            <p:sp>
              <p:nvSpPr>
                <p:cNvPr id="16" name="Title 63">
                  <a:extLst>
                    <a:ext uri="{FF2B5EF4-FFF2-40B4-BE49-F238E27FC236}">
                      <a16:creationId xmlns:a16="http://schemas.microsoft.com/office/drawing/2014/main" id="{8DDB3324-4951-4775-0518-9178D71D9AC1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720000" y="936090"/>
                  <a:ext cx="720000" cy="360000"/>
                </a:xfrm>
                <a:prstGeom prst="rect">
                  <a:avLst/>
                </a:prstGeom>
                <a:solidFill>
                  <a:srgbClr val="2D6A87"/>
                </a:solidFill>
                <a:ln w="38100">
                  <a:noFill/>
                </a:ln>
              </p:spPr>
              <p:txBody>
                <a:bodyPr anchor="ctr">
                  <a:normAutofit fontScale="92500" lnSpcReduction="10000"/>
                </a:bodyPr>
                <a:lstStyle>
                  <a:lvl1pPr algn="l" defTabSz="914400" rtl="0" eaLnBrk="1" latinLnBrk="0" hangingPunct="1">
                    <a:lnSpc>
                      <a:spcPts val="4200"/>
                    </a:lnSpc>
                    <a:spcBef>
                      <a:spcPct val="0"/>
                    </a:spcBef>
                    <a:buNone/>
                    <a:defRPr sz="3200" b="1" kern="1200">
                      <a:solidFill>
                        <a:schemeClr val="bg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:pPr algn="ctr">
                    <a:lnSpc>
                      <a:spcPct val="100000"/>
                    </a:lnSpc>
                  </a:pPr>
                  <a:r>
                    <a:rPr lang="en-US" sz="1000" b="0" dirty="0">
                      <a:solidFill>
                        <a:schemeClr val="tx2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+mn-cs"/>
                    </a:rPr>
                    <a:t>Asset Register</a:t>
                  </a:r>
                </a:p>
              </p:txBody>
            </p:sp>
          </p:grpSp>
          <p:sp>
            <p:nvSpPr>
              <p:cNvPr id="14" name="Title 63">
                <a:extLst>
                  <a:ext uri="{FF2B5EF4-FFF2-40B4-BE49-F238E27FC236}">
                    <a16:creationId xmlns:a16="http://schemas.microsoft.com/office/drawing/2014/main" id="{D74DD164-D139-2D0A-2CEE-EBD6390937E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040924" y="934984"/>
                <a:ext cx="720000" cy="360000"/>
              </a:xfrm>
              <a:prstGeom prst="rect">
                <a:avLst/>
              </a:prstGeom>
              <a:solidFill>
                <a:srgbClr val="2D6A87"/>
              </a:solidFill>
              <a:ln w="38100">
                <a:noFill/>
              </a:ln>
            </p:spPr>
            <p:txBody>
              <a:bodyPr anchor="ctr">
                <a:normAutofit fontScale="92500" lnSpcReduction="10000"/>
              </a:bodyPr>
              <a:lstStyle>
                <a:lvl1pPr algn="l" defTabSz="914400" rtl="0" eaLnBrk="1" latinLnBrk="0" hangingPunct="1">
                  <a:lnSpc>
                    <a:spcPts val="4200"/>
                  </a:lnSpc>
                  <a:spcBef>
                    <a:spcPct val="0"/>
                  </a:spcBef>
                  <a:buNone/>
                  <a:defRPr sz="3200" b="1" kern="1200">
                    <a:solidFill>
                      <a:schemeClr val="bg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00000"/>
                  </a:lnSpc>
                </a:pPr>
                <a:r>
                  <a:rPr lang="en-US" sz="1000" b="0" dirty="0">
                    <a:solidFill>
                      <a:schemeClr val="tx2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rPr>
                  <a:t>Account Manager</a:t>
                </a:r>
              </a:p>
            </p:txBody>
          </p:sp>
        </p:grpSp>
        <p:sp>
          <p:nvSpPr>
            <p:cNvPr id="10" name="Title 63">
              <a:extLst>
                <a:ext uri="{FF2B5EF4-FFF2-40B4-BE49-F238E27FC236}">
                  <a16:creationId xmlns:a16="http://schemas.microsoft.com/office/drawing/2014/main" id="{0F9EAFCD-A8F9-2F07-9F9C-ACC0FDEBF500}"/>
                </a:ext>
              </a:extLst>
            </p:cNvPr>
            <p:cNvSpPr txBox="1">
              <a:spLocks/>
            </p:cNvSpPr>
            <p:nvPr/>
          </p:nvSpPr>
          <p:spPr>
            <a:xfrm>
              <a:off x="1437809" y="932141"/>
              <a:ext cx="1440000" cy="360000"/>
            </a:xfrm>
            <a:prstGeom prst="rect">
              <a:avLst/>
            </a:prstGeom>
            <a:solidFill>
              <a:srgbClr val="2D6A87"/>
            </a:solidFill>
            <a:ln w="38100">
              <a:noFill/>
            </a:ln>
          </p:spPr>
          <p:txBody>
            <a:bodyPr anchor="ctr">
              <a:normAutofit fontScale="92500" lnSpcReduction="10000"/>
            </a:bodyPr>
            <a:lstStyle>
              <a:lvl1pPr algn="l" defTabSz="914400" rtl="0" eaLnBrk="1" latinLnBrk="0" hangingPunct="1">
                <a:lnSpc>
                  <a:spcPts val="4200"/>
                </a:lnSpc>
                <a:spcBef>
                  <a:spcPct val="0"/>
                </a:spcBef>
                <a:buNone/>
                <a:defRPr sz="3200" b="1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>
                <a:lnSpc>
                  <a:spcPct val="100000"/>
                </a:lnSpc>
              </a:pPr>
              <a:r>
                <a:rPr lang="en-US" sz="1000" b="0" dirty="0">
                  <a:solidFill>
                    <a:schemeClr val="tx2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Risk Based Inspection Planning</a:t>
              </a:r>
            </a:p>
          </p:txBody>
        </p:sp>
        <p:sp>
          <p:nvSpPr>
            <p:cNvPr id="11" name="Title 63">
              <a:extLst>
                <a:ext uri="{FF2B5EF4-FFF2-40B4-BE49-F238E27FC236}">
                  <a16:creationId xmlns:a16="http://schemas.microsoft.com/office/drawing/2014/main" id="{B23F833A-D5E7-696F-6398-E35ED4C66D6A}"/>
                </a:ext>
              </a:extLst>
            </p:cNvPr>
            <p:cNvSpPr txBox="1">
              <a:spLocks/>
            </p:cNvSpPr>
            <p:nvPr/>
          </p:nvSpPr>
          <p:spPr>
            <a:xfrm>
              <a:off x="2877809" y="932141"/>
              <a:ext cx="720000" cy="360000"/>
            </a:xfrm>
            <a:prstGeom prst="rect">
              <a:avLst/>
            </a:prstGeom>
            <a:solidFill>
              <a:srgbClr val="2D6A87"/>
            </a:solidFill>
            <a:ln w="38100">
              <a:noFill/>
            </a:ln>
          </p:spPr>
          <p:txBody>
            <a:bodyPr anchor="ctr">
              <a:normAutofit fontScale="92500" lnSpcReduction="10000"/>
            </a:bodyPr>
            <a:lstStyle>
              <a:lvl1pPr algn="l" defTabSz="914400" rtl="0" eaLnBrk="1" latinLnBrk="0" hangingPunct="1">
                <a:lnSpc>
                  <a:spcPts val="4200"/>
                </a:lnSpc>
                <a:spcBef>
                  <a:spcPct val="0"/>
                </a:spcBef>
                <a:buNone/>
                <a:defRPr sz="3200" b="1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>
                <a:lnSpc>
                  <a:spcPct val="100000"/>
                </a:lnSpc>
              </a:pPr>
              <a:r>
                <a:rPr lang="en-US" sz="1000" b="0" dirty="0">
                  <a:solidFill>
                    <a:schemeClr val="tx2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Add</a:t>
              </a:r>
            </a:p>
            <a:p>
              <a:pPr algn="ctr">
                <a:lnSpc>
                  <a:spcPct val="100000"/>
                </a:lnSpc>
              </a:pPr>
              <a:r>
                <a:rPr lang="en-US" sz="1000" b="0" dirty="0">
                  <a:solidFill>
                    <a:schemeClr val="tx2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Module</a:t>
              </a:r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B700D1A5-0D95-4C03-7FAA-35E2640D0008}"/>
              </a:ext>
            </a:extLst>
          </p:cNvPr>
          <p:cNvSpPr/>
          <p:nvPr/>
        </p:nvSpPr>
        <p:spPr>
          <a:xfrm>
            <a:off x="2396721" y="2770061"/>
            <a:ext cx="3784623" cy="1060704"/>
          </a:xfrm>
          <a:prstGeom prst="rect">
            <a:avLst/>
          </a:prstGeom>
          <a:solidFill>
            <a:srgbClr val="FFFF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84EFCBA-827D-621D-D08F-112C86826CA1}"/>
              </a:ext>
            </a:extLst>
          </p:cNvPr>
          <p:cNvSpPr/>
          <p:nvPr/>
        </p:nvSpPr>
        <p:spPr>
          <a:xfrm>
            <a:off x="2382051" y="5921910"/>
            <a:ext cx="2658102" cy="277722"/>
          </a:xfrm>
          <a:prstGeom prst="rect">
            <a:avLst/>
          </a:prstGeom>
          <a:solidFill>
            <a:srgbClr val="FFFF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B59C7F6C-D8A5-75B3-16E6-7F02DB94997B}"/>
              </a:ext>
            </a:extLst>
          </p:cNvPr>
          <p:cNvSpPr/>
          <p:nvPr/>
        </p:nvSpPr>
        <p:spPr>
          <a:xfrm>
            <a:off x="11657117" y="318924"/>
            <a:ext cx="360000" cy="360000"/>
          </a:xfrm>
          <a:prstGeom prst="triangl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</a:rPr>
              <a:t>B</a:t>
            </a:r>
            <a:endParaRPr lang="en-ID" sz="12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4085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E8AB925-373E-D9ED-7D32-9E11AC8CD4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8319517"/>
              </p:ext>
            </p:extLst>
          </p:nvPr>
        </p:nvGraphicFramePr>
        <p:xfrm>
          <a:off x="636785" y="2453891"/>
          <a:ext cx="4042488" cy="2377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97040">
                  <a:extLst>
                    <a:ext uri="{9D8B030D-6E8A-4147-A177-3AD203B41FA5}">
                      <a16:colId xmlns:a16="http://schemas.microsoft.com/office/drawing/2014/main" val="1360728645"/>
                    </a:ext>
                  </a:extLst>
                </a:gridCol>
                <a:gridCol w="1495743">
                  <a:extLst>
                    <a:ext uri="{9D8B030D-6E8A-4147-A177-3AD203B41FA5}">
                      <a16:colId xmlns:a16="http://schemas.microsoft.com/office/drawing/2014/main" val="2423881929"/>
                    </a:ext>
                  </a:extLst>
                </a:gridCol>
                <a:gridCol w="623887">
                  <a:extLst>
                    <a:ext uri="{9D8B030D-6E8A-4147-A177-3AD203B41FA5}">
                      <a16:colId xmlns:a16="http://schemas.microsoft.com/office/drawing/2014/main" val="1852556450"/>
                    </a:ext>
                  </a:extLst>
                </a:gridCol>
                <a:gridCol w="825818">
                  <a:extLst>
                    <a:ext uri="{9D8B030D-6E8A-4147-A177-3AD203B41FA5}">
                      <a16:colId xmlns:a16="http://schemas.microsoft.com/office/drawing/2014/main" val="106965890"/>
                    </a:ext>
                  </a:extLst>
                </a:gridCol>
              </a:tblGrid>
              <a:tr h="134959">
                <a:tc gridSpan="4">
                  <a:txBody>
                    <a:bodyPr/>
                    <a:lstStyle/>
                    <a:p>
                      <a:r>
                        <a:rPr lang="en-US" sz="700" b="1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Register</a:t>
                      </a:r>
                      <a:endParaRPr lang="en-ID" sz="700" b="1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b="1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158135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register No.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32870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GIS Ref. No.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16495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highlight>
                            <a:srgbClr val="00FFFF"/>
                          </a:highlight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tag no.</a:t>
                      </a:r>
                      <a:endParaRPr lang="en-ID" sz="700" dirty="0">
                        <a:highlight>
                          <a:srgbClr val="00FFFF"/>
                        </a:highlight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en-US" sz="700" dirty="0">
                          <a:highlight>
                            <a:srgbClr val="00FFFF"/>
                          </a:highlight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&lt;auto generate tag number&gt;</a:t>
                      </a:r>
                      <a:endParaRPr lang="en-ID" sz="700" dirty="0">
                        <a:highlight>
                          <a:srgbClr val="00FFFF"/>
                        </a:highlight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2829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highlight>
                            <a:srgbClr val="00FF00"/>
                          </a:highlight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Plant code</a:t>
                      </a:r>
                      <a:endParaRPr lang="en-ID" sz="700" dirty="0">
                        <a:highlight>
                          <a:srgbClr val="00FF00"/>
                        </a:highlight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700" kern="1200" dirty="0">
                          <a:solidFill>
                            <a:schemeClr val="tx1"/>
                          </a:solidFill>
                          <a:highlight>
                            <a:srgbClr val="00FF00"/>
                          </a:highlight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17</a:t>
                      </a:r>
                      <a:endParaRPr lang="en-ID" sz="700" kern="1200" dirty="0">
                        <a:solidFill>
                          <a:schemeClr val="tx1"/>
                        </a:solidFill>
                        <a:highlight>
                          <a:srgbClr val="00FF00"/>
                        </a:highlight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ID" sz="70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53081491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highlight>
                            <a:srgbClr val="FF00FF"/>
                          </a:highlight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Code Lv. 1</a:t>
                      </a:r>
                      <a:endParaRPr lang="en-ID" sz="700" dirty="0">
                        <a:highlight>
                          <a:srgbClr val="FF00FF"/>
                        </a:highlight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700" kern="1200" dirty="0">
                          <a:solidFill>
                            <a:schemeClr val="tx1"/>
                          </a:solidFill>
                          <a:highlight>
                            <a:srgbClr val="FF00FF"/>
                          </a:highlight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D</a:t>
                      </a:r>
                      <a:endParaRPr lang="en-ID" sz="700" kern="1200" dirty="0">
                        <a:solidFill>
                          <a:schemeClr val="tx1"/>
                        </a:solidFill>
                        <a:highlight>
                          <a:srgbClr val="FF00FF"/>
                        </a:highlight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ID" sz="70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5883990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highlight>
                            <a:srgbClr val="FFFF00"/>
                          </a:highlight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Lv. 1 Order</a:t>
                      </a:r>
                      <a:endParaRPr lang="en-ID" sz="700" dirty="0">
                        <a:highlight>
                          <a:srgbClr val="FFFF00"/>
                        </a:highlight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en-US" sz="700" dirty="0">
                          <a:highlight>
                            <a:srgbClr val="FFFF00"/>
                          </a:highlight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5</a:t>
                      </a:r>
                      <a:endParaRPr lang="en-ID" sz="700" dirty="0">
                        <a:highlight>
                          <a:srgbClr val="FFFF00"/>
                        </a:highlight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3734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Lv. 1 Desc.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endParaRPr lang="en-ID" sz="700" dirty="0">
                        <a:highlight>
                          <a:srgbClr val="FFFF00"/>
                        </a:highlight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9437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highlight>
                            <a:srgbClr val="FF0000"/>
                          </a:highlight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Code Lv. 2</a:t>
                      </a:r>
                      <a:endParaRPr lang="en-ID" sz="700" dirty="0">
                        <a:highlight>
                          <a:srgbClr val="FF0000"/>
                        </a:highlight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700" kern="1200" dirty="0">
                          <a:solidFill>
                            <a:schemeClr val="tx1"/>
                          </a:solidFill>
                          <a:highlight>
                            <a:srgbClr val="FF0000"/>
                          </a:highlight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Q</a:t>
                      </a:r>
                      <a:endParaRPr lang="en-ID" sz="700" kern="1200" dirty="0">
                        <a:solidFill>
                          <a:schemeClr val="tx1"/>
                        </a:solidFill>
                        <a:highlight>
                          <a:srgbClr val="FF0000"/>
                        </a:highlight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ID" sz="70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6624068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>
                          <a:highlight>
                            <a:srgbClr val="6E98A7"/>
                          </a:highlight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Lv. 2 Order</a:t>
                      </a:r>
                      <a:endParaRPr lang="en-ID" sz="700" dirty="0">
                        <a:highlight>
                          <a:srgbClr val="6E98A7"/>
                        </a:highlight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700" kern="1200" dirty="0">
                          <a:solidFill>
                            <a:schemeClr val="tx1"/>
                          </a:solidFill>
                          <a:highlight>
                            <a:srgbClr val="2D6A87"/>
                          </a:highlight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1</a:t>
                      </a:r>
                      <a:endParaRPr lang="en-ID" sz="700" kern="1200" dirty="0">
                        <a:solidFill>
                          <a:schemeClr val="tx1"/>
                        </a:solidFill>
                        <a:highlight>
                          <a:srgbClr val="2D6A87"/>
                        </a:highlight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86298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Lv. Desc.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ID" sz="70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711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QR Code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ID" sz="70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ID" sz="70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853855238"/>
                  </a:ext>
                </a:extLst>
              </a:tr>
            </a:tbl>
          </a:graphicData>
        </a:graphic>
      </p:graphicFrame>
      <p:sp>
        <p:nvSpPr>
          <p:cNvPr id="5" name="Title 63">
            <a:extLst>
              <a:ext uri="{FF2B5EF4-FFF2-40B4-BE49-F238E27FC236}">
                <a16:creationId xmlns:a16="http://schemas.microsoft.com/office/drawing/2014/main" id="{771E0886-4F61-88A7-E1C9-ACFF0C664368}"/>
              </a:ext>
            </a:extLst>
          </p:cNvPr>
          <p:cNvSpPr txBox="1">
            <a:spLocks/>
          </p:cNvSpPr>
          <p:nvPr/>
        </p:nvSpPr>
        <p:spPr>
          <a:xfrm>
            <a:off x="636785" y="340010"/>
            <a:ext cx="10078840" cy="1803115"/>
          </a:xfrm>
          <a:prstGeom prst="rect">
            <a:avLst/>
          </a:prstGeom>
          <a:noFill/>
          <a:ln w="38100">
            <a:noFill/>
          </a:ln>
        </p:spPr>
        <p:txBody>
          <a:bodyPr anchor="t">
            <a:no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200" b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Label	: Asset Tag No. </a:t>
            </a:r>
          </a:p>
          <a:p>
            <a:pPr>
              <a:lnSpc>
                <a:spcPct val="100000"/>
              </a:lnSpc>
            </a:pPr>
            <a:r>
              <a:rPr lang="en-US" sz="1200" b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Feature:	: Auto generate tag number</a:t>
            </a:r>
          </a:p>
          <a:p>
            <a:pPr>
              <a:lnSpc>
                <a:spcPct val="100000"/>
              </a:lnSpc>
            </a:pPr>
            <a:endParaRPr lang="en-US" sz="1200" b="0" dirty="0">
              <a:solidFill>
                <a:schemeClr val="tx1"/>
              </a:solidFill>
              <a:latin typeface="Courier New" panose="02070309020205020404" pitchFamily="49" charset="0"/>
              <a:ea typeface="Verdana" panose="020B0604030504040204" pitchFamily="34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</a:pPr>
            <a:r>
              <a:rPr lang="en-US" sz="1200" b="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Formula:</a:t>
            </a:r>
          </a:p>
          <a:p>
            <a:pPr>
              <a:lnSpc>
                <a:spcPct val="100000"/>
              </a:lnSpc>
            </a:pPr>
            <a:r>
              <a:rPr lang="en-US" sz="1200" b="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=</a:t>
            </a:r>
            <a:r>
              <a:rPr lang="en-US" sz="1200" b="0" dirty="0" err="1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concat</a:t>
            </a:r>
            <a:endParaRPr lang="en-US" sz="1200" b="0" dirty="0">
              <a:solidFill>
                <a:schemeClr val="tx1"/>
              </a:solidFill>
              <a:latin typeface="Courier New" panose="02070309020205020404" pitchFamily="49" charset="0"/>
              <a:ea typeface="Verdana" panose="020B0604030504040204" pitchFamily="34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</a:pPr>
            <a:r>
              <a:rPr lang="en-US" sz="1200" b="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&lt;</a:t>
            </a:r>
            <a:r>
              <a:rPr lang="en-US" sz="1200" b="0" dirty="0">
                <a:solidFill>
                  <a:schemeClr val="tx1"/>
                </a:solidFill>
                <a:highlight>
                  <a:srgbClr val="00FF00"/>
                </a:highlight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Plant code</a:t>
            </a:r>
            <a:r>
              <a:rPr lang="en-US" sz="1200" b="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&gt; &lt;</a:t>
            </a:r>
            <a:r>
              <a:rPr lang="en-US" sz="1200" b="0" dirty="0">
                <a:solidFill>
                  <a:schemeClr val="tx1"/>
                </a:solidFill>
                <a:highlight>
                  <a:srgbClr val="FF00FF"/>
                </a:highlight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Asset Code Lv. 1</a:t>
            </a:r>
            <a:r>
              <a:rPr lang="en-US" sz="1200" b="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&gt; ”-” &lt;</a:t>
            </a:r>
            <a:r>
              <a:rPr lang="en-US" sz="1200" b="0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Asset Lv. 1 Order</a:t>
            </a:r>
            <a:r>
              <a:rPr lang="en-US" sz="1200" b="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&gt; “/” &lt;</a:t>
            </a:r>
            <a:r>
              <a:rPr lang="en-US" sz="1200" b="0" dirty="0">
                <a:solidFill>
                  <a:schemeClr val="tx1"/>
                </a:solidFill>
                <a:highlight>
                  <a:srgbClr val="FF0000"/>
                </a:highlight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Asset Code Lv. 2</a:t>
            </a:r>
            <a:r>
              <a:rPr lang="en-US" sz="1200" b="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&gt; “-” &lt;</a:t>
            </a:r>
            <a:r>
              <a:rPr lang="en-US" sz="1200" b="0" dirty="0">
                <a:solidFill>
                  <a:schemeClr val="tx1"/>
                </a:solidFill>
                <a:highlight>
                  <a:srgbClr val="6E98A7"/>
                </a:highlight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Asset Lv. 2 Order</a:t>
            </a:r>
            <a:r>
              <a:rPr lang="en-US" sz="1200" b="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&gt;</a:t>
            </a:r>
          </a:p>
          <a:p>
            <a:pPr>
              <a:lnSpc>
                <a:spcPct val="100000"/>
              </a:lnSpc>
            </a:pPr>
            <a:endParaRPr lang="en-US" sz="1200" b="0" dirty="0">
              <a:solidFill>
                <a:schemeClr val="tx1"/>
              </a:solidFill>
              <a:latin typeface="Courier New" panose="02070309020205020404" pitchFamily="49" charset="0"/>
              <a:ea typeface="Verdana" panose="020B0604030504040204" pitchFamily="34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</a:pPr>
            <a:r>
              <a:rPr lang="en-US" sz="1200" b="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Result Example:</a:t>
            </a:r>
          </a:p>
          <a:p>
            <a:pPr>
              <a:lnSpc>
                <a:spcPct val="100000"/>
              </a:lnSpc>
            </a:pPr>
            <a:r>
              <a:rPr lang="en-US" sz="1200" b="0" dirty="0">
                <a:solidFill>
                  <a:schemeClr val="tx1"/>
                </a:solidFill>
                <a:highlight>
                  <a:srgbClr val="00FF00"/>
                </a:highlight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17</a:t>
            </a:r>
            <a:r>
              <a:rPr lang="en-US" sz="1200" b="0" dirty="0">
                <a:solidFill>
                  <a:schemeClr val="tx1"/>
                </a:solidFill>
                <a:highlight>
                  <a:srgbClr val="FF00FF"/>
                </a:highlight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D</a:t>
            </a:r>
            <a:r>
              <a:rPr lang="en-US" sz="1200" b="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-</a:t>
            </a:r>
            <a:r>
              <a:rPr lang="en-US" sz="1200" b="0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5</a:t>
            </a:r>
            <a:r>
              <a:rPr lang="en-US" sz="1200" b="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/</a:t>
            </a:r>
            <a:r>
              <a:rPr lang="en-US" sz="1200" b="0" dirty="0">
                <a:solidFill>
                  <a:schemeClr val="tx1"/>
                </a:solidFill>
                <a:highlight>
                  <a:srgbClr val="FF0000"/>
                </a:highlight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Q</a:t>
            </a:r>
            <a:r>
              <a:rPr lang="en-US" sz="1200" b="0" dirty="0">
                <a:solidFill>
                  <a:schemeClr val="tx1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-</a:t>
            </a:r>
            <a:r>
              <a:rPr lang="en-US" sz="1200" b="0" dirty="0">
                <a:solidFill>
                  <a:schemeClr val="tx1"/>
                </a:solidFill>
                <a:highlight>
                  <a:srgbClr val="6E98A7"/>
                </a:highlight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1</a:t>
            </a:r>
            <a:endParaRPr lang="en-US" sz="1200" b="0" dirty="0">
              <a:solidFill>
                <a:schemeClr val="tx1"/>
              </a:solidFill>
              <a:latin typeface="Courier New" panose="02070309020205020404" pitchFamily="49" charset="0"/>
              <a:ea typeface="Verdana" panose="020B0604030504040204" pitchFamily="34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</a:pPr>
            <a:endParaRPr lang="en-US" sz="1200" b="0" dirty="0">
              <a:solidFill>
                <a:schemeClr val="tx1"/>
              </a:solidFill>
              <a:latin typeface="Courier New" panose="02070309020205020404" pitchFamily="49" charset="0"/>
              <a:ea typeface="Verdana" panose="020B0604030504040204" pitchFamily="34" charset="0"/>
              <a:cs typeface="Courier New" panose="02070309020205020404" pitchFamily="49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2A7E0BF-B9AE-AD64-DAB2-A776F10311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854" y="3092840"/>
            <a:ext cx="360000" cy="323076"/>
          </a:xfrm>
          <a:prstGeom prst="ellipse">
            <a:avLst/>
          </a:prstGeom>
          <a:ln w="3175" cap="rnd">
            <a:solidFill>
              <a:srgbClr val="00B050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9100FF95-B060-E451-77EC-09BB0449EAF0}"/>
              </a:ext>
            </a:extLst>
          </p:cNvPr>
          <p:cNvSpPr/>
          <p:nvPr/>
        </p:nvSpPr>
        <p:spPr>
          <a:xfrm>
            <a:off x="11657117" y="318924"/>
            <a:ext cx="360000" cy="360000"/>
          </a:xfrm>
          <a:prstGeom prst="triangl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</a:rPr>
              <a:t>B</a:t>
            </a:r>
            <a:endParaRPr lang="en-ID" sz="12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2710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B67BF6-64B2-A3AE-5289-B19B1C1CB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651B6FB-5A3F-A86D-E963-7A0D0575F8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2310931"/>
              </p:ext>
            </p:extLst>
          </p:nvPr>
        </p:nvGraphicFramePr>
        <p:xfrm>
          <a:off x="636785" y="1070043"/>
          <a:ext cx="4042488" cy="2377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97040">
                  <a:extLst>
                    <a:ext uri="{9D8B030D-6E8A-4147-A177-3AD203B41FA5}">
                      <a16:colId xmlns:a16="http://schemas.microsoft.com/office/drawing/2014/main" val="1360728645"/>
                    </a:ext>
                  </a:extLst>
                </a:gridCol>
                <a:gridCol w="1495743">
                  <a:extLst>
                    <a:ext uri="{9D8B030D-6E8A-4147-A177-3AD203B41FA5}">
                      <a16:colId xmlns:a16="http://schemas.microsoft.com/office/drawing/2014/main" val="2423881929"/>
                    </a:ext>
                  </a:extLst>
                </a:gridCol>
                <a:gridCol w="623887">
                  <a:extLst>
                    <a:ext uri="{9D8B030D-6E8A-4147-A177-3AD203B41FA5}">
                      <a16:colId xmlns:a16="http://schemas.microsoft.com/office/drawing/2014/main" val="1852556450"/>
                    </a:ext>
                  </a:extLst>
                </a:gridCol>
                <a:gridCol w="825818">
                  <a:extLst>
                    <a:ext uri="{9D8B030D-6E8A-4147-A177-3AD203B41FA5}">
                      <a16:colId xmlns:a16="http://schemas.microsoft.com/office/drawing/2014/main" val="106965890"/>
                    </a:ext>
                  </a:extLst>
                </a:gridCol>
              </a:tblGrid>
              <a:tr h="134959">
                <a:tc gridSpan="4">
                  <a:txBody>
                    <a:bodyPr/>
                    <a:lstStyle/>
                    <a:p>
                      <a:r>
                        <a:rPr lang="en-US" sz="700" b="1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Register</a:t>
                      </a:r>
                      <a:endParaRPr lang="en-ID" sz="700" b="1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b="1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158135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register No.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32870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GIS Ref. No.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16495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tag no.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2829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highlight>
                            <a:srgbClr val="00FFFF"/>
                          </a:highlight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Plant code</a:t>
                      </a:r>
                      <a:endParaRPr lang="en-ID" sz="700" dirty="0">
                        <a:highlight>
                          <a:srgbClr val="00FFFF"/>
                        </a:highlight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highlight>
                            <a:srgbClr val="00FFFF"/>
                          </a:highlight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&lt;Plant code Selection&gt;</a:t>
                      </a:r>
                      <a:endParaRPr lang="en-ID" sz="700" dirty="0">
                        <a:highlight>
                          <a:srgbClr val="00FFFF"/>
                        </a:highlight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700" kern="1200" dirty="0">
                          <a:solidFill>
                            <a:schemeClr val="tx1"/>
                          </a:solidFill>
                          <a:highlight>
                            <a:srgbClr val="00FFFF"/>
                          </a:highlight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&lt;Look up plant code&gt;</a:t>
                      </a:r>
                      <a:endParaRPr lang="en-ID" sz="700" kern="1200" dirty="0">
                        <a:solidFill>
                          <a:schemeClr val="tx1"/>
                        </a:solidFill>
                        <a:highlight>
                          <a:srgbClr val="00FFFF"/>
                        </a:highlight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53081491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Code Lv. 1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ID" sz="70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ID" sz="70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5883990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Lv. 1 order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3734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Lv. 1 desc.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9437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Code Lv. 2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ID" sz="70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ID" sz="70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6624068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Lv. 2 order.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ID" sz="70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86298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Lv. 2 desc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ID" sz="70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711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QR Code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ID" sz="70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ID" sz="70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853855238"/>
                  </a:ext>
                </a:extLst>
              </a:tr>
            </a:tbl>
          </a:graphicData>
        </a:graphic>
      </p:graphicFrame>
      <p:sp>
        <p:nvSpPr>
          <p:cNvPr id="5" name="Title 63">
            <a:extLst>
              <a:ext uri="{FF2B5EF4-FFF2-40B4-BE49-F238E27FC236}">
                <a16:creationId xmlns:a16="http://schemas.microsoft.com/office/drawing/2014/main" id="{11D37373-B036-98CA-C11D-C809102CBD12}"/>
              </a:ext>
            </a:extLst>
          </p:cNvPr>
          <p:cNvSpPr txBox="1">
            <a:spLocks/>
          </p:cNvSpPr>
          <p:nvPr/>
        </p:nvSpPr>
        <p:spPr>
          <a:xfrm>
            <a:off x="636785" y="340011"/>
            <a:ext cx="4042488" cy="525752"/>
          </a:xfrm>
          <a:prstGeom prst="rect">
            <a:avLst/>
          </a:prstGeom>
          <a:noFill/>
          <a:ln w="38100">
            <a:noFill/>
          </a:ln>
        </p:spPr>
        <p:txBody>
          <a:bodyPr anchor="t">
            <a:no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200" b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Label	: Plant Code</a:t>
            </a:r>
          </a:p>
          <a:p>
            <a:pPr>
              <a:lnSpc>
                <a:spcPct val="100000"/>
              </a:lnSpc>
            </a:pPr>
            <a:r>
              <a:rPr lang="en-US" sz="1200" b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Feature:	: Drop Down Selection and Look Up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F2240F-2406-6C6B-D5F4-6D575B2298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329" y="1883614"/>
            <a:ext cx="360000" cy="323076"/>
          </a:xfrm>
          <a:prstGeom prst="ellipse">
            <a:avLst/>
          </a:prstGeom>
          <a:ln w="3175" cap="rnd">
            <a:solidFill>
              <a:srgbClr val="00B050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2C799477-A253-370A-65AB-1A9995E556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8869447"/>
              </p:ext>
            </p:extLst>
          </p:nvPr>
        </p:nvGraphicFramePr>
        <p:xfrm>
          <a:off x="636785" y="4177515"/>
          <a:ext cx="4042488" cy="2377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97040">
                  <a:extLst>
                    <a:ext uri="{9D8B030D-6E8A-4147-A177-3AD203B41FA5}">
                      <a16:colId xmlns:a16="http://schemas.microsoft.com/office/drawing/2014/main" val="1360728645"/>
                    </a:ext>
                  </a:extLst>
                </a:gridCol>
                <a:gridCol w="1495743">
                  <a:extLst>
                    <a:ext uri="{9D8B030D-6E8A-4147-A177-3AD203B41FA5}">
                      <a16:colId xmlns:a16="http://schemas.microsoft.com/office/drawing/2014/main" val="2423881929"/>
                    </a:ext>
                  </a:extLst>
                </a:gridCol>
                <a:gridCol w="623887">
                  <a:extLst>
                    <a:ext uri="{9D8B030D-6E8A-4147-A177-3AD203B41FA5}">
                      <a16:colId xmlns:a16="http://schemas.microsoft.com/office/drawing/2014/main" val="1852556450"/>
                    </a:ext>
                  </a:extLst>
                </a:gridCol>
                <a:gridCol w="825818">
                  <a:extLst>
                    <a:ext uri="{9D8B030D-6E8A-4147-A177-3AD203B41FA5}">
                      <a16:colId xmlns:a16="http://schemas.microsoft.com/office/drawing/2014/main" val="106965890"/>
                    </a:ext>
                  </a:extLst>
                </a:gridCol>
              </a:tblGrid>
              <a:tr h="134959">
                <a:tc gridSpan="4">
                  <a:txBody>
                    <a:bodyPr/>
                    <a:lstStyle/>
                    <a:p>
                      <a:r>
                        <a:rPr lang="en-US" sz="700" b="1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Register</a:t>
                      </a:r>
                      <a:endParaRPr lang="en-ID" sz="700" b="1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b="1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158135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register No.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32870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GIS Ref. No.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16495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tag no.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2829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highlight>
                            <a:srgbClr val="00FFFF"/>
                          </a:highlight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Plant code</a:t>
                      </a:r>
                      <a:endParaRPr lang="en-ID" sz="700" dirty="0">
                        <a:highlight>
                          <a:srgbClr val="00FFFF"/>
                        </a:highlight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highlight>
                            <a:srgbClr val="00FFFF"/>
                          </a:highlight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17</a:t>
                      </a:r>
                      <a:endParaRPr lang="en-ID" sz="700" dirty="0">
                        <a:highlight>
                          <a:srgbClr val="00FFFF"/>
                        </a:highlight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700" kern="1200" dirty="0">
                          <a:solidFill>
                            <a:schemeClr val="tx1"/>
                          </a:solidFill>
                          <a:highlight>
                            <a:srgbClr val="00FFFF"/>
                          </a:highlight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LPG Storage and Loading</a:t>
                      </a:r>
                      <a:endParaRPr lang="en-ID" sz="700" kern="1200" dirty="0">
                        <a:solidFill>
                          <a:schemeClr val="tx1"/>
                        </a:solidFill>
                        <a:highlight>
                          <a:srgbClr val="00FFFF"/>
                        </a:highlight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53081491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Code Lv. 1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ID" sz="70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ID" sz="70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5883990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Lv. 1 order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3734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Lv. 1 desc.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9437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Code Lv. 2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ID" sz="70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ID" sz="70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6624068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Lv. 2 order.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ID" sz="70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86298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Lv. 2 desc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ID" sz="70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711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QR Code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ID" sz="70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ID" sz="70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853855238"/>
                  </a:ext>
                </a:extLst>
              </a:tr>
            </a:tbl>
          </a:graphicData>
        </a:graphic>
      </p:graphicFrame>
      <p:sp>
        <p:nvSpPr>
          <p:cNvPr id="12" name="Title 63">
            <a:extLst>
              <a:ext uri="{FF2B5EF4-FFF2-40B4-BE49-F238E27FC236}">
                <a16:creationId xmlns:a16="http://schemas.microsoft.com/office/drawing/2014/main" id="{B7ABE6A3-B37B-0660-1973-2DA2B74D15FD}"/>
              </a:ext>
            </a:extLst>
          </p:cNvPr>
          <p:cNvSpPr txBox="1">
            <a:spLocks/>
          </p:cNvSpPr>
          <p:nvPr/>
        </p:nvSpPr>
        <p:spPr>
          <a:xfrm>
            <a:off x="636785" y="3651763"/>
            <a:ext cx="4042488" cy="336577"/>
          </a:xfrm>
          <a:prstGeom prst="rect">
            <a:avLst/>
          </a:prstGeom>
          <a:noFill/>
          <a:ln w="38100">
            <a:noFill/>
          </a:ln>
        </p:spPr>
        <p:txBody>
          <a:bodyPr anchor="t">
            <a:no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200" b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Example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740CCE9F-004E-B3E3-9A60-074BCF9286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3072950"/>
              </p:ext>
            </p:extLst>
          </p:nvPr>
        </p:nvGraphicFramePr>
        <p:xfrm>
          <a:off x="7289260" y="197755"/>
          <a:ext cx="3619759" cy="6357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21711">
                  <a:extLst>
                    <a:ext uri="{9D8B030D-6E8A-4147-A177-3AD203B41FA5}">
                      <a16:colId xmlns:a16="http://schemas.microsoft.com/office/drawing/2014/main" val="2700219246"/>
                    </a:ext>
                  </a:extLst>
                </a:gridCol>
                <a:gridCol w="2398048">
                  <a:extLst>
                    <a:ext uri="{9D8B030D-6E8A-4147-A177-3AD203B41FA5}">
                      <a16:colId xmlns:a16="http://schemas.microsoft.com/office/drawing/2014/main" val="2440745269"/>
                    </a:ext>
                  </a:extLst>
                </a:gridCol>
              </a:tblGrid>
              <a:tr h="8880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Plant Code Selection</a:t>
                      </a:r>
                      <a:endParaRPr lang="en-ID" sz="8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Description</a:t>
                      </a:r>
                      <a:endParaRPr lang="en-ID" sz="8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2339318"/>
                  </a:ext>
                </a:extLst>
              </a:tr>
              <a:tr h="888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</a:t>
                      </a:r>
                      <a:endParaRPr lang="en-ID" sz="8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Gas Purification Section</a:t>
                      </a:r>
                      <a:endParaRPr lang="en-ID" sz="8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7538252"/>
                  </a:ext>
                </a:extLst>
              </a:tr>
              <a:tr h="888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</a:t>
                      </a:r>
                      <a:endParaRPr lang="en-ID" sz="8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Dehydration Section</a:t>
                      </a:r>
                      <a:endParaRPr lang="en-ID" sz="8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3855594"/>
                  </a:ext>
                </a:extLst>
              </a:tr>
              <a:tr h="888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Fractionation Section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5892738"/>
                  </a:ext>
                </a:extLst>
              </a:tr>
              <a:tr h="888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4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Refrigeration Section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2576607"/>
                  </a:ext>
                </a:extLst>
              </a:tr>
              <a:tr h="888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5</a:t>
                      </a:r>
                      <a:endParaRPr lang="en-ID" sz="8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Liquifaction Section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7889374"/>
                  </a:ext>
                </a:extLst>
              </a:tr>
              <a:tr h="888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6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Condensate Stripping Section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6407228"/>
                  </a:ext>
                </a:extLst>
              </a:tr>
              <a:tr h="888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15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LPG Section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0705860"/>
                  </a:ext>
                </a:extLst>
              </a:tr>
              <a:tr h="888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16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Condensate Stabilizer Section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9158723"/>
                  </a:ext>
                </a:extLst>
              </a:tr>
              <a:tr h="888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 dirty="0">
                          <a:effectLst/>
                          <a:highlight>
                            <a:srgbClr val="00FFFF"/>
                          </a:highlight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17</a:t>
                      </a:r>
                      <a:endParaRPr lang="en-ID" sz="8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00FFFF"/>
                        </a:highlight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 dirty="0">
                          <a:effectLst/>
                          <a:highlight>
                            <a:srgbClr val="00FFFF"/>
                          </a:highlight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LPG Storage and Loading</a:t>
                      </a:r>
                      <a:endParaRPr lang="en-ID" sz="8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00FFFF"/>
                        </a:highlight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9110938"/>
                  </a:ext>
                </a:extLst>
              </a:tr>
              <a:tr h="888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19</a:t>
                      </a:r>
                      <a:endParaRPr lang="en-ID" sz="8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Relief &amp; Blowdown System</a:t>
                      </a:r>
                      <a:endParaRPr lang="en-ID" sz="8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0214552"/>
                  </a:ext>
                </a:extLst>
              </a:tr>
              <a:tr h="888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Condensate Storage and Process LPG Storage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6925819"/>
                  </a:ext>
                </a:extLst>
              </a:tr>
              <a:tr h="888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21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Feed Gas Knockout Drum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3690148"/>
                  </a:ext>
                </a:extLst>
              </a:tr>
              <a:tr h="888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22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Marine Structures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6604571"/>
                  </a:ext>
                </a:extLst>
              </a:tr>
              <a:tr h="888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24</a:t>
                      </a:r>
                      <a:endParaRPr lang="en-ID" sz="8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LNG Storage and Loading Facility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4740350"/>
                  </a:ext>
                </a:extLst>
              </a:tr>
              <a:tr h="888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25</a:t>
                      </a:r>
                      <a:endParaRPr lang="en-ID" sz="8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Fueling Facility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3157468"/>
                  </a:ext>
                </a:extLst>
              </a:tr>
              <a:tr h="888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26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LPG Filling Station for Propane and Butane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9033632"/>
                  </a:ext>
                </a:extLst>
              </a:tr>
              <a:tr h="888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27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Oxygen Plant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5730697"/>
                  </a:ext>
                </a:extLst>
              </a:tr>
              <a:tr h="888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28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Acetylene Plant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9268566"/>
                  </a:ext>
                </a:extLst>
              </a:tr>
              <a:tr h="888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29</a:t>
                      </a:r>
                      <a:endParaRPr lang="en-ID" sz="8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Nitrogen Generation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6119907"/>
                  </a:ext>
                </a:extLst>
              </a:tr>
              <a:tr h="888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30</a:t>
                      </a:r>
                      <a:endParaRPr lang="en-ID" sz="8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Electrical Distribution Facilities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9442519"/>
                  </a:ext>
                </a:extLst>
              </a:tr>
              <a:tr h="888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31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Steam &amp; Power Generation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6997866"/>
                  </a:ext>
                </a:extLst>
              </a:tr>
              <a:tr h="888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32</a:t>
                      </a:r>
                      <a:endParaRPr lang="en-ID" sz="8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Seawater Cooling System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8863241"/>
                  </a:ext>
                </a:extLst>
              </a:tr>
              <a:tr h="888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33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Fire Protectuon System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8384247"/>
                  </a:ext>
                </a:extLst>
              </a:tr>
              <a:tr h="888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34</a:t>
                      </a:r>
                      <a:endParaRPr lang="en-ID" sz="8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Liquid Waste System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8189717"/>
                  </a:ext>
                </a:extLst>
              </a:tr>
              <a:tr h="888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35</a:t>
                      </a:r>
                      <a:endParaRPr lang="en-ID" sz="8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Compressed Air System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6374192"/>
                  </a:ext>
                </a:extLst>
              </a:tr>
              <a:tr h="888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36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Water Treatment System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1510983"/>
                  </a:ext>
                </a:extLst>
              </a:tr>
              <a:tr h="888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37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Communication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1260200"/>
                  </a:ext>
                </a:extLst>
              </a:tr>
              <a:tr h="888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38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Inter-connecting Pipeways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3057673"/>
                  </a:ext>
                </a:extLst>
              </a:tr>
              <a:tr h="888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39</a:t>
                      </a:r>
                      <a:endParaRPr lang="en-ID" sz="8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Nitrogen Plant (Expansion)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3883173"/>
                  </a:ext>
                </a:extLst>
              </a:tr>
              <a:tr h="888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40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Site Preparation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469116"/>
                  </a:ext>
                </a:extLst>
              </a:tr>
              <a:tr h="888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41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Buildings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5912808"/>
                  </a:ext>
                </a:extLst>
              </a:tr>
              <a:tr h="888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42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Building Equipment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7083165"/>
                  </a:ext>
                </a:extLst>
              </a:tr>
              <a:tr h="888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43</a:t>
                      </a:r>
                      <a:endParaRPr lang="en-ID" sz="8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Tug Boats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0468392"/>
                  </a:ext>
                </a:extLst>
              </a:tr>
              <a:tr h="888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48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Community Facilities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8733132"/>
                  </a:ext>
                </a:extLst>
              </a:tr>
              <a:tr h="888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49</a:t>
                      </a:r>
                      <a:endParaRPr lang="en-ID" sz="8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Community Facilities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3780801"/>
                  </a:ext>
                </a:extLst>
              </a:tr>
              <a:tr h="888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50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Plot Plans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5695322"/>
                  </a:ext>
                </a:extLst>
              </a:tr>
              <a:tr h="888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51</a:t>
                      </a:r>
                      <a:endParaRPr lang="en-ID" sz="8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Mobile Equipment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9077908"/>
                  </a:ext>
                </a:extLst>
              </a:tr>
              <a:tr h="888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52</a:t>
                      </a:r>
                      <a:endParaRPr lang="en-ID" sz="8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Distributed Control System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6834635"/>
                  </a:ext>
                </a:extLst>
              </a:tr>
              <a:tr h="888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53</a:t>
                      </a:r>
                      <a:endParaRPr lang="en-ID" sz="8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Machinery Monitroing System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6150041"/>
                  </a:ext>
                </a:extLst>
              </a:tr>
              <a:tr h="888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55</a:t>
                      </a:r>
                      <a:endParaRPr lang="en-ID" sz="8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Maps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8563804"/>
                  </a:ext>
                </a:extLst>
              </a:tr>
              <a:tr h="888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57</a:t>
                      </a:r>
                      <a:endParaRPr lang="en-ID" sz="8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New 36 inch Pipeline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5543155"/>
                  </a:ext>
                </a:extLst>
              </a:tr>
              <a:tr h="888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58</a:t>
                      </a:r>
                      <a:endParaRPr lang="en-ID" sz="8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36 inch pipeline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9463623"/>
                  </a:ext>
                </a:extLst>
              </a:tr>
              <a:tr h="888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59</a:t>
                      </a:r>
                      <a:endParaRPr lang="en-ID" sz="8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42 inch pipeline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5854331"/>
                  </a:ext>
                </a:extLst>
              </a:tr>
              <a:tr h="888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60</a:t>
                      </a:r>
                      <a:endParaRPr lang="en-ID" sz="8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20 inch pipeline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7928743"/>
                  </a:ext>
                </a:extLst>
              </a:tr>
              <a:tr h="888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61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16 inch pipeline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5835576"/>
                  </a:ext>
                </a:extLst>
              </a:tr>
              <a:tr h="888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62</a:t>
                      </a:r>
                      <a:endParaRPr lang="en-ID" sz="8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16 inch pipeline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1383630"/>
                  </a:ext>
                </a:extLst>
              </a:tr>
              <a:tr h="888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63</a:t>
                      </a:r>
                      <a:endParaRPr lang="en-ID" sz="8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6 inch pipeline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9278462"/>
                  </a:ext>
                </a:extLst>
              </a:tr>
              <a:tr h="888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64</a:t>
                      </a:r>
                      <a:endParaRPr lang="en-ID" sz="8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Water Recreation Facilities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504758"/>
                  </a:ext>
                </a:extLst>
              </a:tr>
              <a:tr h="888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70</a:t>
                      </a:r>
                      <a:endParaRPr lang="en-ID" sz="8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Outside PT. </a:t>
                      </a:r>
                      <a:r>
                        <a:rPr lang="en-ID" sz="800" u="none" strike="noStrike" dirty="0" err="1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Badak</a:t>
                      </a:r>
                      <a:r>
                        <a:rPr lang="en-ID" sz="8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NGL Area</a:t>
                      </a:r>
                      <a:endParaRPr lang="en-ID" sz="8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224" marR="5224" marT="522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9732508"/>
                  </a:ext>
                </a:extLst>
              </a:tr>
            </a:tbl>
          </a:graphicData>
        </a:graphic>
      </p:graphicFrame>
      <p:grpSp>
        <p:nvGrpSpPr>
          <p:cNvPr id="20" name="Group 19">
            <a:extLst>
              <a:ext uri="{FF2B5EF4-FFF2-40B4-BE49-F238E27FC236}">
                <a16:creationId xmlns:a16="http://schemas.microsoft.com/office/drawing/2014/main" id="{091BE1F6-82DC-7E27-6BC7-FC797401847B}"/>
              </a:ext>
            </a:extLst>
          </p:cNvPr>
          <p:cNvGrpSpPr/>
          <p:nvPr/>
        </p:nvGrpSpPr>
        <p:grpSpPr>
          <a:xfrm>
            <a:off x="4824919" y="1410508"/>
            <a:ext cx="2344366" cy="3667327"/>
            <a:chOff x="4824919" y="1410508"/>
            <a:chExt cx="2344366" cy="3667327"/>
          </a:xfrm>
        </p:grpSpPr>
        <p:cxnSp>
          <p:nvCxnSpPr>
            <p:cNvPr id="15" name="Connector: Elbow 14">
              <a:extLst>
                <a:ext uri="{FF2B5EF4-FFF2-40B4-BE49-F238E27FC236}">
                  <a16:creationId xmlns:a16="http://schemas.microsoft.com/office/drawing/2014/main" id="{FDDF989F-E2E5-FA60-6454-010C22BC6CBB}"/>
                </a:ext>
              </a:extLst>
            </p:cNvPr>
            <p:cNvCxnSpPr/>
            <p:nvPr/>
          </p:nvCxnSpPr>
          <p:spPr>
            <a:xfrm rot="5400000">
              <a:off x="3607340" y="2628087"/>
              <a:ext cx="3667327" cy="1232170"/>
            </a:xfrm>
            <a:prstGeom prst="bentConnector3">
              <a:avLst>
                <a:gd name="adj1" fmla="val 99867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70AA3C8-8C6B-CC26-C78B-0B0CC886FCC0}"/>
                </a:ext>
              </a:extLst>
            </p:cNvPr>
            <p:cNvCxnSpPr/>
            <p:nvPr/>
          </p:nvCxnSpPr>
          <p:spPr>
            <a:xfrm>
              <a:off x="6057089" y="1410508"/>
              <a:ext cx="1112196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93697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051697-19ED-8C80-18B9-0B3A2D1D7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E142072-AFD9-2CA1-279E-095E2404EE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1816763"/>
              </p:ext>
            </p:extLst>
          </p:nvPr>
        </p:nvGraphicFramePr>
        <p:xfrm>
          <a:off x="636785" y="1070043"/>
          <a:ext cx="4042488" cy="2377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97040">
                  <a:extLst>
                    <a:ext uri="{9D8B030D-6E8A-4147-A177-3AD203B41FA5}">
                      <a16:colId xmlns:a16="http://schemas.microsoft.com/office/drawing/2014/main" val="1360728645"/>
                    </a:ext>
                  </a:extLst>
                </a:gridCol>
                <a:gridCol w="1495743">
                  <a:extLst>
                    <a:ext uri="{9D8B030D-6E8A-4147-A177-3AD203B41FA5}">
                      <a16:colId xmlns:a16="http://schemas.microsoft.com/office/drawing/2014/main" val="2423881929"/>
                    </a:ext>
                  </a:extLst>
                </a:gridCol>
                <a:gridCol w="623887">
                  <a:extLst>
                    <a:ext uri="{9D8B030D-6E8A-4147-A177-3AD203B41FA5}">
                      <a16:colId xmlns:a16="http://schemas.microsoft.com/office/drawing/2014/main" val="1852556450"/>
                    </a:ext>
                  </a:extLst>
                </a:gridCol>
                <a:gridCol w="825818">
                  <a:extLst>
                    <a:ext uri="{9D8B030D-6E8A-4147-A177-3AD203B41FA5}">
                      <a16:colId xmlns:a16="http://schemas.microsoft.com/office/drawing/2014/main" val="106965890"/>
                    </a:ext>
                  </a:extLst>
                </a:gridCol>
              </a:tblGrid>
              <a:tr h="134959">
                <a:tc gridSpan="4">
                  <a:txBody>
                    <a:bodyPr/>
                    <a:lstStyle/>
                    <a:p>
                      <a:r>
                        <a:rPr lang="en-US" sz="700" b="1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Register</a:t>
                      </a:r>
                      <a:endParaRPr lang="en-ID" sz="700" b="1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b="1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158135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register No.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32870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GIS Ref. No.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16495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tag no.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2829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Plant code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ID" sz="70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53081491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highlight>
                            <a:srgbClr val="00FFFF"/>
                          </a:highlight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Code Lv. 1</a:t>
                      </a:r>
                      <a:endParaRPr lang="en-ID" sz="700" dirty="0">
                        <a:highlight>
                          <a:srgbClr val="00FFFF"/>
                        </a:highlight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>
                          <a:highlight>
                            <a:srgbClr val="00FFFF"/>
                          </a:highlight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&lt;Asset code</a:t>
                      </a:r>
                      <a:r>
                        <a:rPr lang="en-ID" sz="700" kern="1200" dirty="0">
                          <a:solidFill>
                            <a:schemeClr val="tx1"/>
                          </a:solidFill>
                          <a:highlight>
                            <a:srgbClr val="00FFFF"/>
                          </a:highlight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 Selection&gt;</a:t>
                      </a:r>
                      <a:endParaRPr lang="en-ID" sz="700" dirty="0">
                        <a:highlight>
                          <a:srgbClr val="00FFFF"/>
                        </a:highlight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700" kern="1200" dirty="0">
                          <a:solidFill>
                            <a:schemeClr val="tx1"/>
                          </a:solidFill>
                          <a:highlight>
                            <a:srgbClr val="00FFFF"/>
                          </a:highlight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&lt;Look up Asset Code&gt;</a:t>
                      </a:r>
                      <a:endParaRPr lang="en-ID" sz="700" kern="1200" dirty="0">
                        <a:solidFill>
                          <a:schemeClr val="tx1"/>
                        </a:solidFill>
                        <a:highlight>
                          <a:srgbClr val="00FFFF"/>
                        </a:highlight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5883990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Lv. 1 order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3734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Lv. 1 desc.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9437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highlight>
                            <a:srgbClr val="00FFFF"/>
                          </a:highlight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Code Lv. 2</a:t>
                      </a:r>
                      <a:endParaRPr lang="en-ID" sz="700" dirty="0">
                        <a:highlight>
                          <a:srgbClr val="00FFFF"/>
                        </a:highlight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>
                          <a:highlight>
                            <a:srgbClr val="00FFFF"/>
                          </a:highlight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&lt;Asset code</a:t>
                      </a:r>
                      <a:r>
                        <a:rPr lang="en-ID" sz="700" kern="1200" dirty="0">
                          <a:solidFill>
                            <a:schemeClr val="tx1"/>
                          </a:solidFill>
                          <a:highlight>
                            <a:srgbClr val="00FFFF"/>
                          </a:highlight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 Selection&gt;</a:t>
                      </a:r>
                      <a:endParaRPr lang="en-ID" sz="700" dirty="0">
                        <a:highlight>
                          <a:srgbClr val="00FFFF"/>
                        </a:highlight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700" kern="1200" dirty="0">
                          <a:solidFill>
                            <a:schemeClr val="tx1"/>
                          </a:solidFill>
                          <a:highlight>
                            <a:srgbClr val="00FFFF"/>
                          </a:highlight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&lt;Look up Asset Code&gt;</a:t>
                      </a:r>
                      <a:endParaRPr lang="en-ID" sz="700" kern="1200" dirty="0">
                        <a:solidFill>
                          <a:schemeClr val="tx1"/>
                        </a:solidFill>
                        <a:highlight>
                          <a:srgbClr val="00FFFF"/>
                        </a:highlight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6624068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Lv. 2 order.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ID" sz="70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86298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Lv. 2 desc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ID" sz="70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711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QR Code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ID" sz="70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ID" sz="70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853855238"/>
                  </a:ext>
                </a:extLst>
              </a:tr>
            </a:tbl>
          </a:graphicData>
        </a:graphic>
      </p:graphicFrame>
      <p:sp>
        <p:nvSpPr>
          <p:cNvPr id="5" name="Title 63">
            <a:extLst>
              <a:ext uri="{FF2B5EF4-FFF2-40B4-BE49-F238E27FC236}">
                <a16:creationId xmlns:a16="http://schemas.microsoft.com/office/drawing/2014/main" id="{0C55596D-53DF-0A95-CAA1-413E260C1E07}"/>
              </a:ext>
            </a:extLst>
          </p:cNvPr>
          <p:cNvSpPr txBox="1">
            <a:spLocks/>
          </p:cNvSpPr>
          <p:nvPr/>
        </p:nvSpPr>
        <p:spPr>
          <a:xfrm>
            <a:off x="636785" y="340011"/>
            <a:ext cx="4042488" cy="525752"/>
          </a:xfrm>
          <a:prstGeom prst="rect">
            <a:avLst/>
          </a:prstGeom>
          <a:noFill/>
          <a:ln w="38100">
            <a:noFill/>
          </a:ln>
        </p:spPr>
        <p:txBody>
          <a:bodyPr anchor="t">
            <a:no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200" b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Label	: Asset Code</a:t>
            </a:r>
          </a:p>
          <a:p>
            <a:pPr>
              <a:lnSpc>
                <a:spcPct val="100000"/>
              </a:lnSpc>
            </a:pPr>
            <a:r>
              <a:rPr lang="en-US" sz="1200" b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Feature:	: Drop Down Selection and Look Up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F4816C-B9EE-3DDC-A346-2AC69E500F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239" y="2097225"/>
            <a:ext cx="360000" cy="323076"/>
          </a:xfrm>
          <a:prstGeom prst="ellipse">
            <a:avLst/>
          </a:prstGeom>
          <a:ln w="3175" cap="rnd">
            <a:solidFill>
              <a:srgbClr val="00B050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2" name="Title 63">
            <a:extLst>
              <a:ext uri="{FF2B5EF4-FFF2-40B4-BE49-F238E27FC236}">
                <a16:creationId xmlns:a16="http://schemas.microsoft.com/office/drawing/2014/main" id="{2229F2B3-F4A0-72FE-D97B-DB97F8961B62}"/>
              </a:ext>
            </a:extLst>
          </p:cNvPr>
          <p:cNvSpPr txBox="1">
            <a:spLocks/>
          </p:cNvSpPr>
          <p:nvPr/>
        </p:nvSpPr>
        <p:spPr>
          <a:xfrm>
            <a:off x="636785" y="3651763"/>
            <a:ext cx="4042488" cy="336577"/>
          </a:xfrm>
          <a:prstGeom prst="rect">
            <a:avLst/>
          </a:prstGeom>
          <a:noFill/>
          <a:ln w="38100">
            <a:noFill/>
          </a:ln>
        </p:spPr>
        <p:txBody>
          <a:bodyPr anchor="t">
            <a:no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200" b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Example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9291E4D-AC6C-69FC-7BA5-6C6C73AB97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0801369"/>
              </p:ext>
            </p:extLst>
          </p:nvPr>
        </p:nvGraphicFramePr>
        <p:xfrm>
          <a:off x="636785" y="4140549"/>
          <a:ext cx="4042488" cy="2377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97040">
                  <a:extLst>
                    <a:ext uri="{9D8B030D-6E8A-4147-A177-3AD203B41FA5}">
                      <a16:colId xmlns:a16="http://schemas.microsoft.com/office/drawing/2014/main" val="1360728645"/>
                    </a:ext>
                  </a:extLst>
                </a:gridCol>
                <a:gridCol w="1495743">
                  <a:extLst>
                    <a:ext uri="{9D8B030D-6E8A-4147-A177-3AD203B41FA5}">
                      <a16:colId xmlns:a16="http://schemas.microsoft.com/office/drawing/2014/main" val="2423881929"/>
                    </a:ext>
                  </a:extLst>
                </a:gridCol>
                <a:gridCol w="623887">
                  <a:extLst>
                    <a:ext uri="{9D8B030D-6E8A-4147-A177-3AD203B41FA5}">
                      <a16:colId xmlns:a16="http://schemas.microsoft.com/office/drawing/2014/main" val="1852556450"/>
                    </a:ext>
                  </a:extLst>
                </a:gridCol>
                <a:gridCol w="825818">
                  <a:extLst>
                    <a:ext uri="{9D8B030D-6E8A-4147-A177-3AD203B41FA5}">
                      <a16:colId xmlns:a16="http://schemas.microsoft.com/office/drawing/2014/main" val="106965890"/>
                    </a:ext>
                  </a:extLst>
                </a:gridCol>
              </a:tblGrid>
              <a:tr h="134959">
                <a:tc gridSpan="4">
                  <a:txBody>
                    <a:bodyPr/>
                    <a:lstStyle/>
                    <a:p>
                      <a:r>
                        <a:rPr lang="en-US" sz="700" b="1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Register</a:t>
                      </a:r>
                      <a:endParaRPr lang="en-ID" sz="700" b="1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b="1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158135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register No.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32870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GIS Ref. No.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16495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tag no.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2829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Plant code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ID" sz="70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53081491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highlight>
                            <a:srgbClr val="00FFFF"/>
                          </a:highlight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Code Lv. 1</a:t>
                      </a:r>
                      <a:endParaRPr lang="en-ID" sz="700" dirty="0">
                        <a:highlight>
                          <a:srgbClr val="00FFFF"/>
                        </a:highlight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>
                          <a:highlight>
                            <a:srgbClr val="00FFFF"/>
                          </a:highlight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</a:t>
                      </a:r>
                      <a:endParaRPr lang="en-ID" sz="700" dirty="0">
                        <a:highlight>
                          <a:srgbClr val="00FFFF"/>
                        </a:highlight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700" kern="1200" dirty="0">
                          <a:solidFill>
                            <a:schemeClr val="tx1"/>
                          </a:solidFill>
                          <a:highlight>
                            <a:srgbClr val="00FFFF"/>
                          </a:highlight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Tanks</a:t>
                      </a:r>
                      <a:endParaRPr lang="en-ID" sz="700" kern="1200" dirty="0">
                        <a:solidFill>
                          <a:schemeClr val="tx1"/>
                        </a:solidFill>
                        <a:highlight>
                          <a:srgbClr val="00FFFF"/>
                        </a:highlight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5883990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Lv. 1 order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3734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Lv. 1 desc.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9437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highlight>
                            <a:srgbClr val="00FFFF"/>
                          </a:highlight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Code Lv. 2</a:t>
                      </a:r>
                      <a:endParaRPr lang="en-ID" sz="700" dirty="0">
                        <a:highlight>
                          <a:srgbClr val="00FFFF"/>
                        </a:highlight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700" kern="1200" dirty="0">
                          <a:solidFill>
                            <a:schemeClr val="tx1"/>
                          </a:solidFill>
                          <a:highlight>
                            <a:srgbClr val="00FFFF"/>
                          </a:highlight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Q</a:t>
                      </a:r>
                      <a:endParaRPr lang="en-ID" sz="700" kern="1200" dirty="0">
                        <a:solidFill>
                          <a:schemeClr val="tx1"/>
                        </a:solidFill>
                        <a:highlight>
                          <a:srgbClr val="00FFFF"/>
                        </a:highlight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700" kern="1200" dirty="0">
                          <a:solidFill>
                            <a:schemeClr val="tx1"/>
                          </a:solidFill>
                          <a:highlight>
                            <a:srgbClr val="00FFFF"/>
                          </a:highlight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Foundation</a:t>
                      </a:r>
                      <a:endParaRPr lang="en-ID" sz="700" kern="1200" dirty="0">
                        <a:solidFill>
                          <a:schemeClr val="tx1"/>
                        </a:solidFill>
                        <a:highlight>
                          <a:srgbClr val="00FFFF"/>
                        </a:highlight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6624068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Lv. 2 order.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ID" sz="70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86298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Lv. 2 desc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ID" sz="70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711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QR Code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ID" sz="70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ID" sz="700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853855238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CE6486CF-3E7B-7EC8-F3F0-025DA2962E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0735268"/>
              </p:ext>
            </p:extLst>
          </p:nvPr>
        </p:nvGraphicFramePr>
        <p:xfrm>
          <a:off x="7284462" y="137103"/>
          <a:ext cx="3193616" cy="62347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6058">
                  <a:extLst>
                    <a:ext uri="{9D8B030D-6E8A-4147-A177-3AD203B41FA5}">
                      <a16:colId xmlns:a16="http://schemas.microsoft.com/office/drawing/2014/main" val="3618824520"/>
                    </a:ext>
                  </a:extLst>
                </a:gridCol>
                <a:gridCol w="2517558">
                  <a:extLst>
                    <a:ext uri="{9D8B030D-6E8A-4147-A177-3AD203B41FA5}">
                      <a16:colId xmlns:a16="http://schemas.microsoft.com/office/drawing/2014/main" val="2813338458"/>
                    </a:ext>
                  </a:extLst>
                </a:gridCol>
              </a:tblGrid>
              <a:tr h="7911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Code</a:t>
                      </a:r>
                      <a:endParaRPr lang="en-ID" sz="7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Description</a:t>
                      </a:r>
                      <a:endParaRPr lang="en-ID" sz="7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4657981"/>
                  </a:ext>
                </a:extLst>
              </a:tr>
              <a:tr h="791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General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7355071"/>
                  </a:ext>
                </a:extLst>
              </a:tr>
              <a:tr h="791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B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Process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7533811"/>
                  </a:ext>
                </a:extLst>
              </a:tr>
              <a:tr h="791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Pressure Vessels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8112554"/>
                  </a:ext>
                </a:extLst>
              </a:tr>
              <a:tr h="791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 dirty="0">
                          <a:effectLst/>
                          <a:highlight>
                            <a:srgbClr val="00FFFF"/>
                          </a:highlight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00FFFF"/>
                        </a:highlight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 dirty="0">
                          <a:effectLst/>
                          <a:highlight>
                            <a:srgbClr val="00FFFF"/>
                          </a:highlight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Tanks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00FFFF"/>
                        </a:highlight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7281596"/>
                  </a:ext>
                </a:extLst>
              </a:tr>
              <a:tr h="791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E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Heat Exchangers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6595072"/>
                  </a:ext>
                </a:extLst>
              </a:tr>
              <a:tr h="791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EM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Fan Motor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1252640"/>
                  </a:ext>
                </a:extLst>
              </a:tr>
              <a:tr h="791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Fired Heaters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5125620"/>
                  </a:ext>
                </a:extLst>
              </a:tr>
              <a:tr h="791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FX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Flame ignitor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2846417"/>
                  </a:ext>
                </a:extLst>
              </a:tr>
              <a:tr h="791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G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Pumps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9436495"/>
                  </a:ext>
                </a:extLst>
              </a:tr>
              <a:tr h="791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GA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Air motor driver for Pump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8194302"/>
                  </a:ext>
                </a:extLst>
              </a:tr>
              <a:tr h="791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GE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Diesel Engine for Pump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023692"/>
                  </a:ext>
                </a:extLst>
              </a:tr>
              <a:tr h="791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GM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Electric Motor Driver for Pump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4471674"/>
                  </a:ext>
                </a:extLst>
              </a:tr>
              <a:tr h="791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GT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Gas turbine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5085602"/>
                  </a:ext>
                </a:extLst>
              </a:tr>
              <a:tr h="791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H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Vacuum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7234651"/>
                  </a:ext>
                </a:extLst>
              </a:tr>
              <a:tr h="791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J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Instruments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9193773"/>
                  </a:ext>
                </a:extLst>
              </a:tr>
              <a:tr h="791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KE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Diesel Engine Driver for Compressor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7992495"/>
                  </a:ext>
                </a:extLst>
              </a:tr>
              <a:tr h="791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KG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Gear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99884"/>
                  </a:ext>
                </a:extLst>
              </a:tr>
              <a:tr h="791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KM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Electric Motor for Compressor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8161372"/>
                  </a:ext>
                </a:extLst>
              </a:tr>
              <a:tr h="791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KT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Gas Turbine Driver for Compressor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3181042"/>
                  </a:ext>
                </a:extLst>
              </a:tr>
              <a:tr h="791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KTM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Turning motor for compressor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4111118"/>
                  </a:ext>
                </a:extLst>
              </a:tr>
              <a:tr h="791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KX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Clutch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2264412"/>
                  </a:ext>
                </a:extLst>
              </a:tr>
              <a:tr h="791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L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Piping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241628"/>
                  </a:ext>
                </a:extLst>
              </a:tr>
              <a:tr h="791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LM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Motor for Valves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502433"/>
                  </a:ext>
                </a:extLst>
              </a:tr>
              <a:tr h="791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M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Structrue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2469626"/>
                  </a:ext>
                </a:extLst>
              </a:tr>
              <a:tr h="791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N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Insulation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6905185"/>
                  </a:ext>
                </a:extLst>
              </a:tr>
              <a:tr h="791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Electrical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5112178"/>
                  </a:ext>
                </a:extLst>
              </a:tr>
              <a:tr h="791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PD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Battreies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2580362"/>
                  </a:ext>
                </a:extLst>
              </a:tr>
              <a:tr h="791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PE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Diesel Engine Driver for Turbine generator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1730409"/>
                  </a:ext>
                </a:extLst>
              </a:tr>
              <a:tr h="791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PG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Steam and Gas Turbine Generators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290696"/>
                  </a:ext>
                </a:extLst>
              </a:tr>
              <a:tr h="791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PGR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Ground System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5778190"/>
                  </a:ext>
                </a:extLst>
              </a:tr>
              <a:tr h="791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PH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Electric Heater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9155366"/>
                  </a:ext>
                </a:extLst>
              </a:tr>
              <a:tr h="791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PM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Motor control center for switchgear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4738026"/>
                  </a:ext>
                </a:extLst>
              </a:tr>
              <a:tr h="791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PS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Switchgear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9310915"/>
                  </a:ext>
                </a:extLst>
              </a:tr>
              <a:tr h="791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PSW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Primary Switch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294915"/>
                  </a:ext>
                </a:extLst>
              </a:tr>
              <a:tr h="791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PT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Transformer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2009050"/>
                  </a:ext>
                </a:extLst>
              </a:tr>
              <a:tr h="791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PU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UPS Units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1448939"/>
                  </a:ext>
                </a:extLst>
              </a:tr>
              <a:tr h="791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PUT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UPS Transformer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086675"/>
                  </a:ext>
                </a:extLst>
              </a:tr>
              <a:tr h="791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PY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Battery Charger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6687439"/>
                  </a:ext>
                </a:extLst>
              </a:tr>
              <a:tr h="791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00FFFF"/>
                          </a:highlight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Q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00FFFF"/>
                        </a:highlight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00FFFF"/>
                          </a:highlight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Foundation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00FFFF"/>
                        </a:highlight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4206543"/>
                  </a:ext>
                </a:extLst>
              </a:tr>
              <a:tr h="791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R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Buildings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6108127"/>
                  </a:ext>
                </a:extLst>
              </a:tr>
              <a:tr h="791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S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Site Improvement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6691230"/>
                  </a:ext>
                </a:extLst>
              </a:tr>
              <a:tr h="791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T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Material Handling Equipment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5151409"/>
                  </a:ext>
                </a:extLst>
              </a:tr>
              <a:tr h="791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TM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Electric Motor for material handling equipment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7565609"/>
                  </a:ext>
                </a:extLst>
              </a:tr>
              <a:tr h="791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TX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Bearing for material handling equipment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0510223"/>
                  </a:ext>
                </a:extLst>
              </a:tr>
              <a:tr h="791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U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Expandables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1238889"/>
                  </a:ext>
                </a:extLst>
              </a:tr>
              <a:tr h="791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V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Package Units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0572820"/>
                  </a:ext>
                </a:extLst>
              </a:tr>
              <a:tr h="791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VG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Pump for package unit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7960189"/>
                  </a:ext>
                </a:extLst>
              </a:tr>
              <a:tr h="791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VO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Valve Operators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9394192"/>
                  </a:ext>
                </a:extLst>
              </a:tr>
              <a:tr h="791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VM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Electric Motor for Package Units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0388582"/>
                  </a:ext>
                </a:extLst>
              </a:tr>
              <a:tr h="791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W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Welding and Metal Processing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2047519"/>
                  </a:ext>
                </a:extLst>
              </a:tr>
              <a:tr h="791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X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Painting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9996343"/>
                  </a:ext>
                </a:extLst>
              </a:tr>
              <a:tr h="791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Y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Processing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4931332"/>
                  </a:ext>
                </a:extLst>
              </a:tr>
              <a:tr h="791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YM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Electric Motor for Processing Equipment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01587"/>
                  </a:ext>
                </a:extLst>
              </a:tr>
              <a:tr h="791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YX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Cylinder positioner driver for starting air system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061482"/>
                  </a:ext>
                </a:extLst>
              </a:tr>
              <a:tr h="791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Z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Water treating equipment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3807394"/>
                  </a:ext>
                </a:extLst>
              </a:tr>
            </a:tbl>
          </a:graphicData>
        </a:graphic>
      </p:graphicFrame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D5BD9702-FEF4-2C7E-2481-C098EF3E8FF0}"/>
              </a:ext>
            </a:extLst>
          </p:cNvPr>
          <p:cNvCxnSpPr>
            <a:cxnSpLocks/>
          </p:cNvCxnSpPr>
          <p:nvPr/>
        </p:nvCxnSpPr>
        <p:spPr>
          <a:xfrm rot="5400000">
            <a:off x="3147609" y="2304543"/>
            <a:ext cx="4586790" cy="1232170"/>
          </a:xfrm>
          <a:prstGeom prst="bentConnector3">
            <a:avLst>
              <a:gd name="adj1" fmla="val 100038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4F32876-C3FA-D812-7537-73AFF98E6F3F}"/>
              </a:ext>
            </a:extLst>
          </p:cNvPr>
          <p:cNvCxnSpPr/>
          <p:nvPr/>
        </p:nvCxnSpPr>
        <p:spPr>
          <a:xfrm>
            <a:off x="6057089" y="627233"/>
            <a:ext cx="111219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77E21DBC-9ECE-3E3B-CFE0-58F7DFC31106}"/>
              </a:ext>
            </a:extLst>
          </p:cNvPr>
          <p:cNvCxnSpPr>
            <a:cxnSpLocks/>
          </p:cNvCxnSpPr>
          <p:nvPr/>
        </p:nvCxnSpPr>
        <p:spPr>
          <a:xfrm rot="10800000" flipV="1">
            <a:off x="4794451" y="4590287"/>
            <a:ext cx="2374835" cy="1205903"/>
          </a:xfrm>
          <a:prstGeom prst="bentConnector3">
            <a:avLst>
              <a:gd name="adj1" fmla="val 26128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7955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30FE2F7-127F-587E-8B40-7EC839331F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467525"/>
              </p:ext>
            </p:extLst>
          </p:nvPr>
        </p:nvGraphicFramePr>
        <p:xfrm>
          <a:off x="3411941" y="1453258"/>
          <a:ext cx="2292745" cy="15237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97040">
                  <a:extLst>
                    <a:ext uri="{9D8B030D-6E8A-4147-A177-3AD203B41FA5}">
                      <a16:colId xmlns:a16="http://schemas.microsoft.com/office/drawing/2014/main" val="1360728645"/>
                    </a:ext>
                  </a:extLst>
                </a:gridCol>
                <a:gridCol w="1195705">
                  <a:extLst>
                    <a:ext uri="{9D8B030D-6E8A-4147-A177-3AD203B41FA5}">
                      <a16:colId xmlns:a16="http://schemas.microsoft.com/office/drawing/2014/main" val="2423881929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700" b="1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Attribute</a:t>
                      </a:r>
                      <a:endParaRPr lang="en-ID" sz="700" b="1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1104965"/>
                  </a:ext>
                </a:extLst>
              </a:tr>
              <a:tr h="220938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Function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Equipment foundation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0240442"/>
                  </a:ext>
                </a:extLst>
              </a:tr>
              <a:tr h="220938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Material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Reinforced concrete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1885395"/>
                  </a:ext>
                </a:extLst>
              </a:tr>
              <a:tr h="220938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Year Installed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1970 (age: 56 year)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7608198"/>
                  </a:ext>
                </a:extLst>
              </a:tr>
              <a:tr h="220938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Owner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PT. </a:t>
                      </a:r>
                      <a:r>
                        <a:rPr lang="en-US" sz="700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Badak</a:t>
                      </a:r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NGL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3561346"/>
                  </a:ext>
                </a:extLst>
              </a:tr>
              <a:tr h="220938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Constrain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N/A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4299433"/>
                  </a:ext>
                </a:extLst>
              </a:tr>
              <a:tr h="220938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Access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Road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887778"/>
                  </a:ext>
                </a:extLst>
              </a:tr>
            </a:tbl>
          </a:graphicData>
        </a:graphic>
      </p:graphicFrame>
      <p:sp>
        <p:nvSpPr>
          <p:cNvPr id="5" name="Title 63">
            <a:extLst>
              <a:ext uri="{FF2B5EF4-FFF2-40B4-BE49-F238E27FC236}">
                <a16:creationId xmlns:a16="http://schemas.microsoft.com/office/drawing/2014/main" id="{E5F91096-29D7-53C0-6233-60602D5D66CC}"/>
              </a:ext>
            </a:extLst>
          </p:cNvPr>
          <p:cNvSpPr txBox="1">
            <a:spLocks/>
          </p:cNvSpPr>
          <p:nvPr/>
        </p:nvSpPr>
        <p:spPr>
          <a:xfrm>
            <a:off x="636785" y="340011"/>
            <a:ext cx="4042488" cy="525752"/>
          </a:xfrm>
          <a:prstGeom prst="rect">
            <a:avLst/>
          </a:prstGeom>
          <a:noFill/>
          <a:ln w="38100">
            <a:noFill/>
          </a:ln>
        </p:spPr>
        <p:txBody>
          <a:bodyPr anchor="t">
            <a:no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200" b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Label	: Installed year</a:t>
            </a:r>
          </a:p>
          <a:p>
            <a:pPr>
              <a:lnSpc>
                <a:spcPct val="100000"/>
              </a:lnSpc>
            </a:pPr>
            <a:r>
              <a:rPr lang="en-US" sz="1200" b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Feature:	: Drop Down Selection and Look Up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5837015-1CE8-107E-11F9-790069B5E6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1396135"/>
              </p:ext>
            </p:extLst>
          </p:nvPr>
        </p:nvGraphicFramePr>
        <p:xfrm>
          <a:off x="786728" y="1453258"/>
          <a:ext cx="2300601" cy="15237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97040">
                  <a:extLst>
                    <a:ext uri="{9D8B030D-6E8A-4147-A177-3AD203B41FA5}">
                      <a16:colId xmlns:a16="http://schemas.microsoft.com/office/drawing/2014/main" val="1360728645"/>
                    </a:ext>
                  </a:extLst>
                </a:gridCol>
                <a:gridCol w="1203561">
                  <a:extLst>
                    <a:ext uri="{9D8B030D-6E8A-4147-A177-3AD203B41FA5}">
                      <a16:colId xmlns:a16="http://schemas.microsoft.com/office/drawing/2014/main" val="2423881929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700" b="1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Attribute</a:t>
                      </a:r>
                      <a:endParaRPr lang="en-ID" sz="700" b="1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 sz="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1104965"/>
                  </a:ext>
                </a:extLst>
              </a:tr>
              <a:tr h="220938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Function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&lt;Function selection&gt;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0240442"/>
                  </a:ext>
                </a:extLst>
              </a:tr>
              <a:tr h="220938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Material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&lt;Material selection&gt;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1885395"/>
                  </a:ext>
                </a:extLst>
              </a:tr>
              <a:tr h="220938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Year Installed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&lt;Number&gt;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7608198"/>
                  </a:ext>
                </a:extLst>
              </a:tr>
              <a:tr h="220938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Owner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&lt;Text&gt;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3561346"/>
                  </a:ext>
                </a:extLst>
              </a:tr>
              <a:tr h="220938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Constrain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&lt;Text&gt;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4299433"/>
                  </a:ext>
                </a:extLst>
              </a:tr>
              <a:tr h="220938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Access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&lt;Access selection&gt;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887778"/>
                  </a:ext>
                </a:extLst>
              </a:tr>
            </a:tbl>
          </a:graphicData>
        </a:graphic>
      </p:graphicFrame>
      <p:sp>
        <p:nvSpPr>
          <p:cNvPr id="8" name="Oval 7">
            <a:extLst>
              <a:ext uri="{FF2B5EF4-FFF2-40B4-BE49-F238E27FC236}">
                <a16:creationId xmlns:a16="http://schemas.microsoft.com/office/drawing/2014/main" id="{2B016344-DFF7-7938-706B-0EDACE9022C0}"/>
              </a:ext>
            </a:extLst>
          </p:cNvPr>
          <p:cNvSpPr/>
          <p:nvPr/>
        </p:nvSpPr>
        <p:spPr>
          <a:xfrm>
            <a:off x="4827639" y="2025445"/>
            <a:ext cx="766916" cy="363794"/>
          </a:xfrm>
          <a:prstGeom prst="ellipse">
            <a:avLst/>
          </a:prstGeom>
          <a:solidFill>
            <a:srgbClr val="FFEF94">
              <a:alpha val="50000"/>
            </a:srgbClr>
          </a:solidFill>
          <a:ln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0" name="Title 63">
            <a:extLst>
              <a:ext uri="{FF2B5EF4-FFF2-40B4-BE49-F238E27FC236}">
                <a16:creationId xmlns:a16="http://schemas.microsoft.com/office/drawing/2014/main" id="{024C344B-51BA-B92D-589D-BB86730B46BE}"/>
              </a:ext>
            </a:extLst>
          </p:cNvPr>
          <p:cNvSpPr txBox="1">
            <a:spLocks/>
          </p:cNvSpPr>
          <p:nvPr/>
        </p:nvSpPr>
        <p:spPr>
          <a:xfrm>
            <a:off x="6487316" y="2057539"/>
            <a:ext cx="4042488" cy="525752"/>
          </a:xfrm>
          <a:prstGeom prst="rect">
            <a:avLst/>
          </a:prstGeom>
          <a:noFill/>
          <a:ln w="38100">
            <a:noFill/>
          </a:ln>
        </p:spPr>
        <p:txBody>
          <a:bodyPr anchor="t">
            <a:no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000" b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Age: Current date/year - Installed year 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8654869-F5AA-BE99-07FD-881675F26446}"/>
              </a:ext>
            </a:extLst>
          </p:cNvPr>
          <p:cNvCxnSpPr/>
          <p:nvPr/>
        </p:nvCxnSpPr>
        <p:spPr>
          <a:xfrm>
            <a:off x="5869858" y="2207342"/>
            <a:ext cx="501445" cy="77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3112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A840C-5FC0-1680-B863-7452312A7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itle 63">
            <a:extLst>
              <a:ext uri="{FF2B5EF4-FFF2-40B4-BE49-F238E27FC236}">
                <a16:creationId xmlns:a16="http://schemas.microsoft.com/office/drawing/2014/main" id="{02AB26C8-0A68-6095-1633-494C8D114246}"/>
              </a:ext>
            </a:extLst>
          </p:cNvPr>
          <p:cNvSpPr txBox="1">
            <a:spLocks/>
          </p:cNvSpPr>
          <p:nvPr/>
        </p:nvSpPr>
        <p:spPr>
          <a:xfrm>
            <a:off x="0" y="1462924"/>
            <a:ext cx="2152665" cy="5395076"/>
          </a:xfrm>
          <a:prstGeom prst="rect">
            <a:avLst/>
          </a:prstGeom>
          <a:noFill/>
          <a:ln w="19050">
            <a:solidFill>
              <a:srgbClr val="2D6A87"/>
            </a:solidFill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endParaRPr lang="en-US" sz="1000" b="0" dirty="0">
              <a:solidFill>
                <a:schemeClr val="tx2"/>
              </a:solidFill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2" name="Title 63">
            <a:extLst>
              <a:ext uri="{FF2B5EF4-FFF2-40B4-BE49-F238E27FC236}">
                <a16:creationId xmlns:a16="http://schemas.microsoft.com/office/drawing/2014/main" id="{EAD7E37F-DB8F-FACC-5798-9B6C8C098C0C}"/>
              </a:ext>
            </a:extLst>
          </p:cNvPr>
          <p:cNvSpPr txBox="1">
            <a:spLocks/>
          </p:cNvSpPr>
          <p:nvPr/>
        </p:nvSpPr>
        <p:spPr>
          <a:xfrm>
            <a:off x="-1" y="10690"/>
            <a:ext cx="12192001" cy="900000"/>
          </a:xfrm>
          <a:prstGeom prst="rect">
            <a:avLst/>
          </a:prstGeom>
          <a:solidFill>
            <a:schemeClr val="tx2"/>
          </a:solidFill>
          <a:ln w="3810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2D6A87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Structural Integrity Management System (SIMS)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8E57CE-BEC1-BD43-6A1C-F339D64E5EC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2836" r="22678"/>
          <a:stretch>
            <a:fillRect/>
          </a:stretch>
        </p:blipFill>
        <p:spPr>
          <a:xfrm>
            <a:off x="174883" y="103675"/>
            <a:ext cx="691633" cy="714030"/>
          </a:xfrm>
          <a:prstGeom prst="rect">
            <a:avLst/>
          </a:prstGeom>
        </p:spPr>
      </p:pic>
      <p:sp>
        <p:nvSpPr>
          <p:cNvPr id="25" name="Title 63">
            <a:extLst>
              <a:ext uri="{FF2B5EF4-FFF2-40B4-BE49-F238E27FC236}">
                <a16:creationId xmlns:a16="http://schemas.microsoft.com/office/drawing/2014/main" id="{0DDC8847-B2D0-4672-9227-3DAEFDEE78F7}"/>
              </a:ext>
            </a:extLst>
          </p:cNvPr>
          <p:cNvSpPr txBox="1">
            <a:spLocks/>
          </p:cNvSpPr>
          <p:nvPr/>
        </p:nvSpPr>
        <p:spPr>
          <a:xfrm>
            <a:off x="0" y="1449533"/>
            <a:ext cx="2160000" cy="360000"/>
          </a:xfrm>
          <a:prstGeom prst="rect">
            <a:avLst/>
          </a:prstGeom>
          <a:solidFill>
            <a:srgbClr val="2D6A87"/>
          </a:solidFill>
          <a:ln w="3810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000" b="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Asset Tree </a:t>
            </a:r>
          </a:p>
        </p:txBody>
      </p:sp>
      <p:sp>
        <p:nvSpPr>
          <p:cNvPr id="31" name="Title 63">
            <a:extLst>
              <a:ext uri="{FF2B5EF4-FFF2-40B4-BE49-F238E27FC236}">
                <a16:creationId xmlns:a16="http://schemas.microsoft.com/office/drawing/2014/main" id="{503DB7DA-4068-CF4D-A251-818FB53EB968}"/>
              </a:ext>
            </a:extLst>
          </p:cNvPr>
          <p:cNvSpPr txBox="1">
            <a:spLocks/>
          </p:cNvSpPr>
          <p:nvPr/>
        </p:nvSpPr>
        <p:spPr>
          <a:xfrm>
            <a:off x="0" y="1809532"/>
            <a:ext cx="2160000" cy="5037778"/>
          </a:xfrm>
          <a:prstGeom prst="rect">
            <a:avLst/>
          </a:prstGeom>
          <a:noFill/>
          <a:ln w="38100">
            <a:noFill/>
          </a:ln>
        </p:spPr>
        <p:txBody>
          <a:bodyPr anchor="t">
            <a:no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 Gas Purification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&gt;</a:t>
            </a: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Plant 2 Dehydration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&gt;</a:t>
            </a: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Plant 3 Fractionation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4 Refrigeration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5 Liquefaction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6 Condensate Stripping ...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15 LPG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16 Condensate Stabilize ... 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17 LPG Storage and Loa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highlight>
                  <a:srgbClr val="6E98A7"/>
                </a:highlight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17D-1/Q-1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17D-2/Q-1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17D-3/Q-1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17D-4/Q-1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17D-5/Q-1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+ add asset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19 Relief &amp; Blowdown S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20 Condensate Storage ...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20D-4/Q-1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     20D-5/Q-1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     20D-6/Q-1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+ add asset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21 Feed Gas Knockout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22 Marine Structures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24 LNG Storage and Loa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25 Fueling Facility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26 LPG Filling Station … &gt;Propane and Butane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27 Oxygen Plant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28 Acetylene Plant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29 Nitrogen Generation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30 Electrical </a:t>
            </a:r>
            <a:r>
              <a:rPr lang="en-US" sz="8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Distributio</a:t>
            </a: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31 Steam &amp; Power Gen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32 Seawater Cooling 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33 Fire Protection System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34 Liquid Waste System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35 Compressed Air System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36 Water Treatment Sy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37 Communication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+ add Plant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EDBA195-A5AA-2DD3-C0BA-AB46B388AB78}"/>
              </a:ext>
            </a:extLst>
          </p:cNvPr>
          <p:cNvGrpSpPr/>
          <p:nvPr/>
        </p:nvGrpSpPr>
        <p:grpSpPr>
          <a:xfrm>
            <a:off x="216151" y="3948414"/>
            <a:ext cx="73594" cy="324419"/>
            <a:chOff x="216151" y="3221023"/>
            <a:chExt cx="73594" cy="324419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34FDF1FA-64D5-5522-9B81-D8DC95CC01F7}"/>
                </a:ext>
              </a:extLst>
            </p:cNvPr>
            <p:cNvSpPr/>
            <p:nvPr/>
          </p:nvSpPr>
          <p:spPr>
            <a:xfrm>
              <a:off x="217745" y="3346913"/>
              <a:ext cx="72000" cy="72000"/>
            </a:xfrm>
            <a:prstGeom prst="rect">
              <a:avLst/>
            </a:prstGeom>
            <a:solidFill>
              <a:schemeClr val="bg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493A9C13-6391-3DEC-BBF1-7FAD0F810E87}"/>
                </a:ext>
              </a:extLst>
            </p:cNvPr>
            <p:cNvSpPr/>
            <p:nvPr/>
          </p:nvSpPr>
          <p:spPr>
            <a:xfrm>
              <a:off x="217745" y="3473442"/>
              <a:ext cx="72000" cy="72000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6091D6D3-1433-358D-EC73-E5A5CDBDB246}"/>
                </a:ext>
              </a:extLst>
            </p:cNvPr>
            <p:cNvSpPr/>
            <p:nvPr/>
          </p:nvSpPr>
          <p:spPr>
            <a:xfrm>
              <a:off x="216151" y="3221023"/>
              <a:ext cx="72000" cy="720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sp>
        <p:nvSpPr>
          <p:cNvPr id="7" name="Title 63">
            <a:extLst>
              <a:ext uri="{FF2B5EF4-FFF2-40B4-BE49-F238E27FC236}">
                <a16:creationId xmlns:a16="http://schemas.microsoft.com/office/drawing/2014/main" id="{C91B9A0E-AA45-2F79-3554-615B9C97729E}"/>
              </a:ext>
            </a:extLst>
          </p:cNvPr>
          <p:cNvSpPr txBox="1">
            <a:spLocks/>
          </p:cNvSpPr>
          <p:nvPr/>
        </p:nvSpPr>
        <p:spPr>
          <a:xfrm>
            <a:off x="2176858" y="1449533"/>
            <a:ext cx="1800000" cy="360000"/>
          </a:xfrm>
          <a:prstGeom prst="rect">
            <a:avLst/>
          </a:prstGeom>
          <a:solidFill>
            <a:srgbClr val="2D6A87"/>
          </a:solidFill>
          <a:ln w="3810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1000" b="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17D-1/Q-1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A96F1BAB-CE51-D5B4-1901-C79B1461F38C}"/>
              </a:ext>
            </a:extLst>
          </p:cNvPr>
          <p:cNvGrpSpPr/>
          <p:nvPr/>
        </p:nvGrpSpPr>
        <p:grpSpPr>
          <a:xfrm>
            <a:off x="214557" y="2975994"/>
            <a:ext cx="73594" cy="324419"/>
            <a:chOff x="216151" y="3221023"/>
            <a:chExt cx="73594" cy="324419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05AF6398-B40A-2A40-03E2-342BBB5F1D95}"/>
                </a:ext>
              </a:extLst>
            </p:cNvPr>
            <p:cNvSpPr/>
            <p:nvPr/>
          </p:nvSpPr>
          <p:spPr>
            <a:xfrm>
              <a:off x="217745" y="3346913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90373261-9B39-071F-B595-9D69630EE245}"/>
                </a:ext>
              </a:extLst>
            </p:cNvPr>
            <p:cNvSpPr/>
            <p:nvPr/>
          </p:nvSpPr>
          <p:spPr>
            <a:xfrm>
              <a:off x="217745" y="3473442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3766D8CD-942A-6E4C-5567-B4121BCB259A}"/>
                </a:ext>
              </a:extLst>
            </p:cNvPr>
            <p:cNvSpPr/>
            <p:nvPr/>
          </p:nvSpPr>
          <p:spPr>
            <a:xfrm>
              <a:off x="216151" y="3221023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EB562FAB-5A86-B83B-30B7-2D80F6D2A6A5}"/>
              </a:ext>
            </a:extLst>
          </p:cNvPr>
          <p:cNvGrpSpPr/>
          <p:nvPr/>
        </p:nvGrpSpPr>
        <p:grpSpPr>
          <a:xfrm>
            <a:off x="214557" y="3346544"/>
            <a:ext cx="73594" cy="197890"/>
            <a:chOff x="216151" y="3221023"/>
            <a:chExt cx="73594" cy="197890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912DA351-2553-21F2-8CAA-657FF53074A3}"/>
                </a:ext>
              </a:extLst>
            </p:cNvPr>
            <p:cNvSpPr/>
            <p:nvPr/>
          </p:nvSpPr>
          <p:spPr>
            <a:xfrm>
              <a:off x="217745" y="3346913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4E543D60-08C3-5E61-71E6-1DDA17F0C84F}"/>
                </a:ext>
              </a:extLst>
            </p:cNvPr>
            <p:cNvSpPr/>
            <p:nvPr/>
          </p:nvSpPr>
          <p:spPr>
            <a:xfrm>
              <a:off x="216151" y="3221023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sp>
        <p:nvSpPr>
          <p:cNvPr id="8" name="Title 63">
            <a:extLst>
              <a:ext uri="{FF2B5EF4-FFF2-40B4-BE49-F238E27FC236}">
                <a16:creationId xmlns:a16="http://schemas.microsoft.com/office/drawing/2014/main" id="{87658941-7FD0-256F-8EDA-16FA6A1BC2D5}"/>
              </a:ext>
            </a:extLst>
          </p:cNvPr>
          <p:cNvSpPr txBox="1">
            <a:spLocks/>
          </p:cNvSpPr>
          <p:nvPr/>
        </p:nvSpPr>
        <p:spPr>
          <a:xfrm>
            <a:off x="3993716" y="1449316"/>
            <a:ext cx="8210283" cy="360000"/>
          </a:xfrm>
          <a:prstGeom prst="rect">
            <a:avLst/>
          </a:prstGeom>
          <a:solidFill>
            <a:srgbClr val="2D6A87"/>
          </a:solidFill>
          <a:ln w="3810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000" b="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Asset Register | </a:t>
            </a:r>
            <a:r>
              <a:rPr lang="en-US" sz="1000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Condition (GVI) </a:t>
            </a:r>
            <a:r>
              <a:rPr lang="en-US" sz="1000" b="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| Inspection | Risk Based Inspection | Technical Document | Documentation | Name Plate</a:t>
            </a: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2D6C8831-5ED9-F90D-D6B3-9D5512D9B1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4838282"/>
              </p:ext>
            </p:extLst>
          </p:nvPr>
        </p:nvGraphicFramePr>
        <p:xfrm>
          <a:off x="2389386" y="1912916"/>
          <a:ext cx="8681778" cy="484247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97040">
                  <a:extLst>
                    <a:ext uri="{9D8B030D-6E8A-4147-A177-3AD203B41FA5}">
                      <a16:colId xmlns:a16="http://schemas.microsoft.com/office/drawing/2014/main" val="1360728645"/>
                    </a:ext>
                  </a:extLst>
                </a:gridCol>
                <a:gridCol w="7584738">
                  <a:extLst>
                    <a:ext uri="{9D8B030D-6E8A-4147-A177-3AD203B41FA5}">
                      <a16:colId xmlns:a16="http://schemas.microsoft.com/office/drawing/2014/main" val="2423881929"/>
                    </a:ext>
                  </a:extLst>
                </a:gridCol>
              </a:tblGrid>
              <a:tr h="193446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Date of Inspection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15/Aug/2026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3287019"/>
                  </a:ext>
                </a:extLst>
              </a:tr>
              <a:tr h="193446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Inspector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James Bond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1649554"/>
                  </a:ext>
                </a:extLst>
              </a:tr>
              <a:tr h="193446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Condition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Good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0242237"/>
                  </a:ext>
                </a:extLst>
              </a:tr>
              <a:tr h="297609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Comment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Structure is in good condition</a:t>
                      </a:r>
                    </a:p>
                    <a:p>
                      <a:r>
                        <a:rPr lang="en-ID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Minor coating degradation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1250460"/>
                  </a:ext>
                </a:extLst>
              </a:tr>
              <a:tr h="3943314">
                <a:tc gridSpan="2"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Preview</a:t>
                      </a:r>
                    </a:p>
                    <a:p>
                      <a:endParaRPr lang="en-US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  <a:p>
                      <a:endParaRPr lang="en-US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  <a:p>
                      <a:endParaRPr lang="en-US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  <a:p>
                      <a:endParaRPr lang="en-US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  <a:p>
                      <a:endParaRPr lang="en-US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  <a:p>
                      <a:endParaRPr lang="en-US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  <a:p>
                      <a:endParaRPr lang="en-US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  <a:p>
                      <a:endParaRPr lang="en-US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  <a:p>
                      <a:endParaRPr lang="en-US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  <a:p>
                      <a:endParaRPr lang="en-US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  <a:p>
                      <a:endParaRPr lang="en-US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  <a:p>
                      <a:endParaRPr lang="en-US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  <a:p>
                      <a:endParaRPr lang="en-US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  <a:p>
                      <a:endParaRPr lang="en-US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  <a:p>
                      <a:endParaRPr lang="en-US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  <a:p>
                      <a:endParaRPr lang="en-US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  <a:p>
                      <a:endParaRPr lang="en-US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  <a:p>
                      <a:endParaRPr lang="en-US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  <a:p>
                      <a:endParaRPr lang="en-US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  <a:p>
                      <a:endParaRPr lang="en-US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  <a:p>
                      <a:endParaRPr lang="en-US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  <a:p>
                      <a:endParaRPr lang="en-US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  <a:p>
                      <a:endParaRPr lang="en-US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  <a:p>
                      <a:endParaRPr lang="en-US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  <a:p>
                      <a:endParaRPr lang="en-US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  <a:p>
                      <a:endParaRPr lang="en-US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  <a:p>
                      <a:endParaRPr lang="en-US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  <a:p>
                      <a:endParaRPr lang="en-US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  <a:p>
                      <a:endParaRPr lang="en-US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  <a:p>
                      <a:endParaRPr lang="en-US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  <a:p>
                      <a:endParaRPr lang="en-US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  <a:p>
                      <a:endParaRPr lang="en-US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  <a:p>
                      <a:endParaRPr lang="en-US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  <a:p>
                      <a:endParaRPr lang="en-US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9245464"/>
                  </a:ext>
                </a:extLst>
              </a:tr>
            </a:tbl>
          </a:graphicData>
        </a:graphic>
      </p:graphicFrame>
      <p:sp>
        <p:nvSpPr>
          <p:cNvPr id="33" name="Title 63">
            <a:extLst>
              <a:ext uri="{FF2B5EF4-FFF2-40B4-BE49-F238E27FC236}">
                <a16:creationId xmlns:a16="http://schemas.microsoft.com/office/drawing/2014/main" id="{83BC198B-BCB8-B9C8-0429-617A2B08AD6B}"/>
              </a:ext>
            </a:extLst>
          </p:cNvPr>
          <p:cNvSpPr txBox="1">
            <a:spLocks/>
          </p:cNvSpPr>
          <p:nvPr/>
        </p:nvSpPr>
        <p:spPr>
          <a:xfrm>
            <a:off x="11300550" y="1912916"/>
            <a:ext cx="720000" cy="360000"/>
          </a:xfrm>
          <a:prstGeom prst="rect">
            <a:avLst/>
          </a:prstGeom>
          <a:solidFill>
            <a:srgbClr val="2D6A87"/>
          </a:solidFill>
          <a:ln w="3810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800" b="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Edit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F21B42D1-63D1-A7EC-D79C-4372C89BA3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6095999" y="1699578"/>
            <a:ext cx="360000" cy="323076"/>
          </a:xfrm>
          <a:prstGeom prst="ellipse">
            <a:avLst/>
          </a:prstGeom>
          <a:ln w="3175" cap="rnd">
            <a:solidFill>
              <a:srgbClr val="00B050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F704767-0139-6AAB-E628-C309A9BC7F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7099" y="2975994"/>
            <a:ext cx="5257800" cy="34480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8B38374-C9BF-D3E3-80E5-FD0A9CBBC457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161431" y="4556019"/>
            <a:ext cx="367317" cy="360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FD6A960-16CF-D778-7ED1-B4527A394BA3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 flipH="1">
            <a:off x="9383250" y="4556019"/>
            <a:ext cx="367317" cy="360000"/>
          </a:xfrm>
          <a:prstGeom prst="rect">
            <a:avLst/>
          </a:prstGeom>
        </p:spPr>
      </p:pic>
      <p:sp>
        <p:nvSpPr>
          <p:cNvPr id="16" name="Title 63">
            <a:extLst>
              <a:ext uri="{FF2B5EF4-FFF2-40B4-BE49-F238E27FC236}">
                <a16:creationId xmlns:a16="http://schemas.microsoft.com/office/drawing/2014/main" id="{04E867B0-D659-32E1-068B-B29BDD5C12FF}"/>
              </a:ext>
            </a:extLst>
          </p:cNvPr>
          <p:cNvSpPr txBox="1">
            <a:spLocks/>
          </p:cNvSpPr>
          <p:nvPr/>
        </p:nvSpPr>
        <p:spPr>
          <a:xfrm>
            <a:off x="5447300" y="6464586"/>
            <a:ext cx="2160000" cy="250262"/>
          </a:xfrm>
          <a:prstGeom prst="rect">
            <a:avLst/>
          </a:prstGeom>
          <a:noFill/>
          <a:ln w="38100">
            <a:noFill/>
          </a:ln>
        </p:spPr>
        <p:txBody>
          <a:bodyPr anchor="t">
            <a:no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700" b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3 o/c Position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3BD387B-AFFB-484A-5684-4C38DC689B93}"/>
              </a:ext>
            </a:extLst>
          </p:cNvPr>
          <p:cNvGrpSpPr/>
          <p:nvPr/>
        </p:nvGrpSpPr>
        <p:grpSpPr>
          <a:xfrm>
            <a:off x="0" y="932141"/>
            <a:ext cx="12204000" cy="363949"/>
            <a:chOff x="0" y="932141"/>
            <a:chExt cx="12204000" cy="363949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24ABD67-CB3E-1C7D-20E4-6AD31E01519A}"/>
                </a:ext>
              </a:extLst>
            </p:cNvPr>
            <p:cNvGrpSpPr/>
            <p:nvPr/>
          </p:nvGrpSpPr>
          <p:grpSpPr>
            <a:xfrm>
              <a:off x="0" y="934984"/>
              <a:ext cx="12204000" cy="361106"/>
              <a:chOff x="0" y="934984"/>
              <a:chExt cx="12204000" cy="361106"/>
            </a:xfrm>
          </p:grpSpPr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5475C40A-9D97-0A8A-7490-8E766842024D}"/>
                  </a:ext>
                </a:extLst>
              </p:cNvPr>
              <p:cNvGrpSpPr/>
              <p:nvPr/>
            </p:nvGrpSpPr>
            <p:grpSpPr>
              <a:xfrm>
                <a:off x="0" y="936090"/>
                <a:ext cx="12204000" cy="360000"/>
                <a:chOff x="0" y="936090"/>
                <a:chExt cx="12204000" cy="360000"/>
              </a:xfrm>
            </p:grpSpPr>
            <p:grpSp>
              <p:nvGrpSpPr>
                <p:cNvPr id="24" name="Group 23">
                  <a:extLst>
                    <a:ext uri="{FF2B5EF4-FFF2-40B4-BE49-F238E27FC236}">
                      <a16:creationId xmlns:a16="http://schemas.microsoft.com/office/drawing/2014/main" id="{832E550A-42C4-589C-8E18-C8EF6DF6C5DD}"/>
                    </a:ext>
                  </a:extLst>
                </p:cNvPr>
                <p:cNvGrpSpPr/>
                <p:nvPr/>
              </p:nvGrpSpPr>
              <p:grpSpPr>
                <a:xfrm>
                  <a:off x="0" y="936090"/>
                  <a:ext cx="12204000" cy="360000"/>
                  <a:chOff x="-2" y="2718720"/>
                  <a:chExt cx="12204000" cy="360000"/>
                </a:xfrm>
              </p:grpSpPr>
              <p:sp>
                <p:nvSpPr>
                  <p:cNvPr id="27" name="Title 63">
                    <a:extLst>
                      <a:ext uri="{FF2B5EF4-FFF2-40B4-BE49-F238E27FC236}">
                        <a16:creationId xmlns:a16="http://schemas.microsoft.com/office/drawing/2014/main" id="{676976BE-52F7-ADFD-D2B1-6B2F66DEE286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-2" y="2718720"/>
                    <a:ext cx="720000" cy="360000"/>
                  </a:xfrm>
                  <a:prstGeom prst="rect">
                    <a:avLst/>
                  </a:prstGeom>
                  <a:solidFill>
                    <a:srgbClr val="2D6A87"/>
                  </a:solidFill>
                  <a:ln w="38100">
                    <a:noFill/>
                  </a:ln>
                </p:spPr>
                <p:txBody>
                  <a:bodyPr anchor="ctr">
                    <a:normAutofit/>
                  </a:bodyPr>
                  <a:lstStyle>
                    <a:lvl1pPr algn="l" defTabSz="914400" rtl="0" eaLnBrk="1" latinLnBrk="0" hangingPunct="1">
                      <a:lnSpc>
                        <a:spcPts val="4200"/>
                      </a:lnSpc>
                      <a:spcBef>
                        <a:spcPct val="0"/>
                      </a:spcBef>
                      <a:buNone/>
                      <a:defRPr sz="3200" b="1" kern="1200">
                        <a:solidFill>
                          <a:schemeClr val="bg1"/>
                        </a:solidFill>
                        <a:latin typeface="+mj-lt"/>
                        <a:ea typeface="+mj-ea"/>
                        <a:cs typeface="+mj-cs"/>
                      </a:defRPr>
                    </a:lvl1pPr>
                  </a:lstStyle>
                  <a:p>
                    <a:pPr algn="ctr">
                      <a:lnSpc>
                        <a:spcPct val="100000"/>
                      </a:lnSpc>
                    </a:pPr>
                    <a:r>
                      <a:rPr lang="en-US" sz="1000" b="0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rPr>
                      <a:t>Home</a:t>
                    </a:r>
                  </a:p>
                </p:txBody>
              </p:sp>
              <p:grpSp>
                <p:nvGrpSpPr>
                  <p:cNvPr id="28" name="Group 27">
                    <a:extLst>
                      <a:ext uri="{FF2B5EF4-FFF2-40B4-BE49-F238E27FC236}">
                        <a16:creationId xmlns:a16="http://schemas.microsoft.com/office/drawing/2014/main" id="{FD32C924-2CAD-7AA3-92E5-D89135FF34DB}"/>
                      </a:ext>
                    </a:extLst>
                  </p:cNvPr>
                  <p:cNvGrpSpPr/>
                  <p:nvPr/>
                </p:nvGrpSpPr>
                <p:grpSpPr>
                  <a:xfrm>
                    <a:off x="10763998" y="2718720"/>
                    <a:ext cx="1440000" cy="360000"/>
                    <a:chOff x="4102098" y="3429000"/>
                    <a:chExt cx="1440000" cy="360000"/>
                  </a:xfrm>
                </p:grpSpPr>
                <p:sp>
                  <p:nvSpPr>
                    <p:cNvPr id="30" name="Title 63">
                      <a:extLst>
                        <a:ext uri="{FF2B5EF4-FFF2-40B4-BE49-F238E27FC236}">
                          <a16:creationId xmlns:a16="http://schemas.microsoft.com/office/drawing/2014/main" id="{C1331C75-EAA1-F9CE-FB10-BE3815ABD796}"/>
                        </a:ext>
                      </a:extLst>
                    </p:cNvPr>
                    <p:cNvSpPr txBox="1">
                      <a:spLocks/>
                    </p:cNvSpPr>
                    <p:nvPr/>
                  </p:nvSpPr>
                  <p:spPr>
                    <a:xfrm>
                      <a:off x="4102098" y="3429000"/>
                      <a:ext cx="720000" cy="360000"/>
                    </a:xfrm>
                    <a:prstGeom prst="rect">
                      <a:avLst/>
                    </a:prstGeom>
                    <a:solidFill>
                      <a:srgbClr val="2D6A87"/>
                    </a:solidFill>
                    <a:ln w="38100">
                      <a:noFill/>
                    </a:ln>
                  </p:spPr>
                  <p:txBody>
                    <a:bodyPr anchor="ctr">
                      <a:normAutofit/>
                    </a:bodyPr>
                    <a:lstStyle>
                      <a:lvl1pPr algn="l" defTabSz="914400" rtl="0" eaLnBrk="1" latinLnBrk="0" hangingPunct="1">
                        <a:lnSpc>
                          <a:spcPts val="4200"/>
                        </a:lnSpc>
                        <a:spcBef>
                          <a:spcPct val="0"/>
                        </a:spcBef>
                        <a:buNone/>
                        <a:defRPr sz="3200" b="1" kern="1200">
                          <a:solidFill>
                            <a:schemeClr val="bg1"/>
                          </a:solidFill>
                          <a:latin typeface="+mj-lt"/>
                          <a:ea typeface="+mj-ea"/>
                          <a:cs typeface="+mj-cs"/>
                        </a:defRPr>
                      </a:lvl1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Help</a:t>
                      </a:r>
                    </a:p>
                  </p:txBody>
                </p:sp>
                <p:sp>
                  <p:nvSpPr>
                    <p:cNvPr id="32" name="Title 63">
                      <a:extLst>
                        <a:ext uri="{FF2B5EF4-FFF2-40B4-BE49-F238E27FC236}">
                          <a16:creationId xmlns:a16="http://schemas.microsoft.com/office/drawing/2014/main" id="{DCB65C5A-DEC2-2E14-B54B-83C2E8B327EC}"/>
                        </a:ext>
                      </a:extLst>
                    </p:cNvPr>
                    <p:cNvSpPr txBox="1">
                      <a:spLocks/>
                    </p:cNvSpPr>
                    <p:nvPr/>
                  </p:nvSpPr>
                  <p:spPr>
                    <a:xfrm>
                      <a:off x="4822098" y="3429000"/>
                      <a:ext cx="720000" cy="360000"/>
                    </a:xfrm>
                    <a:prstGeom prst="rect">
                      <a:avLst/>
                    </a:prstGeom>
                    <a:solidFill>
                      <a:srgbClr val="2D6A87"/>
                    </a:solidFill>
                    <a:ln w="38100">
                      <a:noFill/>
                    </a:ln>
                  </p:spPr>
                  <p:txBody>
                    <a:bodyPr anchor="ctr">
                      <a:normAutofit/>
                    </a:bodyPr>
                    <a:lstStyle>
                      <a:lvl1pPr algn="l" defTabSz="914400" rtl="0" eaLnBrk="1" latinLnBrk="0" hangingPunct="1">
                        <a:lnSpc>
                          <a:spcPts val="4200"/>
                        </a:lnSpc>
                        <a:spcBef>
                          <a:spcPct val="0"/>
                        </a:spcBef>
                        <a:buNone/>
                        <a:defRPr sz="3200" b="1" kern="1200">
                          <a:solidFill>
                            <a:schemeClr val="bg1"/>
                          </a:solidFill>
                          <a:latin typeface="+mj-lt"/>
                          <a:ea typeface="+mj-ea"/>
                          <a:cs typeface="+mj-cs"/>
                        </a:defRPr>
                      </a:lvl1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Logout</a:t>
                      </a:r>
                    </a:p>
                  </p:txBody>
                </p:sp>
              </p:grpSp>
              <p:sp>
                <p:nvSpPr>
                  <p:cNvPr id="29" name="Title 63">
                    <a:extLst>
                      <a:ext uri="{FF2B5EF4-FFF2-40B4-BE49-F238E27FC236}">
                        <a16:creationId xmlns:a16="http://schemas.microsoft.com/office/drawing/2014/main" id="{1C315326-FA99-039F-08AB-9E61304AC6B6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3595617" y="2718720"/>
                    <a:ext cx="6445306" cy="360000"/>
                  </a:xfrm>
                  <a:prstGeom prst="rect">
                    <a:avLst/>
                  </a:prstGeom>
                  <a:solidFill>
                    <a:srgbClr val="2D6A87"/>
                  </a:solidFill>
                  <a:ln w="38100">
                    <a:noFill/>
                  </a:ln>
                </p:spPr>
                <p:txBody>
                  <a:bodyPr anchor="ctr">
                    <a:normAutofit/>
                  </a:bodyPr>
                  <a:lstStyle>
                    <a:lvl1pPr algn="l" defTabSz="914400" rtl="0" eaLnBrk="1" latinLnBrk="0" hangingPunct="1">
                      <a:lnSpc>
                        <a:spcPts val="4200"/>
                      </a:lnSpc>
                      <a:spcBef>
                        <a:spcPct val="0"/>
                      </a:spcBef>
                      <a:buNone/>
                      <a:defRPr sz="3200" b="1" kern="1200">
                        <a:solidFill>
                          <a:schemeClr val="bg1"/>
                        </a:solidFill>
                        <a:latin typeface="+mj-lt"/>
                        <a:ea typeface="+mj-ea"/>
                        <a:cs typeface="+mj-cs"/>
                      </a:defRPr>
                    </a:lvl1pPr>
                  </a:lstStyle>
                  <a:p>
                    <a:pPr>
                      <a:lnSpc>
                        <a:spcPct val="100000"/>
                      </a:lnSpc>
                    </a:pPr>
                    <a:endParaRPr lang="en-US" sz="1000" b="0" dirty="0">
                      <a:solidFill>
                        <a:schemeClr val="tx2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+mn-cs"/>
                    </a:endParaRPr>
                  </a:p>
                </p:txBody>
              </p:sp>
            </p:grpSp>
            <p:sp>
              <p:nvSpPr>
                <p:cNvPr id="26" name="Title 63">
                  <a:extLst>
                    <a:ext uri="{FF2B5EF4-FFF2-40B4-BE49-F238E27FC236}">
                      <a16:creationId xmlns:a16="http://schemas.microsoft.com/office/drawing/2014/main" id="{A8DF4EC1-7B01-388D-4DA8-1938470D7DF0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720000" y="936090"/>
                  <a:ext cx="720000" cy="360000"/>
                </a:xfrm>
                <a:prstGeom prst="rect">
                  <a:avLst/>
                </a:prstGeom>
                <a:solidFill>
                  <a:srgbClr val="2D6A87"/>
                </a:solidFill>
                <a:ln w="38100">
                  <a:noFill/>
                </a:ln>
              </p:spPr>
              <p:txBody>
                <a:bodyPr anchor="ctr">
                  <a:normAutofit fontScale="92500" lnSpcReduction="10000"/>
                </a:bodyPr>
                <a:lstStyle>
                  <a:lvl1pPr algn="l" defTabSz="914400" rtl="0" eaLnBrk="1" latinLnBrk="0" hangingPunct="1">
                    <a:lnSpc>
                      <a:spcPts val="4200"/>
                    </a:lnSpc>
                    <a:spcBef>
                      <a:spcPct val="0"/>
                    </a:spcBef>
                    <a:buNone/>
                    <a:defRPr sz="3200" b="1" kern="1200">
                      <a:solidFill>
                        <a:schemeClr val="bg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:pPr algn="ctr">
                    <a:lnSpc>
                      <a:spcPct val="100000"/>
                    </a:lnSpc>
                  </a:pPr>
                  <a:r>
                    <a:rPr lang="en-US" sz="1000" b="0" dirty="0">
                      <a:solidFill>
                        <a:schemeClr val="tx2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+mn-cs"/>
                    </a:rPr>
                    <a:t>Asset Register</a:t>
                  </a:r>
                </a:p>
              </p:txBody>
            </p:sp>
          </p:grpSp>
          <p:sp>
            <p:nvSpPr>
              <p:cNvPr id="23" name="Title 63">
                <a:extLst>
                  <a:ext uri="{FF2B5EF4-FFF2-40B4-BE49-F238E27FC236}">
                    <a16:creationId xmlns:a16="http://schemas.microsoft.com/office/drawing/2014/main" id="{6B832DB4-106A-BD76-DBB0-CCEC993023B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040924" y="934984"/>
                <a:ext cx="720000" cy="360000"/>
              </a:xfrm>
              <a:prstGeom prst="rect">
                <a:avLst/>
              </a:prstGeom>
              <a:solidFill>
                <a:srgbClr val="2D6A87"/>
              </a:solidFill>
              <a:ln w="38100">
                <a:noFill/>
              </a:ln>
            </p:spPr>
            <p:txBody>
              <a:bodyPr anchor="ctr">
                <a:normAutofit fontScale="92500" lnSpcReduction="10000"/>
              </a:bodyPr>
              <a:lstStyle>
                <a:lvl1pPr algn="l" defTabSz="914400" rtl="0" eaLnBrk="1" latinLnBrk="0" hangingPunct="1">
                  <a:lnSpc>
                    <a:spcPts val="4200"/>
                  </a:lnSpc>
                  <a:spcBef>
                    <a:spcPct val="0"/>
                  </a:spcBef>
                  <a:buNone/>
                  <a:defRPr sz="3200" b="1" kern="1200">
                    <a:solidFill>
                      <a:schemeClr val="bg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00000"/>
                  </a:lnSpc>
                </a:pPr>
                <a:r>
                  <a:rPr lang="en-US" sz="1000" b="0" dirty="0">
                    <a:solidFill>
                      <a:schemeClr val="tx2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rPr>
                  <a:t>Account Manager</a:t>
                </a:r>
              </a:p>
            </p:txBody>
          </p:sp>
        </p:grpSp>
        <p:sp>
          <p:nvSpPr>
            <p:cNvPr id="20" name="Title 63">
              <a:extLst>
                <a:ext uri="{FF2B5EF4-FFF2-40B4-BE49-F238E27FC236}">
                  <a16:creationId xmlns:a16="http://schemas.microsoft.com/office/drawing/2014/main" id="{C942D655-2675-D327-6519-BFA7807E6754}"/>
                </a:ext>
              </a:extLst>
            </p:cNvPr>
            <p:cNvSpPr txBox="1">
              <a:spLocks/>
            </p:cNvSpPr>
            <p:nvPr/>
          </p:nvSpPr>
          <p:spPr>
            <a:xfrm>
              <a:off x="1437809" y="932141"/>
              <a:ext cx="1440000" cy="360000"/>
            </a:xfrm>
            <a:prstGeom prst="rect">
              <a:avLst/>
            </a:prstGeom>
            <a:solidFill>
              <a:srgbClr val="2D6A87"/>
            </a:solidFill>
            <a:ln w="38100">
              <a:noFill/>
            </a:ln>
          </p:spPr>
          <p:txBody>
            <a:bodyPr anchor="ctr">
              <a:normAutofit fontScale="92500" lnSpcReduction="10000"/>
            </a:bodyPr>
            <a:lstStyle>
              <a:lvl1pPr algn="l" defTabSz="914400" rtl="0" eaLnBrk="1" latinLnBrk="0" hangingPunct="1">
                <a:lnSpc>
                  <a:spcPts val="4200"/>
                </a:lnSpc>
                <a:spcBef>
                  <a:spcPct val="0"/>
                </a:spcBef>
                <a:buNone/>
                <a:defRPr sz="3200" b="1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>
                <a:lnSpc>
                  <a:spcPct val="100000"/>
                </a:lnSpc>
              </a:pPr>
              <a:r>
                <a:rPr lang="en-US" sz="1000" b="0" dirty="0">
                  <a:solidFill>
                    <a:schemeClr val="tx2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Risk Based Inspection Planning</a:t>
              </a:r>
            </a:p>
          </p:txBody>
        </p:sp>
        <p:sp>
          <p:nvSpPr>
            <p:cNvPr id="21" name="Title 63">
              <a:extLst>
                <a:ext uri="{FF2B5EF4-FFF2-40B4-BE49-F238E27FC236}">
                  <a16:creationId xmlns:a16="http://schemas.microsoft.com/office/drawing/2014/main" id="{56792327-2243-0A11-ECE1-01B8087E9EBF}"/>
                </a:ext>
              </a:extLst>
            </p:cNvPr>
            <p:cNvSpPr txBox="1">
              <a:spLocks/>
            </p:cNvSpPr>
            <p:nvPr/>
          </p:nvSpPr>
          <p:spPr>
            <a:xfrm>
              <a:off x="2877809" y="932141"/>
              <a:ext cx="720000" cy="360000"/>
            </a:xfrm>
            <a:prstGeom prst="rect">
              <a:avLst/>
            </a:prstGeom>
            <a:solidFill>
              <a:srgbClr val="2D6A87"/>
            </a:solidFill>
            <a:ln w="38100">
              <a:noFill/>
            </a:ln>
          </p:spPr>
          <p:txBody>
            <a:bodyPr anchor="ctr">
              <a:normAutofit fontScale="92500" lnSpcReduction="10000"/>
            </a:bodyPr>
            <a:lstStyle>
              <a:lvl1pPr algn="l" defTabSz="914400" rtl="0" eaLnBrk="1" latinLnBrk="0" hangingPunct="1">
                <a:lnSpc>
                  <a:spcPts val="4200"/>
                </a:lnSpc>
                <a:spcBef>
                  <a:spcPct val="0"/>
                </a:spcBef>
                <a:buNone/>
                <a:defRPr sz="3200" b="1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>
                <a:lnSpc>
                  <a:spcPct val="100000"/>
                </a:lnSpc>
              </a:pPr>
              <a:r>
                <a:rPr lang="en-US" sz="1000" b="0" dirty="0">
                  <a:solidFill>
                    <a:schemeClr val="tx2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Add</a:t>
              </a:r>
            </a:p>
            <a:p>
              <a:pPr algn="ctr">
                <a:lnSpc>
                  <a:spcPct val="100000"/>
                </a:lnSpc>
              </a:pPr>
              <a:r>
                <a:rPr lang="en-US" sz="1000" b="0" dirty="0">
                  <a:solidFill>
                    <a:schemeClr val="tx2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Module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69321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459D4-5C27-F1A7-7697-8B8DBFE73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itle 63">
            <a:extLst>
              <a:ext uri="{FF2B5EF4-FFF2-40B4-BE49-F238E27FC236}">
                <a16:creationId xmlns:a16="http://schemas.microsoft.com/office/drawing/2014/main" id="{40293087-1EF8-F4B2-A90B-51931DE8BE21}"/>
              </a:ext>
            </a:extLst>
          </p:cNvPr>
          <p:cNvSpPr txBox="1">
            <a:spLocks/>
          </p:cNvSpPr>
          <p:nvPr/>
        </p:nvSpPr>
        <p:spPr>
          <a:xfrm>
            <a:off x="0" y="1462924"/>
            <a:ext cx="2152665" cy="5395076"/>
          </a:xfrm>
          <a:prstGeom prst="rect">
            <a:avLst/>
          </a:prstGeom>
          <a:noFill/>
          <a:ln w="19050">
            <a:solidFill>
              <a:srgbClr val="2D6A87"/>
            </a:solidFill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endParaRPr lang="en-US" sz="1000" b="0" dirty="0">
              <a:solidFill>
                <a:schemeClr val="tx2"/>
              </a:solidFill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2" name="Title 63">
            <a:extLst>
              <a:ext uri="{FF2B5EF4-FFF2-40B4-BE49-F238E27FC236}">
                <a16:creationId xmlns:a16="http://schemas.microsoft.com/office/drawing/2014/main" id="{0A76B6E4-F0ED-6AB3-1599-E141804FCB37}"/>
              </a:ext>
            </a:extLst>
          </p:cNvPr>
          <p:cNvSpPr txBox="1">
            <a:spLocks/>
          </p:cNvSpPr>
          <p:nvPr/>
        </p:nvSpPr>
        <p:spPr>
          <a:xfrm>
            <a:off x="-1" y="10690"/>
            <a:ext cx="12192001" cy="900000"/>
          </a:xfrm>
          <a:prstGeom prst="rect">
            <a:avLst/>
          </a:prstGeom>
          <a:solidFill>
            <a:schemeClr val="tx2"/>
          </a:solidFill>
          <a:ln w="3810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2D6A87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Structural Integrity Management System (SIMS)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2BFD8B-8CBA-1406-EB93-613C39DE153A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2836" r="22678"/>
          <a:stretch>
            <a:fillRect/>
          </a:stretch>
        </p:blipFill>
        <p:spPr>
          <a:xfrm>
            <a:off x="174883" y="103675"/>
            <a:ext cx="691633" cy="714030"/>
          </a:xfrm>
          <a:prstGeom prst="rect">
            <a:avLst/>
          </a:prstGeom>
        </p:spPr>
      </p:pic>
      <p:sp>
        <p:nvSpPr>
          <p:cNvPr id="25" name="Title 63">
            <a:extLst>
              <a:ext uri="{FF2B5EF4-FFF2-40B4-BE49-F238E27FC236}">
                <a16:creationId xmlns:a16="http://schemas.microsoft.com/office/drawing/2014/main" id="{7A83D316-F101-5A4E-4653-5D2FD1E859A0}"/>
              </a:ext>
            </a:extLst>
          </p:cNvPr>
          <p:cNvSpPr txBox="1">
            <a:spLocks/>
          </p:cNvSpPr>
          <p:nvPr/>
        </p:nvSpPr>
        <p:spPr>
          <a:xfrm>
            <a:off x="0" y="1449533"/>
            <a:ext cx="2160000" cy="360000"/>
          </a:xfrm>
          <a:prstGeom prst="rect">
            <a:avLst/>
          </a:prstGeom>
          <a:solidFill>
            <a:srgbClr val="2D6A87"/>
          </a:solidFill>
          <a:ln w="3810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000" b="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Asset Tree </a:t>
            </a:r>
          </a:p>
        </p:txBody>
      </p:sp>
      <p:sp>
        <p:nvSpPr>
          <p:cNvPr id="31" name="Title 63">
            <a:extLst>
              <a:ext uri="{FF2B5EF4-FFF2-40B4-BE49-F238E27FC236}">
                <a16:creationId xmlns:a16="http://schemas.microsoft.com/office/drawing/2014/main" id="{2E4D1B27-8A75-9AA1-6031-C741A2186787}"/>
              </a:ext>
            </a:extLst>
          </p:cNvPr>
          <p:cNvSpPr txBox="1">
            <a:spLocks/>
          </p:cNvSpPr>
          <p:nvPr/>
        </p:nvSpPr>
        <p:spPr>
          <a:xfrm>
            <a:off x="0" y="1809532"/>
            <a:ext cx="2160000" cy="5037778"/>
          </a:xfrm>
          <a:prstGeom prst="rect">
            <a:avLst/>
          </a:prstGeom>
          <a:noFill/>
          <a:ln w="38100">
            <a:noFill/>
          </a:ln>
        </p:spPr>
        <p:txBody>
          <a:bodyPr anchor="t">
            <a:no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 Gas Purification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&gt;</a:t>
            </a: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Plant 2 Dehydration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&gt;</a:t>
            </a: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Plant 3 Fractionation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4 Refrigeration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5 Liquefaction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6 Condensate Stripping ...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15 LPG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16 Condensate Stabilize ... 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17 LPG Storage and Loa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highlight>
                  <a:srgbClr val="6E98A7"/>
                </a:highlight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17D-1/Q-1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17D-2/Q-1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17D-3/Q-1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17D-4/Q-1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17D-5/Q-1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+ add asset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19 Relief &amp; Blowdown S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20 Condensate Storage ...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20D-4/Q-1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     20D-5/Q-1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     20D-6/Q-1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+ add asset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21 Feed Gas Knockout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22 Marine Structures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24 LNG Storage and Loa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25 Fueling Facility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26 LPG Filling Station … &gt;Propane and Butane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27 Oxygen Plant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28 Acetylene Plant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29 Nitrogen Generation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30 Electrical </a:t>
            </a:r>
            <a:r>
              <a:rPr lang="en-US" sz="8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Distributio</a:t>
            </a: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31 Steam &amp; Power Gen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32 Seawater Cooling 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33 Fire Protection System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34 Liquid Waste System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35 Compressed Air System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36 Water Treatment Sy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37 Communication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+ add Plant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5C02665-AFEA-6DC7-AE3F-4E3EA90086ED}"/>
              </a:ext>
            </a:extLst>
          </p:cNvPr>
          <p:cNvGrpSpPr/>
          <p:nvPr/>
        </p:nvGrpSpPr>
        <p:grpSpPr>
          <a:xfrm>
            <a:off x="216151" y="3948414"/>
            <a:ext cx="73594" cy="324419"/>
            <a:chOff x="216151" y="3221023"/>
            <a:chExt cx="73594" cy="324419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4F83FF05-2D9D-478B-D99B-100DCB2EAB7C}"/>
                </a:ext>
              </a:extLst>
            </p:cNvPr>
            <p:cNvSpPr/>
            <p:nvPr/>
          </p:nvSpPr>
          <p:spPr>
            <a:xfrm>
              <a:off x="217745" y="3346913"/>
              <a:ext cx="72000" cy="72000"/>
            </a:xfrm>
            <a:prstGeom prst="rect">
              <a:avLst/>
            </a:prstGeom>
            <a:solidFill>
              <a:schemeClr val="bg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67767456-E799-BB0F-9259-40D8F2E086CA}"/>
                </a:ext>
              </a:extLst>
            </p:cNvPr>
            <p:cNvSpPr/>
            <p:nvPr/>
          </p:nvSpPr>
          <p:spPr>
            <a:xfrm>
              <a:off x="217745" y="3473442"/>
              <a:ext cx="72000" cy="72000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48469DBF-F834-E608-B729-617A12B1DB74}"/>
                </a:ext>
              </a:extLst>
            </p:cNvPr>
            <p:cNvSpPr/>
            <p:nvPr/>
          </p:nvSpPr>
          <p:spPr>
            <a:xfrm>
              <a:off x="216151" y="3221023"/>
              <a:ext cx="72000" cy="720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sp>
        <p:nvSpPr>
          <p:cNvPr id="7" name="Title 63">
            <a:extLst>
              <a:ext uri="{FF2B5EF4-FFF2-40B4-BE49-F238E27FC236}">
                <a16:creationId xmlns:a16="http://schemas.microsoft.com/office/drawing/2014/main" id="{202B8309-9D9D-5A69-DD4D-F2E73AEAECFB}"/>
              </a:ext>
            </a:extLst>
          </p:cNvPr>
          <p:cNvSpPr txBox="1">
            <a:spLocks/>
          </p:cNvSpPr>
          <p:nvPr/>
        </p:nvSpPr>
        <p:spPr>
          <a:xfrm>
            <a:off x="2176858" y="1449533"/>
            <a:ext cx="1800000" cy="360000"/>
          </a:xfrm>
          <a:prstGeom prst="rect">
            <a:avLst/>
          </a:prstGeom>
          <a:solidFill>
            <a:srgbClr val="2D6A87"/>
          </a:solidFill>
          <a:ln w="3810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1000" b="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17D-1/Q-1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7A19C38E-84C6-E20E-0E23-DF5E256C796D}"/>
              </a:ext>
            </a:extLst>
          </p:cNvPr>
          <p:cNvGrpSpPr/>
          <p:nvPr/>
        </p:nvGrpSpPr>
        <p:grpSpPr>
          <a:xfrm>
            <a:off x="214557" y="2975994"/>
            <a:ext cx="73594" cy="324419"/>
            <a:chOff x="216151" y="3221023"/>
            <a:chExt cx="73594" cy="324419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9BF26454-59AF-FB5A-6830-C1989262D38B}"/>
                </a:ext>
              </a:extLst>
            </p:cNvPr>
            <p:cNvSpPr/>
            <p:nvPr/>
          </p:nvSpPr>
          <p:spPr>
            <a:xfrm>
              <a:off x="217745" y="3346913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A07EAB29-B9D2-8AB6-68FF-0D51DD787B84}"/>
                </a:ext>
              </a:extLst>
            </p:cNvPr>
            <p:cNvSpPr/>
            <p:nvPr/>
          </p:nvSpPr>
          <p:spPr>
            <a:xfrm>
              <a:off x="217745" y="3473442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A96C7769-D3A3-CB02-EDF5-D5F2E05FFEB3}"/>
                </a:ext>
              </a:extLst>
            </p:cNvPr>
            <p:cNvSpPr/>
            <p:nvPr/>
          </p:nvSpPr>
          <p:spPr>
            <a:xfrm>
              <a:off x="216151" y="3221023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ABA161F6-353B-C1E6-00CA-35886AAA0B72}"/>
              </a:ext>
            </a:extLst>
          </p:cNvPr>
          <p:cNvGrpSpPr/>
          <p:nvPr/>
        </p:nvGrpSpPr>
        <p:grpSpPr>
          <a:xfrm>
            <a:off x="214557" y="3346544"/>
            <a:ext cx="73594" cy="197890"/>
            <a:chOff x="216151" y="3221023"/>
            <a:chExt cx="73594" cy="197890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25879732-0F5F-3A95-A857-4D70C48D975C}"/>
                </a:ext>
              </a:extLst>
            </p:cNvPr>
            <p:cNvSpPr/>
            <p:nvPr/>
          </p:nvSpPr>
          <p:spPr>
            <a:xfrm>
              <a:off x="217745" y="3346913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CC84B04A-4165-E7F1-D7C2-AAEC4579272A}"/>
                </a:ext>
              </a:extLst>
            </p:cNvPr>
            <p:cNvSpPr/>
            <p:nvPr/>
          </p:nvSpPr>
          <p:spPr>
            <a:xfrm>
              <a:off x="216151" y="3221023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sp>
        <p:nvSpPr>
          <p:cNvPr id="8" name="Title 63">
            <a:extLst>
              <a:ext uri="{FF2B5EF4-FFF2-40B4-BE49-F238E27FC236}">
                <a16:creationId xmlns:a16="http://schemas.microsoft.com/office/drawing/2014/main" id="{C9229D36-A152-B014-EB43-025610264A59}"/>
              </a:ext>
            </a:extLst>
          </p:cNvPr>
          <p:cNvSpPr txBox="1">
            <a:spLocks/>
          </p:cNvSpPr>
          <p:nvPr/>
        </p:nvSpPr>
        <p:spPr>
          <a:xfrm>
            <a:off x="3993716" y="1449316"/>
            <a:ext cx="8210283" cy="360000"/>
          </a:xfrm>
          <a:prstGeom prst="rect">
            <a:avLst/>
          </a:prstGeom>
          <a:solidFill>
            <a:srgbClr val="2D6A87"/>
          </a:solidFill>
          <a:ln w="3810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000" b="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Asset Register | </a:t>
            </a:r>
            <a:r>
              <a:rPr lang="en-US" sz="1000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Condition (GVI) </a:t>
            </a:r>
            <a:r>
              <a:rPr lang="en-US" sz="1000" b="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| Inspection | Risk Based Inspection | Technical Document | Documentation | Name Plate</a:t>
            </a: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D8EC1740-1B16-523E-FC22-7F94FBFC86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5377049"/>
              </p:ext>
            </p:extLst>
          </p:nvPr>
        </p:nvGraphicFramePr>
        <p:xfrm>
          <a:off x="2389386" y="1912916"/>
          <a:ext cx="8681778" cy="80170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97040">
                  <a:extLst>
                    <a:ext uri="{9D8B030D-6E8A-4147-A177-3AD203B41FA5}">
                      <a16:colId xmlns:a16="http://schemas.microsoft.com/office/drawing/2014/main" val="1360728645"/>
                    </a:ext>
                  </a:extLst>
                </a:gridCol>
                <a:gridCol w="7584738">
                  <a:extLst>
                    <a:ext uri="{9D8B030D-6E8A-4147-A177-3AD203B41FA5}">
                      <a16:colId xmlns:a16="http://schemas.microsoft.com/office/drawing/2014/main" val="2423881929"/>
                    </a:ext>
                  </a:extLst>
                </a:gridCol>
              </a:tblGrid>
              <a:tr h="193446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Date of Inspection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&lt;Date&gt;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3287019"/>
                  </a:ext>
                </a:extLst>
              </a:tr>
              <a:tr h="193446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Inspector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&lt;Text&gt;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1649554"/>
                  </a:ext>
                </a:extLst>
              </a:tr>
              <a:tr h="193446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Condition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&lt;Condition Selection&gt;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0242237"/>
                  </a:ext>
                </a:extLst>
              </a:tr>
              <a:tr h="207349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Comment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&lt;Text&gt;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1250460"/>
                  </a:ext>
                </a:extLst>
              </a:tr>
            </a:tbl>
          </a:graphicData>
        </a:graphic>
      </p:graphicFrame>
      <p:sp>
        <p:nvSpPr>
          <p:cNvPr id="33" name="Title 63">
            <a:extLst>
              <a:ext uri="{FF2B5EF4-FFF2-40B4-BE49-F238E27FC236}">
                <a16:creationId xmlns:a16="http://schemas.microsoft.com/office/drawing/2014/main" id="{A8DD0EC7-526F-1A00-CCF8-435A3E28AEB1}"/>
              </a:ext>
            </a:extLst>
          </p:cNvPr>
          <p:cNvSpPr txBox="1">
            <a:spLocks/>
          </p:cNvSpPr>
          <p:nvPr/>
        </p:nvSpPr>
        <p:spPr>
          <a:xfrm>
            <a:off x="11300550" y="1912916"/>
            <a:ext cx="720000" cy="360000"/>
          </a:xfrm>
          <a:prstGeom prst="rect">
            <a:avLst/>
          </a:prstGeom>
          <a:solidFill>
            <a:srgbClr val="2D6A87"/>
          </a:solidFill>
          <a:ln w="3810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800" b="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Save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CE956D6F-606F-B1E4-37C5-C5D1E6230C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6095999" y="1699578"/>
            <a:ext cx="360000" cy="323076"/>
          </a:xfrm>
          <a:prstGeom prst="ellipse">
            <a:avLst/>
          </a:prstGeom>
          <a:ln w="3175" cap="rnd">
            <a:solidFill>
              <a:srgbClr val="00B050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76BCE0F-7606-B8B9-7F18-B4FA799178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2788705"/>
              </p:ext>
            </p:extLst>
          </p:nvPr>
        </p:nvGraphicFramePr>
        <p:xfrm>
          <a:off x="2389386" y="2930596"/>
          <a:ext cx="8681778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30914">
                  <a:extLst>
                    <a:ext uri="{9D8B030D-6E8A-4147-A177-3AD203B41FA5}">
                      <a16:colId xmlns:a16="http://schemas.microsoft.com/office/drawing/2014/main" val="1360728645"/>
                    </a:ext>
                  </a:extLst>
                </a:gridCol>
                <a:gridCol w="1050864">
                  <a:extLst>
                    <a:ext uri="{9D8B030D-6E8A-4147-A177-3AD203B41FA5}">
                      <a16:colId xmlns:a16="http://schemas.microsoft.com/office/drawing/2014/main" val="2423881929"/>
                    </a:ext>
                  </a:extLst>
                </a:gridCol>
              </a:tblGrid>
              <a:tr h="193446">
                <a:tc>
                  <a:txBody>
                    <a:bodyPr/>
                    <a:lstStyle/>
                    <a:p>
                      <a:r>
                        <a:rPr lang="en-US" sz="700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Description</a:t>
                      </a:r>
                      <a:endParaRPr lang="en-ID" sz="700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File</a:t>
                      </a:r>
                      <a:endParaRPr lang="en-ID" sz="700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3287019"/>
                  </a:ext>
                </a:extLst>
              </a:tr>
              <a:tr h="193446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&lt;Text&gt;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&lt;Select file&gt;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1649554"/>
                  </a:ext>
                </a:extLst>
              </a:tr>
            </a:tbl>
          </a:graphicData>
        </a:graphic>
      </p:graphicFrame>
      <p:sp>
        <p:nvSpPr>
          <p:cNvPr id="11" name="Title 63">
            <a:extLst>
              <a:ext uri="{FF2B5EF4-FFF2-40B4-BE49-F238E27FC236}">
                <a16:creationId xmlns:a16="http://schemas.microsoft.com/office/drawing/2014/main" id="{6830040A-C19F-4212-9070-88030A8FEBDB}"/>
              </a:ext>
            </a:extLst>
          </p:cNvPr>
          <p:cNvSpPr txBox="1">
            <a:spLocks/>
          </p:cNvSpPr>
          <p:nvPr/>
        </p:nvSpPr>
        <p:spPr>
          <a:xfrm>
            <a:off x="2389386" y="3429000"/>
            <a:ext cx="720000" cy="252000"/>
          </a:xfrm>
          <a:prstGeom prst="rect">
            <a:avLst/>
          </a:prstGeom>
          <a:solidFill>
            <a:srgbClr val="2D6A87"/>
          </a:solidFill>
          <a:ln w="3810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700" b="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Add File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EE89137-2B95-5B0F-098B-4075E367B01A}"/>
              </a:ext>
            </a:extLst>
          </p:cNvPr>
          <p:cNvGrpSpPr/>
          <p:nvPr/>
        </p:nvGrpSpPr>
        <p:grpSpPr>
          <a:xfrm>
            <a:off x="0" y="932141"/>
            <a:ext cx="12204000" cy="363949"/>
            <a:chOff x="0" y="932141"/>
            <a:chExt cx="12204000" cy="363949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9DFF7517-9495-44A9-0846-1F7BDBF91940}"/>
                </a:ext>
              </a:extLst>
            </p:cNvPr>
            <p:cNvGrpSpPr/>
            <p:nvPr/>
          </p:nvGrpSpPr>
          <p:grpSpPr>
            <a:xfrm>
              <a:off x="0" y="934984"/>
              <a:ext cx="12204000" cy="361106"/>
              <a:chOff x="0" y="934984"/>
              <a:chExt cx="12204000" cy="361106"/>
            </a:xfrm>
          </p:grpSpPr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6E879E54-56F3-FC44-BADC-9CA4944CE90D}"/>
                  </a:ext>
                </a:extLst>
              </p:cNvPr>
              <p:cNvGrpSpPr/>
              <p:nvPr/>
            </p:nvGrpSpPr>
            <p:grpSpPr>
              <a:xfrm>
                <a:off x="0" y="936090"/>
                <a:ext cx="12204000" cy="360000"/>
                <a:chOff x="0" y="936090"/>
                <a:chExt cx="12204000" cy="360000"/>
              </a:xfrm>
            </p:grpSpPr>
            <p:grpSp>
              <p:nvGrpSpPr>
                <p:cNvPr id="21" name="Group 20">
                  <a:extLst>
                    <a:ext uri="{FF2B5EF4-FFF2-40B4-BE49-F238E27FC236}">
                      <a16:creationId xmlns:a16="http://schemas.microsoft.com/office/drawing/2014/main" id="{2B542FD5-7E16-DA80-1B3F-DB8FF18E045D}"/>
                    </a:ext>
                  </a:extLst>
                </p:cNvPr>
                <p:cNvGrpSpPr/>
                <p:nvPr/>
              </p:nvGrpSpPr>
              <p:grpSpPr>
                <a:xfrm>
                  <a:off x="0" y="936090"/>
                  <a:ext cx="12204000" cy="360000"/>
                  <a:chOff x="-2" y="2718720"/>
                  <a:chExt cx="12204000" cy="360000"/>
                </a:xfrm>
              </p:grpSpPr>
              <p:sp>
                <p:nvSpPr>
                  <p:cNvPr id="23" name="Title 63">
                    <a:extLst>
                      <a:ext uri="{FF2B5EF4-FFF2-40B4-BE49-F238E27FC236}">
                        <a16:creationId xmlns:a16="http://schemas.microsoft.com/office/drawing/2014/main" id="{09DCCA9A-A449-C707-60C1-019CF3F3A9D6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-2" y="2718720"/>
                    <a:ext cx="720000" cy="360000"/>
                  </a:xfrm>
                  <a:prstGeom prst="rect">
                    <a:avLst/>
                  </a:prstGeom>
                  <a:solidFill>
                    <a:srgbClr val="2D6A87"/>
                  </a:solidFill>
                  <a:ln w="38100">
                    <a:noFill/>
                  </a:ln>
                </p:spPr>
                <p:txBody>
                  <a:bodyPr anchor="ctr">
                    <a:normAutofit/>
                  </a:bodyPr>
                  <a:lstStyle>
                    <a:lvl1pPr algn="l" defTabSz="914400" rtl="0" eaLnBrk="1" latinLnBrk="0" hangingPunct="1">
                      <a:lnSpc>
                        <a:spcPts val="4200"/>
                      </a:lnSpc>
                      <a:spcBef>
                        <a:spcPct val="0"/>
                      </a:spcBef>
                      <a:buNone/>
                      <a:defRPr sz="3200" b="1" kern="1200">
                        <a:solidFill>
                          <a:schemeClr val="bg1"/>
                        </a:solidFill>
                        <a:latin typeface="+mj-lt"/>
                        <a:ea typeface="+mj-ea"/>
                        <a:cs typeface="+mj-cs"/>
                      </a:defRPr>
                    </a:lvl1pPr>
                  </a:lstStyle>
                  <a:p>
                    <a:pPr algn="ctr">
                      <a:lnSpc>
                        <a:spcPct val="100000"/>
                      </a:lnSpc>
                    </a:pPr>
                    <a:r>
                      <a:rPr lang="en-US" sz="1000" b="0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rPr>
                      <a:t>Home</a:t>
                    </a:r>
                  </a:p>
                </p:txBody>
              </p:sp>
              <p:grpSp>
                <p:nvGrpSpPr>
                  <p:cNvPr id="24" name="Group 23">
                    <a:extLst>
                      <a:ext uri="{FF2B5EF4-FFF2-40B4-BE49-F238E27FC236}">
                        <a16:creationId xmlns:a16="http://schemas.microsoft.com/office/drawing/2014/main" id="{95CBC515-E21D-470E-5E87-E8AAF165656C}"/>
                      </a:ext>
                    </a:extLst>
                  </p:cNvPr>
                  <p:cNvGrpSpPr/>
                  <p:nvPr/>
                </p:nvGrpSpPr>
                <p:grpSpPr>
                  <a:xfrm>
                    <a:off x="10763998" y="2718720"/>
                    <a:ext cx="1440000" cy="360000"/>
                    <a:chOff x="4102098" y="3429000"/>
                    <a:chExt cx="1440000" cy="360000"/>
                  </a:xfrm>
                </p:grpSpPr>
                <p:sp>
                  <p:nvSpPr>
                    <p:cNvPr id="27" name="Title 63">
                      <a:extLst>
                        <a:ext uri="{FF2B5EF4-FFF2-40B4-BE49-F238E27FC236}">
                          <a16:creationId xmlns:a16="http://schemas.microsoft.com/office/drawing/2014/main" id="{4BEA3911-30C3-D639-EE48-312B9F8AB3D0}"/>
                        </a:ext>
                      </a:extLst>
                    </p:cNvPr>
                    <p:cNvSpPr txBox="1">
                      <a:spLocks/>
                    </p:cNvSpPr>
                    <p:nvPr/>
                  </p:nvSpPr>
                  <p:spPr>
                    <a:xfrm>
                      <a:off x="4102098" y="3429000"/>
                      <a:ext cx="720000" cy="360000"/>
                    </a:xfrm>
                    <a:prstGeom prst="rect">
                      <a:avLst/>
                    </a:prstGeom>
                    <a:solidFill>
                      <a:srgbClr val="2D6A87"/>
                    </a:solidFill>
                    <a:ln w="38100">
                      <a:noFill/>
                    </a:ln>
                  </p:spPr>
                  <p:txBody>
                    <a:bodyPr anchor="ctr">
                      <a:normAutofit/>
                    </a:bodyPr>
                    <a:lstStyle>
                      <a:lvl1pPr algn="l" defTabSz="914400" rtl="0" eaLnBrk="1" latinLnBrk="0" hangingPunct="1">
                        <a:lnSpc>
                          <a:spcPts val="4200"/>
                        </a:lnSpc>
                        <a:spcBef>
                          <a:spcPct val="0"/>
                        </a:spcBef>
                        <a:buNone/>
                        <a:defRPr sz="3200" b="1" kern="1200">
                          <a:solidFill>
                            <a:schemeClr val="bg1"/>
                          </a:solidFill>
                          <a:latin typeface="+mj-lt"/>
                          <a:ea typeface="+mj-ea"/>
                          <a:cs typeface="+mj-cs"/>
                        </a:defRPr>
                      </a:lvl1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Help</a:t>
                      </a:r>
                    </a:p>
                  </p:txBody>
                </p:sp>
                <p:sp>
                  <p:nvSpPr>
                    <p:cNvPr id="28" name="Title 63">
                      <a:extLst>
                        <a:ext uri="{FF2B5EF4-FFF2-40B4-BE49-F238E27FC236}">
                          <a16:creationId xmlns:a16="http://schemas.microsoft.com/office/drawing/2014/main" id="{7FBB2A8F-5424-6D72-CE6E-B07CEFFFF511}"/>
                        </a:ext>
                      </a:extLst>
                    </p:cNvPr>
                    <p:cNvSpPr txBox="1">
                      <a:spLocks/>
                    </p:cNvSpPr>
                    <p:nvPr/>
                  </p:nvSpPr>
                  <p:spPr>
                    <a:xfrm>
                      <a:off x="4822098" y="3429000"/>
                      <a:ext cx="720000" cy="360000"/>
                    </a:xfrm>
                    <a:prstGeom prst="rect">
                      <a:avLst/>
                    </a:prstGeom>
                    <a:solidFill>
                      <a:srgbClr val="2D6A87"/>
                    </a:solidFill>
                    <a:ln w="38100">
                      <a:noFill/>
                    </a:ln>
                  </p:spPr>
                  <p:txBody>
                    <a:bodyPr anchor="ctr">
                      <a:normAutofit/>
                    </a:bodyPr>
                    <a:lstStyle>
                      <a:lvl1pPr algn="l" defTabSz="914400" rtl="0" eaLnBrk="1" latinLnBrk="0" hangingPunct="1">
                        <a:lnSpc>
                          <a:spcPts val="4200"/>
                        </a:lnSpc>
                        <a:spcBef>
                          <a:spcPct val="0"/>
                        </a:spcBef>
                        <a:buNone/>
                        <a:defRPr sz="3200" b="1" kern="1200">
                          <a:solidFill>
                            <a:schemeClr val="bg1"/>
                          </a:solidFill>
                          <a:latin typeface="+mj-lt"/>
                          <a:ea typeface="+mj-ea"/>
                          <a:cs typeface="+mj-cs"/>
                        </a:defRPr>
                      </a:lvl1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Logout</a:t>
                      </a:r>
                    </a:p>
                  </p:txBody>
                </p:sp>
              </p:grpSp>
              <p:sp>
                <p:nvSpPr>
                  <p:cNvPr id="26" name="Title 63">
                    <a:extLst>
                      <a:ext uri="{FF2B5EF4-FFF2-40B4-BE49-F238E27FC236}">
                        <a16:creationId xmlns:a16="http://schemas.microsoft.com/office/drawing/2014/main" id="{7146FAB2-5C57-B81E-B75F-F400C15C04EA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3595617" y="2718720"/>
                    <a:ext cx="6445306" cy="360000"/>
                  </a:xfrm>
                  <a:prstGeom prst="rect">
                    <a:avLst/>
                  </a:prstGeom>
                  <a:solidFill>
                    <a:srgbClr val="2D6A87"/>
                  </a:solidFill>
                  <a:ln w="38100">
                    <a:noFill/>
                  </a:ln>
                </p:spPr>
                <p:txBody>
                  <a:bodyPr anchor="ctr">
                    <a:normAutofit/>
                  </a:bodyPr>
                  <a:lstStyle>
                    <a:lvl1pPr algn="l" defTabSz="914400" rtl="0" eaLnBrk="1" latinLnBrk="0" hangingPunct="1">
                      <a:lnSpc>
                        <a:spcPts val="4200"/>
                      </a:lnSpc>
                      <a:spcBef>
                        <a:spcPct val="0"/>
                      </a:spcBef>
                      <a:buNone/>
                      <a:defRPr sz="3200" b="1" kern="1200">
                        <a:solidFill>
                          <a:schemeClr val="bg1"/>
                        </a:solidFill>
                        <a:latin typeface="+mj-lt"/>
                        <a:ea typeface="+mj-ea"/>
                        <a:cs typeface="+mj-cs"/>
                      </a:defRPr>
                    </a:lvl1pPr>
                  </a:lstStyle>
                  <a:p>
                    <a:pPr>
                      <a:lnSpc>
                        <a:spcPct val="100000"/>
                      </a:lnSpc>
                    </a:pPr>
                    <a:endParaRPr lang="en-US" sz="1000" b="0" dirty="0">
                      <a:solidFill>
                        <a:schemeClr val="tx2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+mn-cs"/>
                    </a:endParaRPr>
                  </a:p>
                </p:txBody>
              </p:sp>
            </p:grpSp>
            <p:sp>
              <p:nvSpPr>
                <p:cNvPr id="22" name="Title 63">
                  <a:extLst>
                    <a:ext uri="{FF2B5EF4-FFF2-40B4-BE49-F238E27FC236}">
                      <a16:creationId xmlns:a16="http://schemas.microsoft.com/office/drawing/2014/main" id="{32693D0A-B472-BB52-7AD5-55F6602D55A1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720000" y="936090"/>
                  <a:ext cx="720000" cy="360000"/>
                </a:xfrm>
                <a:prstGeom prst="rect">
                  <a:avLst/>
                </a:prstGeom>
                <a:solidFill>
                  <a:srgbClr val="2D6A87"/>
                </a:solidFill>
                <a:ln w="38100">
                  <a:noFill/>
                </a:ln>
              </p:spPr>
              <p:txBody>
                <a:bodyPr anchor="ctr">
                  <a:normAutofit fontScale="92500" lnSpcReduction="10000"/>
                </a:bodyPr>
                <a:lstStyle>
                  <a:lvl1pPr algn="l" defTabSz="914400" rtl="0" eaLnBrk="1" latinLnBrk="0" hangingPunct="1">
                    <a:lnSpc>
                      <a:spcPts val="4200"/>
                    </a:lnSpc>
                    <a:spcBef>
                      <a:spcPct val="0"/>
                    </a:spcBef>
                    <a:buNone/>
                    <a:defRPr sz="3200" b="1" kern="1200">
                      <a:solidFill>
                        <a:schemeClr val="bg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:pPr algn="ctr">
                    <a:lnSpc>
                      <a:spcPct val="100000"/>
                    </a:lnSpc>
                  </a:pPr>
                  <a:r>
                    <a:rPr lang="en-US" sz="1000" b="0" dirty="0">
                      <a:solidFill>
                        <a:schemeClr val="tx2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+mn-cs"/>
                    </a:rPr>
                    <a:t>Asset Register</a:t>
                  </a:r>
                </a:p>
              </p:txBody>
            </p:sp>
          </p:grpSp>
          <p:sp>
            <p:nvSpPr>
              <p:cNvPr id="20" name="Title 63">
                <a:extLst>
                  <a:ext uri="{FF2B5EF4-FFF2-40B4-BE49-F238E27FC236}">
                    <a16:creationId xmlns:a16="http://schemas.microsoft.com/office/drawing/2014/main" id="{C3496740-8089-4A3E-2517-8A80F790852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040924" y="934984"/>
                <a:ext cx="720000" cy="360000"/>
              </a:xfrm>
              <a:prstGeom prst="rect">
                <a:avLst/>
              </a:prstGeom>
              <a:solidFill>
                <a:srgbClr val="2D6A87"/>
              </a:solidFill>
              <a:ln w="38100">
                <a:noFill/>
              </a:ln>
            </p:spPr>
            <p:txBody>
              <a:bodyPr anchor="ctr">
                <a:normAutofit fontScale="92500" lnSpcReduction="10000"/>
              </a:bodyPr>
              <a:lstStyle>
                <a:lvl1pPr algn="l" defTabSz="914400" rtl="0" eaLnBrk="1" latinLnBrk="0" hangingPunct="1">
                  <a:lnSpc>
                    <a:spcPts val="4200"/>
                  </a:lnSpc>
                  <a:spcBef>
                    <a:spcPct val="0"/>
                  </a:spcBef>
                  <a:buNone/>
                  <a:defRPr sz="3200" b="1" kern="1200">
                    <a:solidFill>
                      <a:schemeClr val="bg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00000"/>
                  </a:lnSpc>
                </a:pPr>
                <a:r>
                  <a:rPr lang="en-US" sz="1000" b="0" dirty="0">
                    <a:solidFill>
                      <a:schemeClr val="tx2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rPr>
                  <a:t>Account Manager</a:t>
                </a:r>
              </a:p>
            </p:txBody>
          </p:sp>
        </p:grpSp>
        <p:sp>
          <p:nvSpPr>
            <p:cNvPr id="16" name="Title 63">
              <a:extLst>
                <a:ext uri="{FF2B5EF4-FFF2-40B4-BE49-F238E27FC236}">
                  <a16:creationId xmlns:a16="http://schemas.microsoft.com/office/drawing/2014/main" id="{0B959251-4BEA-DFB4-A5C0-08B3B395017D}"/>
                </a:ext>
              </a:extLst>
            </p:cNvPr>
            <p:cNvSpPr txBox="1">
              <a:spLocks/>
            </p:cNvSpPr>
            <p:nvPr/>
          </p:nvSpPr>
          <p:spPr>
            <a:xfrm>
              <a:off x="1437809" y="932141"/>
              <a:ext cx="1440000" cy="360000"/>
            </a:xfrm>
            <a:prstGeom prst="rect">
              <a:avLst/>
            </a:prstGeom>
            <a:solidFill>
              <a:srgbClr val="2D6A87"/>
            </a:solidFill>
            <a:ln w="38100">
              <a:noFill/>
            </a:ln>
          </p:spPr>
          <p:txBody>
            <a:bodyPr anchor="ctr">
              <a:normAutofit fontScale="92500" lnSpcReduction="10000"/>
            </a:bodyPr>
            <a:lstStyle>
              <a:lvl1pPr algn="l" defTabSz="914400" rtl="0" eaLnBrk="1" latinLnBrk="0" hangingPunct="1">
                <a:lnSpc>
                  <a:spcPts val="4200"/>
                </a:lnSpc>
                <a:spcBef>
                  <a:spcPct val="0"/>
                </a:spcBef>
                <a:buNone/>
                <a:defRPr sz="3200" b="1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>
                <a:lnSpc>
                  <a:spcPct val="100000"/>
                </a:lnSpc>
              </a:pPr>
              <a:r>
                <a:rPr lang="en-US" sz="1000" b="0" dirty="0">
                  <a:solidFill>
                    <a:schemeClr val="tx2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Risk Based Inspection Planning</a:t>
              </a:r>
            </a:p>
          </p:txBody>
        </p:sp>
        <p:sp>
          <p:nvSpPr>
            <p:cNvPr id="17" name="Title 63">
              <a:extLst>
                <a:ext uri="{FF2B5EF4-FFF2-40B4-BE49-F238E27FC236}">
                  <a16:creationId xmlns:a16="http://schemas.microsoft.com/office/drawing/2014/main" id="{885E539F-8E2A-1D34-E8A5-80E577FA6A85}"/>
                </a:ext>
              </a:extLst>
            </p:cNvPr>
            <p:cNvSpPr txBox="1">
              <a:spLocks/>
            </p:cNvSpPr>
            <p:nvPr/>
          </p:nvSpPr>
          <p:spPr>
            <a:xfrm>
              <a:off x="2877809" y="932141"/>
              <a:ext cx="720000" cy="360000"/>
            </a:xfrm>
            <a:prstGeom prst="rect">
              <a:avLst/>
            </a:prstGeom>
            <a:solidFill>
              <a:srgbClr val="2D6A87"/>
            </a:solidFill>
            <a:ln w="38100">
              <a:noFill/>
            </a:ln>
          </p:spPr>
          <p:txBody>
            <a:bodyPr anchor="ctr">
              <a:normAutofit fontScale="92500" lnSpcReduction="10000"/>
            </a:bodyPr>
            <a:lstStyle>
              <a:lvl1pPr algn="l" defTabSz="914400" rtl="0" eaLnBrk="1" latinLnBrk="0" hangingPunct="1">
                <a:lnSpc>
                  <a:spcPts val="4200"/>
                </a:lnSpc>
                <a:spcBef>
                  <a:spcPct val="0"/>
                </a:spcBef>
                <a:buNone/>
                <a:defRPr sz="3200" b="1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>
                <a:lnSpc>
                  <a:spcPct val="100000"/>
                </a:lnSpc>
              </a:pPr>
              <a:r>
                <a:rPr lang="en-US" sz="1000" b="0" dirty="0">
                  <a:solidFill>
                    <a:schemeClr val="tx2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Add</a:t>
              </a:r>
            </a:p>
            <a:p>
              <a:pPr algn="ctr">
                <a:lnSpc>
                  <a:spcPct val="100000"/>
                </a:lnSpc>
              </a:pPr>
              <a:r>
                <a:rPr lang="en-US" sz="1000" b="0" dirty="0">
                  <a:solidFill>
                    <a:schemeClr val="tx2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Module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84950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8215C2-9ADF-AF85-C9EB-A5DE22363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3">
            <a:extLst>
              <a:ext uri="{FF2B5EF4-FFF2-40B4-BE49-F238E27FC236}">
                <a16:creationId xmlns:a16="http://schemas.microsoft.com/office/drawing/2014/main" id="{A70C0B17-93E2-0B8C-7AC1-1726B4F5FFBF}"/>
              </a:ext>
            </a:extLst>
          </p:cNvPr>
          <p:cNvSpPr txBox="1">
            <a:spLocks/>
          </p:cNvSpPr>
          <p:nvPr/>
        </p:nvSpPr>
        <p:spPr>
          <a:xfrm>
            <a:off x="636785" y="340011"/>
            <a:ext cx="4042488" cy="525752"/>
          </a:xfrm>
          <a:prstGeom prst="rect">
            <a:avLst/>
          </a:prstGeom>
          <a:noFill/>
          <a:ln w="38100">
            <a:noFill/>
          </a:ln>
        </p:spPr>
        <p:txBody>
          <a:bodyPr anchor="t">
            <a:no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200" b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Label	: Condition</a:t>
            </a:r>
          </a:p>
          <a:p>
            <a:pPr>
              <a:lnSpc>
                <a:spcPct val="100000"/>
              </a:lnSpc>
            </a:pPr>
            <a:r>
              <a:rPr lang="en-US" sz="1200" b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Feature:	: Drop Down Selection and color code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157F7E-0A31-AB16-4F25-C243C2D706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785" y="1574468"/>
            <a:ext cx="360000" cy="323076"/>
          </a:xfrm>
          <a:prstGeom prst="ellipse">
            <a:avLst/>
          </a:prstGeom>
          <a:ln w="3175" cap="rnd">
            <a:solidFill>
              <a:srgbClr val="00B050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74799D6-43BB-8990-A178-23C3F1CC8F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6974002"/>
              </p:ext>
            </p:extLst>
          </p:nvPr>
        </p:nvGraphicFramePr>
        <p:xfrm>
          <a:off x="636785" y="1173614"/>
          <a:ext cx="2311795" cy="80170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97040">
                  <a:extLst>
                    <a:ext uri="{9D8B030D-6E8A-4147-A177-3AD203B41FA5}">
                      <a16:colId xmlns:a16="http://schemas.microsoft.com/office/drawing/2014/main" val="1360728645"/>
                    </a:ext>
                  </a:extLst>
                </a:gridCol>
                <a:gridCol w="1214755">
                  <a:extLst>
                    <a:ext uri="{9D8B030D-6E8A-4147-A177-3AD203B41FA5}">
                      <a16:colId xmlns:a16="http://schemas.microsoft.com/office/drawing/2014/main" val="2423881929"/>
                    </a:ext>
                  </a:extLst>
                </a:gridCol>
              </a:tblGrid>
              <a:tr h="193446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Date of Inspection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&lt;Date&gt;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3287019"/>
                  </a:ext>
                </a:extLst>
              </a:tr>
              <a:tr h="193446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Inspector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&lt;Text&gt;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1649554"/>
                  </a:ext>
                </a:extLst>
              </a:tr>
              <a:tr h="193446">
                <a:tc>
                  <a:txBody>
                    <a:bodyPr/>
                    <a:lstStyle/>
                    <a:p>
                      <a:r>
                        <a:rPr lang="en-US" sz="700" dirty="0">
                          <a:highlight>
                            <a:srgbClr val="00FFFF"/>
                          </a:highlight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Condition</a:t>
                      </a:r>
                      <a:endParaRPr lang="en-ID" sz="700" dirty="0">
                        <a:highlight>
                          <a:srgbClr val="00FFFF"/>
                        </a:highlight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highlight>
                            <a:srgbClr val="00FFFF"/>
                          </a:highlight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&lt;Condition Selection&gt;</a:t>
                      </a:r>
                      <a:endParaRPr lang="en-ID" sz="700" dirty="0">
                        <a:highlight>
                          <a:srgbClr val="00FFFF"/>
                        </a:highlight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0242237"/>
                  </a:ext>
                </a:extLst>
              </a:tr>
              <a:tr h="207349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Comment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&lt;Text&gt;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125046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6DC7D3C-2232-BBCD-5546-F11C5D9F43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4204048"/>
              </p:ext>
            </p:extLst>
          </p:nvPr>
        </p:nvGraphicFramePr>
        <p:xfrm>
          <a:off x="636785" y="2376177"/>
          <a:ext cx="2249054" cy="6282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28533">
                  <a:extLst>
                    <a:ext uri="{9D8B030D-6E8A-4147-A177-3AD203B41FA5}">
                      <a16:colId xmlns:a16="http://schemas.microsoft.com/office/drawing/2014/main" val="3618824520"/>
                    </a:ext>
                  </a:extLst>
                </a:gridCol>
                <a:gridCol w="820521">
                  <a:extLst>
                    <a:ext uri="{9D8B030D-6E8A-4147-A177-3AD203B41FA5}">
                      <a16:colId xmlns:a16="http://schemas.microsoft.com/office/drawing/2014/main" val="2813338458"/>
                    </a:ext>
                  </a:extLst>
                </a:gridCol>
              </a:tblGrid>
              <a:tr h="7911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Condition Selection</a:t>
                      </a:r>
                      <a:endParaRPr lang="en-ID" sz="10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Color Code</a:t>
                      </a:r>
                      <a:endParaRPr lang="en-ID" sz="10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4657981"/>
                  </a:ext>
                </a:extLst>
              </a:tr>
              <a:tr h="791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Good</a:t>
                      </a:r>
                      <a:endParaRPr lang="en-ID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D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7355071"/>
                  </a:ext>
                </a:extLst>
              </a:tr>
              <a:tr h="791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Fair</a:t>
                      </a:r>
                      <a:endParaRPr lang="en-ID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D" sz="10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00FFFF"/>
                        </a:highlight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7533811"/>
                  </a:ext>
                </a:extLst>
              </a:tr>
              <a:tr h="791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Poor</a:t>
                      </a:r>
                      <a:endParaRPr lang="en-ID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D" sz="10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00FFFF"/>
                        </a:highlight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4654" marR="4654" marT="4654" marB="0" anchor="b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99245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19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DE074-4BBD-DE13-E1E2-78AA0E4A8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itle 63">
            <a:extLst>
              <a:ext uri="{FF2B5EF4-FFF2-40B4-BE49-F238E27FC236}">
                <a16:creationId xmlns:a16="http://schemas.microsoft.com/office/drawing/2014/main" id="{594DCA13-92FD-CE8D-5552-E46DDCF5A047}"/>
              </a:ext>
            </a:extLst>
          </p:cNvPr>
          <p:cNvSpPr txBox="1">
            <a:spLocks/>
          </p:cNvSpPr>
          <p:nvPr/>
        </p:nvSpPr>
        <p:spPr>
          <a:xfrm>
            <a:off x="0" y="1462924"/>
            <a:ext cx="2152665" cy="5395076"/>
          </a:xfrm>
          <a:prstGeom prst="rect">
            <a:avLst/>
          </a:prstGeom>
          <a:noFill/>
          <a:ln w="19050">
            <a:solidFill>
              <a:srgbClr val="2D6A87"/>
            </a:solidFill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endParaRPr lang="en-US" sz="1000" b="0" dirty="0">
              <a:solidFill>
                <a:schemeClr val="tx2"/>
              </a:solidFill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2" name="Title 63">
            <a:extLst>
              <a:ext uri="{FF2B5EF4-FFF2-40B4-BE49-F238E27FC236}">
                <a16:creationId xmlns:a16="http://schemas.microsoft.com/office/drawing/2014/main" id="{C49D59BF-2B8B-3030-80E6-4B63AE18B233}"/>
              </a:ext>
            </a:extLst>
          </p:cNvPr>
          <p:cNvSpPr txBox="1">
            <a:spLocks/>
          </p:cNvSpPr>
          <p:nvPr/>
        </p:nvSpPr>
        <p:spPr>
          <a:xfrm>
            <a:off x="-1" y="10690"/>
            <a:ext cx="12192001" cy="900000"/>
          </a:xfrm>
          <a:prstGeom prst="rect">
            <a:avLst/>
          </a:prstGeom>
          <a:solidFill>
            <a:schemeClr val="tx2"/>
          </a:solidFill>
          <a:ln w="3810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2D6A87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Structural Integrity Management System (SIMS)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468157-0E33-A2FC-0FCE-BAD47D1D0F23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2836" r="22678"/>
          <a:stretch>
            <a:fillRect/>
          </a:stretch>
        </p:blipFill>
        <p:spPr>
          <a:xfrm>
            <a:off x="174883" y="103675"/>
            <a:ext cx="691633" cy="714030"/>
          </a:xfrm>
          <a:prstGeom prst="rect">
            <a:avLst/>
          </a:prstGeom>
        </p:spPr>
      </p:pic>
      <p:sp>
        <p:nvSpPr>
          <p:cNvPr id="25" name="Title 63">
            <a:extLst>
              <a:ext uri="{FF2B5EF4-FFF2-40B4-BE49-F238E27FC236}">
                <a16:creationId xmlns:a16="http://schemas.microsoft.com/office/drawing/2014/main" id="{4389A753-C843-A7B1-43ED-6F73A25F6F0A}"/>
              </a:ext>
            </a:extLst>
          </p:cNvPr>
          <p:cNvSpPr txBox="1">
            <a:spLocks/>
          </p:cNvSpPr>
          <p:nvPr/>
        </p:nvSpPr>
        <p:spPr>
          <a:xfrm>
            <a:off x="0" y="1449533"/>
            <a:ext cx="2160000" cy="360000"/>
          </a:xfrm>
          <a:prstGeom prst="rect">
            <a:avLst/>
          </a:prstGeom>
          <a:solidFill>
            <a:srgbClr val="2D6A87"/>
          </a:solidFill>
          <a:ln w="3810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000" b="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Asset Tree </a:t>
            </a:r>
          </a:p>
        </p:txBody>
      </p:sp>
      <p:sp>
        <p:nvSpPr>
          <p:cNvPr id="31" name="Title 63">
            <a:extLst>
              <a:ext uri="{FF2B5EF4-FFF2-40B4-BE49-F238E27FC236}">
                <a16:creationId xmlns:a16="http://schemas.microsoft.com/office/drawing/2014/main" id="{9E18C85F-F730-D0ED-FA95-5CFBC8841300}"/>
              </a:ext>
            </a:extLst>
          </p:cNvPr>
          <p:cNvSpPr txBox="1">
            <a:spLocks/>
          </p:cNvSpPr>
          <p:nvPr/>
        </p:nvSpPr>
        <p:spPr>
          <a:xfrm>
            <a:off x="0" y="1809532"/>
            <a:ext cx="2160000" cy="5037778"/>
          </a:xfrm>
          <a:prstGeom prst="rect">
            <a:avLst/>
          </a:prstGeom>
          <a:noFill/>
          <a:ln w="38100">
            <a:noFill/>
          </a:ln>
        </p:spPr>
        <p:txBody>
          <a:bodyPr anchor="t">
            <a:no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 Gas Purification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&gt;</a:t>
            </a: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Plant 2 Dehydration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&gt;</a:t>
            </a: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Plant 3 Fractionation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4 Refrigeration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5 Liquefaction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6 Condensate Stripping ...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15 LPG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16 Condensate Stabilize ... 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17 LPG Storage and Loa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highlight>
                  <a:srgbClr val="6E98A7"/>
                </a:highlight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17D-1/Q-1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17D-2/Q-1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17D-3/Q-1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17D-4/Q-1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17D-5/Q-1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+ add asset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19 Relief &amp; Blowdown S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20 Condensate Storage ...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20D-4/Q-1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     20D-5/Q-1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     20D-6/Q-1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+ add asset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21 Feed Gas Knockout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22 Marine Structures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24 LNG Storage and Loa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25 Fueling Facility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26 LPG Filling Station … &gt;Propane and Butane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27 Oxygen Plant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28 Acetylene Plant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29 Nitrogen Generation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30 Electrical </a:t>
            </a:r>
            <a:r>
              <a:rPr lang="en-US" sz="8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Distributio</a:t>
            </a: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31 Steam &amp; Power Gen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32 Seawater Cooling 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33 Fire Protection System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34 Liquid Waste System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35 Compressed Air System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36 Water Treatment Sy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37 Communication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+ add Plant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CBB0277-EE1D-B14E-32C5-2E0048EEB412}"/>
              </a:ext>
            </a:extLst>
          </p:cNvPr>
          <p:cNvGrpSpPr/>
          <p:nvPr/>
        </p:nvGrpSpPr>
        <p:grpSpPr>
          <a:xfrm>
            <a:off x="216151" y="3948414"/>
            <a:ext cx="73594" cy="324419"/>
            <a:chOff x="216151" y="3221023"/>
            <a:chExt cx="73594" cy="324419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CD623EDF-5559-3E58-416E-7B6F838D5A8D}"/>
                </a:ext>
              </a:extLst>
            </p:cNvPr>
            <p:cNvSpPr/>
            <p:nvPr/>
          </p:nvSpPr>
          <p:spPr>
            <a:xfrm>
              <a:off x="217745" y="3346913"/>
              <a:ext cx="72000" cy="72000"/>
            </a:xfrm>
            <a:prstGeom prst="rect">
              <a:avLst/>
            </a:prstGeom>
            <a:solidFill>
              <a:schemeClr val="bg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822B4167-8D3E-C157-7FB7-05EC8FFEBC5E}"/>
                </a:ext>
              </a:extLst>
            </p:cNvPr>
            <p:cNvSpPr/>
            <p:nvPr/>
          </p:nvSpPr>
          <p:spPr>
            <a:xfrm>
              <a:off x="217745" y="3473442"/>
              <a:ext cx="72000" cy="72000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1E39C0E1-B8DC-723C-3917-956B5D4F27E9}"/>
                </a:ext>
              </a:extLst>
            </p:cNvPr>
            <p:cNvSpPr/>
            <p:nvPr/>
          </p:nvSpPr>
          <p:spPr>
            <a:xfrm>
              <a:off x="216151" y="3221023"/>
              <a:ext cx="72000" cy="720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sp>
        <p:nvSpPr>
          <p:cNvPr id="7" name="Title 63">
            <a:extLst>
              <a:ext uri="{FF2B5EF4-FFF2-40B4-BE49-F238E27FC236}">
                <a16:creationId xmlns:a16="http://schemas.microsoft.com/office/drawing/2014/main" id="{B588632F-3C20-BBAF-1BD3-77B3D75B9F5A}"/>
              </a:ext>
            </a:extLst>
          </p:cNvPr>
          <p:cNvSpPr txBox="1">
            <a:spLocks/>
          </p:cNvSpPr>
          <p:nvPr/>
        </p:nvSpPr>
        <p:spPr>
          <a:xfrm>
            <a:off x="2176858" y="1449533"/>
            <a:ext cx="1800000" cy="360000"/>
          </a:xfrm>
          <a:prstGeom prst="rect">
            <a:avLst/>
          </a:prstGeom>
          <a:solidFill>
            <a:srgbClr val="2D6A87"/>
          </a:solidFill>
          <a:ln w="3810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1000" b="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17D-1/Q-1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01506A49-E9A4-D791-B373-10463AA05A4F}"/>
              </a:ext>
            </a:extLst>
          </p:cNvPr>
          <p:cNvGrpSpPr/>
          <p:nvPr/>
        </p:nvGrpSpPr>
        <p:grpSpPr>
          <a:xfrm>
            <a:off x="214557" y="2975994"/>
            <a:ext cx="73594" cy="324419"/>
            <a:chOff x="216151" y="3221023"/>
            <a:chExt cx="73594" cy="324419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94C40DD2-1B07-CBD4-9280-C4A53B3B11B4}"/>
                </a:ext>
              </a:extLst>
            </p:cNvPr>
            <p:cNvSpPr/>
            <p:nvPr/>
          </p:nvSpPr>
          <p:spPr>
            <a:xfrm>
              <a:off x="217745" y="3346913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8AE62CB7-04FF-7166-D110-1DA5DFD6E6E8}"/>
                </a:ext>
              </a:extLst>
            </p:cNvPr>
            <p:cNvSpPr/>
            <p:nvPr/>
          </p:nvSpPr>
          <p:spPr>
            <a:xfrm>
              <a:off x="217745" y="3473442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FED7F443-B165-5E3F-C529-9B358CE2E1DB}"/>
                </a:ext>
              </a:extLst>
            </p:cNvPr>
            <p:cNvSpPr/>
            <p:nvPr/>
          </p:nvSpPr>
          <p:spPr>
            <a:xfrm>
              <a:off x="216151" y="3221023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A4EB6301-E5FD-7DC2-D31B-593F1F73574D}"/>
              </a:ext>
            </a:extLst>
          </p:cNvPr>
          <p:cNvGrpSpPr/>
          <p:nvPr/>
        </p:nvGrpSpPr>
        <p:grpSpPr>
          <a:xfrm>
            <a:off x="214557" y="3346544"/>
            <a:ext cx="73594" cy="197890"/>
            <a:chOff x="216151" y="3221023"/>
            <a:chExt cx="73594" cy="197890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6CE5097D-B082-9E1A-076F-4BEF38F39D02}"/>
                </a:ext>
              </a:extLst>
            </p:cNvPr>
            <p:cNvSpPr/>
            <p:nvPr/>
          </p:nvSpPr>
          <p:spPr>
            <a:xfrm>
              <a:off x="217745" y="3346913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1094C24A-6AEA-AF53-C5B7-2A7614A7E537}"/>
                </a:ext>
              </a:extLst>
            </p:cNvPr>
            <p:cNvSpPr/>
            <p:nvPr/>
          </p:nvSpPr>
          <p:spPr>
            <a:xfrm>
              <a:off x="216151" y="3221023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D339D1AF-35AD-5089-0CA1-C0E2ED709619}"/>
              </a:ext>
            </a:extLst>
          </p:cNvPr>
          <p:cNvGrpSpPr/>
          <p:nvPr/>
        </p:nvGrpSpPr>
        <p:grpSpPr>
          <a:xfrm>
            <a:off x="0" y="934984"/>
            <a:ext cx="12204000" cy="361106"/>
            <a:chOff x="0" y="934984"/>
            <a:chExt cx="12204000" cy="361106"/>
          </a:xfrm>
        </p:grpSpPr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F9225585-73FB-0ABB-EF6D-E6CB6C95BDE1}"/>
                </a:ext>
              </a:extLst>
            </p:cNvPr>
            <p:cNvGrpSpPr/>
            <p:nvPr/>
          </p:nvGrpSpPr>
          <p:grpSpPr>
            <a:xfrm>
              <a:off x="0" y="936090"/>
              <a:ext cx="12204000" cy="360000"/>
              <a:chOff x="0" y="936090"/>
              <a:chExt cx="12204000" cy="360000"/>
            </a:xfrm>
          </p:grpSpPr>
          <p:grpSp>
            <p:nvGrpSpPr>
              <p:cNvPr id="72" name="Group 71">
                <a:extLst>
                  <a:ext uri="{FF2B5EF4-FFF2-40B4-BE49-F238E27FC236}">
                    <a16:creationId xmlns:a16="http://schemas.microsoft.com/office/drawing/2014/main" id="{10F5A61D-2C74-41D2-07DB-E69AE6887660}"/>
                  </a:ext>
                </a:extLst>
              </p:cNvPr>
              <p:cNvGrpSpPr/>
              <p:nvPr/>
            </p:nvGrpSpPr>
            <p:grpSpPr>
              <a:xfrm>
                <a:off x="0" y="936090"/>
                <a:ext cx="12204000" cy="360000"/>
                <a:chOff x="-2" y="2718720"/>
                <a:chExt cx="12204000" cy="360000"/>
              </a:xfrm>
            </p:grpSpPr>
            <p:sp>
              <p:nvSpPr>
                <p:cNvPr id="75" name="Title 63">
                  <a:extLst>
                    <a:ext uri="{FF2B5EF4-FFF2-40B4-BE49-F238E27FC236}">
                      <a16:creationId xmlns:a16="http://schemas.microsoft.com/office/drawing/2014/main" id="{619E9A72-CEF7-2844-2E5C-EF475D655134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-2" y="2718720"/>
                  <a:ext cx="720000" cy="360000"/>
                </a:xfrm>
                <a:prstGeom prst="rect">
                  <a:avLst/>
                </a:prstGeom>
                <a:solidFill>
                  <a:srgbClr val="2D6A87"/>
                </a:solidFill>
                <a:ln w="38100">
                  <a:noFill/>
                </a:ln>
              </p:spPr>
              <p:txBody>
                <a:bodyPr anchor="ctr">
                  <a:normAutofit/>
                </a:bodyPr>
                <a:lstStyle>
                  <a:lvl1pPr algn="l" defTabSz="914400" rtl="0" eaLnBrk="1" latinLnBrk="0" hangingPunct="1">
                    <a:lnSpc>
                      <a:spcPts val="4200"/>
                    </a:lnSpc>
                    <a:spcBef>
                      <a:spcPct val="0"/>
                    </a:spcBef>
                    <a:buNone/>
                    <a:defRPr sz="3200" b="1" kern="1200">
                      <a:solidFill>
                        <a:schemeClr val="bg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:pPr algn="ctr">
                    <a:lnSpc>
                      <a:spcPct val="100000"/>
                    </a:lnSpc>
                  </a:pPr>
                  <a:r>
                    <a:rPr lang="en-US" sz="1000" b="0" dirty="0">
                      <a:solidFill>
                        <a:schemeClr val="tx2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+mn-cs"/>
                    </a:rPr>
                    <a:t>Home</a:t>
                  </a:r>
                </a:p>
              </p:txBody>
            </p:sp>
            <p:grpSp>
              <p:nvGrpSpPr>
                <p:cNvPr id="77" name="Group 76">
                  <a:extLst>
                    <a:ext uri="{FF2B5EF4-FFF2-40B4-BE49-F238E27FC236}">
                      <a16:creationId xmlns:a16="http://schemas.microsoft.com/office/drawing/2014/main" id="{60ECA284-C293-0798-C747-F520C538E8A4}"/>
                    </a:ext>
                  </a:extLst>
                </p:cNvPr>
                <p:cNvGrpSpPr/>
                <p:nvPr/>
              </p:nvGrpSpPr>
              <p:grpSpPr>
                <a:xfrm>
                  <a:off x="10763998" y="2718720"/>
                  <a:ext cx="1440000" cy="360000"/>
                  <a:chOff x="4102098" y="3429000"/>
                  <a:chExt cx="1440000" cy="360000"/>
                </a:xfrm>
              </p:grpSpPr>
              <p:sp>
                <p:nvSpPr>
                  <p:cNvPr id="79" name="Title 63">
                    <a:extLst>
                      <a:ext uri="{FF2B5EF4-FFF2-40B4-BE49-F238E27FC236}">
                        <a16:creationId xmlns:a16="http://schemas.microsoft.com/office/drawing/2014/main" id="{560036FF-6302-557F-FE51-B8D9CA9FA165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4102098" y="3429000"/>
                    <a:ext cx="720000" cy="360000"/>
                  </a:xfrm>
                  <a:prstGeom prst="rect">
                    <a:avLst/>
                  </a:prstGeom>
                  <a:solidFill>
                    <a:srgbClr val="2D6A87"/>
                  </a:solidFill>
                  <a:ln w="38100">
                    <a:noFill/>
                  </a:ln>
                </p:spPr>
                <p:txBody>
                  <a:bodyPr anchor="ctr">
                    <a:normAutofit/>
                  </a:bodyPr>
                  <a:lstStyle>
                    <a:lvl1pPr algn="l" defTabSz="914400" rtl="0" eaLnBrk="1" latinLnBrk="0" hangingPunct="1">
                      <a:lnSpc>
                        <a:spcPts val="4200"/>
                      </a:lnSpc>
                      <a:spcBef>
                        <a:spcPct val="0"/>
                      </a:spcBef>
                      <a:buNone/>
                      <a:defRPr sz="3200" b="1" kern="1200">
                        <a:solidFill>
                          <a:schemeClr val="bg1"/>
                        </a:solidFill>
                        <a:latin typeface="+mj-lt"/>
                        <a:ea typeface="+mj-ea"/>
                        <a:cs typeface="+mj-cs"/>
                      </a:defRPr>
                    </a:lvl1pPr>
                  </a:lstStyle>
                  <a:p>
                    <a:pPr algn="ctr">
                      <a:lnSpc>
                        <a:spcPct val="100000"/>
                      </a:lnSpc>
                    </a:pPr>
                    <a:r>
                      <a:rPr lang="en-US" sz="1000" b="0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rPr>
                      <a:t>Help</a:t>
                    </a:r>
                  </a:p>
                </p:txBody>
              </p:sp>
              <p:sp>
                <p:nvSpPr>
                  <p:cNvPr id="80" name="Title 63">
                    <a:extLst>
                      <a:ext uri="{FF2B5EF4-FFF2-40B4-BE49-F238E27FC236}">
                        <a16:creationId xmlns:a16="http://schemas.microsoft.com/office/drawing/2014/main" id="{C24E5E73-4F0D-AFAA-B1FE-C64208397511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4822098" y="3429000"/>
                    <a:ext cx="720000" cy="360000"/>
                  </a:xfrm>
                  <a:prstGeom prst="rect">
                    <a:avLst/>
                  </a:prstGeom>
                  <a:solidFill>
                    <a:srgbClr val="2D6A87"/>
                  </a:solidFill>
                  <a:ln w="38100">
                    <a:noFill/>
                  </a:ln>
                </p:spPr>
                <p:txBody>
                  <a:bodyPr anchor="ctr">
                    <a:normAutofit/>
                  </a:bodyPr>
                  <a:lstStyle>
                    <a:lvl1pPr algn="l" defTabSz="914400" rtl="0" eaLnBrk="1" latinLnBrk="0" hangingPunct="1">
                      <a:lnSpc>
                        <a:spcPts val="4200"/>
                      </a:lnSpc>
                      <a:spcBef>
                        <a:spcPct val="0"/>
                      </a:spcBef>
                      <a:buNone/>
                      <a:defRPr sz="3200" b="1" kern="1200">
                        <a:solidFill>
                          <a:schemeClr val="bg1"/>
                        </a:solidFill>
                        <a:latin typeface="+mj-lt"/>
                        <a:ea typeface="+mj-ea"/>
                        <a:cs typeface="+mj-cs"/>
                      </a:defRPr>
                    </a:lvl1pPr>
                  </a:lstStyle>
                  <a:p>
                    <a:pPr algn="ctr">
                      <a:lnSpc>
                        <a:spcPct val="100000"/>
                      </a:lnSpc>
                    </a:pPr>
                    <a:r>
                      <a:rPr lang="en-US" sz="1000" b="0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rPr>
                      <a:t>Logout</a:t>
                    </a:r>
                  </a:p>
                </p:txBody>
              </p:sp>
            </p:grpSp>
            <p:sp>
              <p:nvSpPr>
                <p:cNvPr id="78" name="Title 63">
                  <a:extLst>
                    <a:ext uri="{FF2B5EF4-FFF2-40B4-BE49-F238E27FC236}">
                      <a16:creationId xmlns:a16="http://schemas.microsoft.com/office/drawing/2014/main" id="{6A5906FA-9EAA-5D04-7873-8E78E816BDC8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439998" y="2718720"/>
                  <a:ext cx="8600924" cy="360000"/>
                </a:xfrm>
                <a:prstGeom prst="rect">
                  <a:avLst/>
                </a:prstGeom>
                <a:solidFill>
                  <a:srgbClr val="2D6A87"/>
                </a:solidFill>
                <a:ln w="38100">
                  <a:noFill/>
                </a:ln>
              </p:spPr>
              <p:txBody>
                <a:bodyPr anchor="ctr">
                  <a:normAutofit/>
                </a:bodyPr>
                <a:lstStyle>
                  <a:lvl1pPr algn="l" defTabSz="914400" rtl="0" eaLnBrk="1" latinLnBrk="0" hangingPunct="1">
                    <a:lnSpc>
                      <a:spcPts val="4200"/>
                    </a:lnSpc>
                    <a:spcBef>
                      <a:spcPct val="0"/>
                    </a:spcBef>
                    <a:buNone/>
                    <a:defRPr sz="3200" b="1" kern="1200">
                      <a:solidFill>
                        <a:schemeClr val="bg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:pPr>
                    <a:lnSpc>
                      <a:spcPct val="100000"/>
                    </a:lnSpc>
                  </a:pPr>
                  <a:endParaRPr lang="en-US" sz="1000" b="0" dirty="0">
                    <a:solidFill>
                      <a:schemeClr val="tx2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endParaRPr>
                </a:p>
              </p:txBody>
            </p:sp>
          </p:grpSp>
          <p:sp>
            <p:nvSpPr>
              <p:cNvPr id="73" name="Title 63">
                <a:extLst>
                  <a:ext uri="{FF2B5EF4-FFF2-40B4-BE49-F238E27FC236}">
                    <a16:creationId xmlns:a16="http://schemas.microsoft.com/office/drawing/2014/main" id="{C5DDF962-9CD5-5AD2-5BA2-D258A68B2D7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20000" y="936090"/>
                <a:ext cx="720000" cy="360000"/>
              </a:xfrm>
              <a:prstGeom prst="rect">
                <a:avLst/>
              </a:prstGeom>
              <a:solidFill>
                <a:srgbClr val="2D6A87"/>
              </a:solidFill>
              <a:ln w="38100">
                <a:noFill/>
              </a:ln>
            </p:spPr>
            <p:txBody>
              <a:bodyPr anchor="ctr">
                <a:normAutofit fontScale="92500" lnSpcReduction="10000"/>
              </a:bodyPr>
              <a:lstStyle>
                <a:lvl1pPr algn="l" defTabSz="914400" rtl="0" eaLnBrk="1" latinLnBrk="0" hangingPunct="1">
                  <a:lnSpc>
                    <a:spcPts val="4200"/>
                  </a:lnSpc>
                  <a:spcBef>
                    <a:spcPct val="0"/>
                  </a:spcBef>
                  <a:buNone/>
                  <a:defRPr sz="3200" b="1" kern="1200">
                    <a:solidFill>
                      <a:schemeClr val="bg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00000"/>
                  </a:lnSpc>
                </a:pPr>
                <a:r>
                  <a:rPr lang="en-US" sz="1000" b="0" dirty="0">
                    <a:solidFill>
                      <a:schemeClr val="tx2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rPr>
                  <a:t>Asset Register</a:t>
                </a:r>
              </a:p>
            </p:txBody>
          </p:sp>
        </p:grpSp>
        <p:sp>
          <p:nvSpPr>
            <p:cNvPr id="71" name="Title 63">
              <a:extLst>
                <a:ext uri="{FF2B5EF4-FFF2-40B4-BE49-F238E27FC236}">
                  <a16:creationId xmlns:a16="http://schemas.microsoft.com/office/drawing/2014/main" id="{F4A40B58-9345-8E51-32D1-29190D5E4BA7}"/>
                </a:ext>
              </a:extLst>
            </p:cNvPr>
            <p:cNvSpPr txBox="1">
              <a:spLocks/>
            </p:cNvSpPr>
            <p:nvPr/>
          </p:nvSpPr>
          <p:spPr>
            <a:xfrm>
              <a:off x="10040924" y="934984"/>
              <a:ext cx="720000" cy="360000"/>
            </a:xfrm>
            <a:prstGeom prst="rect">
              <a:avLst/>
            </a:prstGeom>
            <a:solidFill>
              <a:srgbClr val="2D6A87"/>
            </a:solidFill>
            <a:ln w="38100">
              <a:noFill/>
            </a:ln>
          </p:spPr>
          <p:txBody>
            <a:bodyPr anchor="ctr">
              <a:normAutofit fontScale="92500" lnSpcReduction="10000"/>
            </a:bodyPr>
            <a:lstStyle>
              <a:lvl1pPr algn="l" defTabSz="914400" rtl="0" eaLnBrk="1" latinLnBrk="0" hangingPunct="1">
                <a:lnSpc>
                  <a:spcPts val="4200"/>
                </a:lnSpc>
                <a:spcBef>
                  <a:spcPct val="0"/>
                </a:spcBef>
                <a:buNone/>
                <a:defRPr sz="3200" b="1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>
                <a:lnSpc>
                  <a:spcPct val="100000"/>
                </a:lnSpc>
              </a:pPr>
              <a:r>
                <a:rPr lang="en-US" sz="1000" b="0" dirty="0">
                  <a:solidFill>
                    <a:schemeClr val="tx2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Account Manager</a:t>
              </a:r>
            </a:p>
          </p:txBody>
        </p:sp>
      </p:grpSp>
      <p:sp>
        <p:nvSpPr>
          <p:cNvPr id="8" name="Title 63">
            <a:extLst>
              <a:ext uri="{FF2B5EF4-FFF2-40B4-BE49-F238E27FC236}">
                <a16:creationId xmlns:a16="http://schemas.microsoft.com/office/drawing/2014/main" id="{09400FB9-9264-DC16-73B6-73968EAD0EF3}"/>
              </a:ext>
            </a:extLst>
          </p:cNvPr>
          <p:cNvSpPr txBox="1">
            <a:spLocks/>
          </p:cNvSpPr>
          <p:nvPr/>
        </p:nvSpPr>
        <p:spPr>
          <a:xfrm>
            <a:off x="3993716" y="1449316"/>
            <a:ext cx="8210283" cy="360000"/>
          </a:xfrm>
          <a:prstGeom prst="rect">
            <a:avLst/>
          </a:prstGeom>
          <a:solidFill>
            <a:srgbClr val="2D6A87"/>
          </a:solidFill>
          <a:ln w="3810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000" b="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Asset Register | Condition (GVI) | </a:t>
            </a:r>
            <a:r>
              <a:rPr lang="en-US" sz="1000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Inspection </a:t>
            </a:r>
            <a:r>
              <a:rPr lang="en-US" sz="1000" b="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| Risk Based Inspection | Technical Document | Documentation | Name Plate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25C8C664-5DA1-D05D-5B2A-2EBA5222D1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6867524" y="1699578"/>
            <a:ext cx="360000" cy="323076"/>
          </a:xfrm>
          <a:prstGeom prst="ellipse">
            <a:avLst/>
          </a:prstGeom>
          <a:ln w="3175" cap="rnd">
            <a:solidFill>
              <a:srgbClr val="00B050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947B32F2-1CE6-AC73-ADCD-A794B8889642}"/>
              </a:ext>
            </a:extLst>
          </p:cNvPr>
          <p:cNvGrpSpPr/>
          <p:nvPr/>
        </p:nvGrpSpPr>
        <p:grpSpPr>
          <a:xfrm>
            <a:off x="5437775" y="3173884"/>
            <a:ext cx="2160000" cy="2109669"/>
            <a:chOff x="5437775" y="3173884"/>
            <a:chExt cx="2160000" cy="2109669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1267801F-67FC-68DB-5E06-0ADE1621BE8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5833506" y="3173884"/>
              <a:ext cx="1368539" cy="1800000"/>
            </a:xfrm>
            <a:prstGeom prst="rect">
              <a:avLst/>
            </a:prstGeom>
          </p:spPr>
        </p:pic>
        <p:sp>
          <p:nvSpPr>
            <p:cNvPr id="15" name="Title 63">
              <a:extLst>
                <a:ext uri="{FF2B5EF4-FFF2-40B4-BE49-F238E27FC236}">
                  <a16:creationId xmlns:a16="http://schemas.microsoft.com/office/drawing/2014/main" id="{3537F5EF-0D5E-8531-FC75-B96F75F739D7}"/>
                </a:ext>
              </a:extLst>
            </p:cNvPr>
            <p:cNvSpPr txBox="1">
              <a:spLocks/>
            </p:cNvSpPr>
            <p:nvPr/>
          </p:nvSpPr>
          <p:spPr>
            <a:xfrm>
              <a:off x="5437775" y="5033291"/>
              <a:ext cx="2160000" cy="250262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>
              <a:noAutofit/>
            </a:bodyPr>
            <a:lstStyle>
              <a:lvl1pPr algn="l" defTabSz="914400" rtl="0" eaLnBrk="1" latinLnBrk="0" hangingPunct="1">
                <a:lnSpc>
                  <a:spcPts val="4200"/>
                </a:lnSpc>
                <a:spcBef>
                  <a:spcPct val="0"/>
                </a:spcBef>
                <a:buNone/>
                <a:defRPr sz="3200" b="1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>
                <a:lnSpc>
                  <a:spcPct val="100000"/>
                </a:lnSpc>
              </a:pPr>
              <a:r>
                <a:rPr lang="en-US" sz="1050" dirty="0">
                  <a:solidFill>
                    <a:schemeClr val="tx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Module Locked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04342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1C8F72-4661-7CC6-FA78-45BACAE05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itle 63">
            <a:extLst>
              <a:ext uri="{FF2B5EF4-FFF2-40B4-BE49-F238E27FC236}">
                <a16:creationId xmlns:a16="http://schemas.microsoft.com/office/drawing/2014/main" id="{145F181D-5392-D5BD-A16B-1117BF6CEE70}"/>
              </a:ext>
            </a:extLst>
          </p:cNvPr>
          <p:cNvSpPr txBox="1">
            <a:spLocks/>
          </p:cNvSpPr>
          <p:nvPr/>
        </p:nvSpPr>
        <p:spPr>
          <a:xfrm>
            <a:off x="0" y="1462924"/>
            <a:ext cx="2152665" cy="5395076"/>
          </a:xfrm>
          <a:prstGeom prst="rect">
            <a:avLst/>
          </a:prstGeom>
          <a:noFill/>
          <a:ln w="19050">
            <a:solidFill>
              <a:srgbClr val="2D6A87"/>
            </a:solidFill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endParaRPr lang="en-US" sz="1000" b="0" dirty="0">
              <a:solidFill>
                <a:schemeClr val="tx2"/>
              </a:solidFill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2" name="Title 63">
            <a:extLst>
              <a:ext uri="{FF2B5EF4-FFF2-40B4-BE49-F238E27FC236}">
                <a16:creationId xmlns:a16="http://schemas.microsoft.com/office/drawing/2014/main" id="{27ABA9A2-8E73-4844-508B-6E403BFFAFCD}"/>
              </a:ext>
            </a:extLst>
          </p:cNvPr>
          <p:cNvSpPr txBox="1">
            <a:spLocks/>
          </p:cNvSpPr>
          <p:nvPr/>
        </p:nvSpPr>
        <p:spPr>
          <a:xfrm>
            <a:off x="-1" y="10690"/>
            <a:ext cx="12192001" cy="900000"/>
          </a:xfrm>
          <a:prstGeom prst="rect">
            <a:avLst/>
          </a:prstGeom>
          <a:solidFill>
            <a:schemeClr val="tx2"/>
          </a:solidFill>
          <a:ln w="3810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2D6A87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Structural Integrity Management System (SIMS)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FE9010-2251-06FB-5037-2D0551BC33C4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2836" r="22678"/>
          <a:stretch>
            <a:fillRect/>
          </a:stretch>
        </p:blipFill>
        <p:spPr>
          <a:xfrm>
            <a:off x="174883" y="103675"/>
            <a:ext cx="691633" cy="714030"/>
          </a:xfrm>
          <a:prstGeom prst="rect">
            <a:avLst/>
          </a:prstGeom>
        </p:spPr>
      </p:pic>
      <p:sp>
        <p:nvSpPr>
          <p:cNvPr id="25" name="Title 63">
            <a:extLst>
              <a:ext uri="{FF2B5EF4-FFF2-40B4-BE49-F238E27FC236}">
                <a16:creationId xmlns:a16="http://schemas.microsoft.com/office/drawing/2014/main" id="{AEDB3482-BF5C-5227-A0AB-20D9D2794899}"/>
              </a:ext>
            </a:extLst>
          </p:cNvPr>
          <p:cNvSpPr txBox="1">
            <a:spLocks/>
          </p:cNvSpPr>
          <p:nvPr/>
        </p:nvSpPr>
        <p:spPr>
          <a:xfrm>
            <a:off x="0" y="1449533"/>
            <a:ext cx="2160000" cy="360000"/>
          </a:xfrm>
          <a:prstGeom prst="rect">
            <a:avLst/>
          </a:prstGeom>
          <a:solidFill>
            <a:srgbClr val="2D6A87"/>
          </a:solidFill>
          <a:ln w="3810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000" b="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Asset Tree </a:t>
            </a:r>
          </a:p>
        </p:txBody>
      </p:sp>
      <p:sp>
        <p:nvSpPr>
          <p:cNvPr id="31" name="Title 63">
            <a:extLst>
              <a:ext uri="{FF2B5EF4-FFF2-40B4-BE49-F238E27FC236}">
                <a16:creationId xmlns:a16="http://schemas.microsoft.com/office/drawing/2014/main" id="{849B232B-8189-E54E-5C92-FEA3D6EBC3F1}"/>
              </a:ext>
            </a:extLst>
          </p:cNvPr>
          <p:cNvSpPr txBox="1">
            <a:spLocks/>
          </p:cNvSpPr>
          <p:nvPr/>
        </p:nvSpPr>
        <p:spPr>
          <a:xfrm>
            <a:off x="0" y="1809532"/>
            <a:ext cx="2160000" cy="5037778"/>
          </a:xfrm>
          <a:prstGeom prst="rect">
            <a:avLst/>
          </a:prstGeom>
          <a:noFill/>
          <a:ln w="38100">
            <a:noFill/>
          </a:ln>
        </p:spPr>
        <p:txBody>
          <a:bodyPr anchor="t">
            <a:no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 Gas Purification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&gt;</a:t>
            </a: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Plant 2 Dehydration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&gt;</a:t>
            </a: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Plant 3 Fractionation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4 Refrigeration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5 Liquefaction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6 Condensate Stripping ...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15 LPG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16 Condensate Stabilize ... 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17 LPG Storage and Loa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highlight>
                  <a:srgbClr val="6E98A7"/>
                </a:highlight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17D-1/Q-1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17D-2/Q-1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17D-3/Q-1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17D-4/Q-1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17D-5/Q-1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+ add asset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19 Relief &amp; Blowdown S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20 Condensate Storage ...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20D-4/Q-1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     20D-5/Q-1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     20D-6/Q-1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+ add asset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21 Feed Gas Knockout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22 Marine Structures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24 LNG Storage and Loa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25 Fueling Facility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26 LPG Filling Station … &gt;Propane and Butane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27 Oxygen Plant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28 Acetylene Plant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29 Nitrogen Generation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30 Electrical </a:t>
            </a:r>
            <a:r>
              <a:rPr lang="en-US" sz="8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Distributio</a:t>
            </a: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31 Steam &amp; Power Gen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32 Seawater Cooling 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33 Fire Protection System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34 Liquid Waste System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35 Compressed Air System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36 Water Treatment Sy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37 Communication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+ add Plant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401F391-A507-CB38-9967-53269C76C313}"/>
              </a:ext>
            </a:extLst>
          </p:cNvPr>
          <p:cNvGrpSpPr/>
          <p:nvPr/>
        </p:nvGrpSpPr>
        <p:grpSpPr>
          <a:xfrm>
            <a:off x="216151" y="3948414"/>
            <a:ext cx="73594" cy="324419"/>
            <a:chOff x="216151" y="3221023"/>
            <a:chExt cx="73594" cy="324419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19A59B5D-4282-1F1F-5930-C7B7C8D611A7}"/>
                </a:ext>
              </a:extLst>
            </p:cNvPr>
            <p:cNvSpPr/>
            <p:nvPr/>
          </p:nvSpPr>
          <p:spPr>
            <a:xfrm>
              <a:off x="217745" y="3346913"/>
              <a:ext cx="72000" cy="72000"/>
            </a:xfrm>
            <a:prstGeom prst="rect">
              <a:avLst/>
            </a:prstGeom>
            <a:solidFill>
              <a:schemeClr val="bg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BBB9D443-BDAD-8B14-390B-277D1A3FB010}"/>
                </a:ext>
              </a:extLst>
            </p:cNvPr>
            <p:cNvSpPr/>
            <p:nvPr/>
          </p:nvSpPr>
          <p:spPr>
            <a:xfrm>
              <a:off x="217745" y="3473442"/>
              <a:ext cx="72000" cy="72000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1084F936-6847-8BC8-2F28-29316F5608A6}"/>
                </a:ext>
              </a:extLst>
            </p:cNvPr>
            <p:cNvSpPr/>
            <p:nvPr/>
          </p:nvSpPr>
          <p:spPr>
            <a:xfrm>
              <a:off x="216151" y="3221023"/>
              <a:ext cx="72000" cy="720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sp>
        <p:nvSpPr>
          <p:cNvPr id="7" name="Title 63">
            <a:extLst>
              <a:ext uri="{FF2B5EF4-FFF2-40B4-BE49-F238E27FC236}">
                <a16:creationId xmlns:a16="http://schemas.microsoft.com/office/drawing/2014/main" id="{7782BD18-865E-E08D-1D43-F87EA0D038FA}"/>
              </a:ext>
            </a:extLst>
          </p:cNvPr>
          <p:cNvSpPr txBox="1">
            <a:spLocks/>
          </p:cNvSpPr>
          <p:nvPr/>
        </p:nvSpPr>
        <p:spPr>
          <a:xfrm>
            <a:off x="2176858" y="1449533"/>
            <a:ext cx="1800000" cy="360000"/>
          </a:xfrm>
          <a:prstGeom prst="rect">
            <a:avLst/>
          </a:prstGeom>
          <a:solidFill>
            <a:srgbClr val="2D6A87"/>
          </a:solidFill>
          <a:ln w="3810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1000" b="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17D-1/Q-1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8E91A27D-6E86-AA31-1E6F-9DD53E9B7194}"/>
              </a:ext>
            </a:extLst>
          </p:cNvPr>
          <p:cNvGrpSpPr/>
          <p:nvPr/>
        </p:nvGrpSpPr>
        <p:grpSpPr>
          <a:xfrm>
            <a:off x="214557" y="2975994"/>
            <a:ext cx="73594" cy="324419"/>
            <a:chOff x="216151" y="3221023"/>
            <a:chExt cx="73594" cy="324419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7BB5DF2D-7487-A3C2-F453-DCB6F1F94DC8}"/>
                </a:ext>
              </a:extLst>
            </p:cNvPr>
            <p:cNvSpPr/>
            <p:nvPr/>
          </p:nvSpPr>
          <p:spPr>
            <a:xfrm>
              <a:off x="217745" y="3346913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EEA07A46-9E25-BE5C-4590-849475C97624}"/>
                </a:ext>
              </a:extLst>
            </p:cNvPr>
            <p:cNvSpPr/>
            <p:nvPr/>
          </p:nvSpPr>
          <p:spPr>
            <a:xfrm>
              <a:off x="217745" y="3473442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305638F1-ADE9-A05E-758C-F92FBC6ACF4A}"/>
                </a:ext>
              </a:extLst>
            </p:cNvPr>
            <p:cNvSpPr/>
            <p:nvPr/>
          </p:nvSpPr>
          <p:spPr>
            <a:xfrm>
              <a:off x="216151" y="3221023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6BEA9F7A-DE86-07AE-632C-019AF434CA65}"/>
              </a:ext>
            </a:extLst>
          </p:cNvPr>
          <p:cNvGrpSpPr/>
          <p:nvPr/>
        </p:nvGrpSpPr>
        <p:grpSpPr>
          <a:xfrm>
            <a:off x="214557" y="3346544"/>
            <a:ext cx="73594" cy="197890"/>
            <a:chOff x="216151" y="3221023"/>
            <a:chExt cx="73594" cy="197890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1AE4A2C9-9B8C-635E-46FA-07533422D00D}"/>
                </a:ext>
              </a:extLst>
            </p:cNvPr>
            <p:cNvSpPr/>
            <p:nvPr/>
          </p:nvSpPr>
          <p:spPr>
            <a:xfrm>
              <a:off x="217745" y="3346913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BA37939A-57D6-361D-3827-3F3EADB854B0}"/>
                </a:ext>
              </a:extLst>
            </p:cNvPr>
            <p:cNvSpPr/>
            <p:nvPr/>
          </p:nvSpPr>
          <p:spPr>
            <a:xfrm>
              <a:off x="216151" y="3221023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A4193FE0-24AD-C41F-E429-4D393BE4333F}"/>
              </a:ext>
            </a:extLst>
          </p:cNvPr>
          <p:cNvGrpSpPr/>
          <p:nvPr/>
        </p:nvGrpSpPr>
        <p:grpSpPr>
          <a:xfrm>
            <a:off x="0" y="934984"/>
            <a:ext cx="12204000" cy="361106"/>
            <a:chOff x="0" y="934984"/>
            <a:chExt cx="12204000" cy="361106"/>
          </a:xfrm>
        </p:grpSpPr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9ED591E4-FCE5-7328-5102-FD1B95FB29E7}"/>
                </a:ext>
              </a:extLst>
            </p:cNvPr>
            <p:cNvGrpSpPr/>
            <p:nvPr/>
          </p:nvGrpSpPr>
          <p:grpSpPr>
            <a:xfrm>
              <a:off x="0" y="936090"/>
              <a:ext cx="12204000" cy="360000"/>
              <a:chOff x="0" y="936090"/>
              <a:chExt cx="12204000" cy="360000"/>
            </a:xfrm>
          </p:grpSpPr>
          <p:grpSp>
            <p:nvGrpSpPr>
              <p:cNvPr id="72" name="Group 71">
                <a:extLst>
                  <a:ext uri="{FF2B5EF4-FFF2-40B4-BE49-F238E27FC236}">
                    <a16:creationId xmlns:a16="http://schemas.microsoft.com/office/drawing/2014/main" id="{F369B01E-F0D6-3CA0-C027-F69065F3FDD8}"/>
                  </a:ext>
                </a:extLst>
              </p:cNvPr>
              <p:cNvGrpSpPr/>
              <p:nvPr/>
            </p:nvGrpSpPr>
            <p:grpSpPr>
              <a:xfrm>
                <a:off x="0" y="936090"/>
                <a:ext cx="12204000" cy="360000"/>
                <a:chOff x="-2" y="2718720"/>
                <a:chExt cx="12204000" cy="360000"/>
              </a:xfrm>
            </p:grpSpPr>
            <p:sp>
              <p:nvSpPr>
                <p:cNvPr id="75" name="Title 63">
                  <a:extLst>
                    <a:ext uri="{FF2B5EF4-FFF2-40B4-BE49-F238E27FC236}">
                      <a16:creationId xmlns:a16="http://schemas.microsoft.com/office/drawing/2014/main" id="{B36A9669-E179-D4E0-F005-7F75BA396FD9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-2" y="2718720"/>
                  <a:ext cx="720000" cy="360000"/>
                </a:xfrm>
                <a:prstGeom prst="rect">
                  <a:avLst/>
                </a:prstGeom>
                <a:solidFill>
                  <a:srgbClr val="2D6A87"/>
                </a:solidFill>
                <a:ln w="38100">
                  <a:noFill/>
                </a:ln>
              </p:spPr>
              <p:txBody>
                <a:bodyPr anchor="ctr">
                  <a:normAutofit/>
                </a:bodyPr>
                <a:lstStyle>
                  <a:lvl1pPr algn="l" defTabSz="914400" rtl="0" eaLnBrk="1" latinLnBrk="0" hangingPunct="1">
                    <a:lnSpc>
                      <a:spcPts val="4200"/>
                    </a:lnSpc>
                    <a:spcBef>
                      <a:spcPct val="0"/>
                    </a:spcBef>
                    <a:buNone/>
                    <a:defRPr sz="3200" b="1" kern="1200">
                      <a:solidFill>
                        <a:schemeClr val="bg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:pPr algn="ctr">
                    <a:lnSpc>
                      <a:spcPct val="100000"/>
                    </a:lnSpc>
                  </a:pPr>
                  <a:r>
                    <a:rPr lang="en-US" sz="1000" b="0" dirty="0">
                      <a:solidFill>
                        <a:schemeClr val="tx2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+mn-cs"/>
                    </a:rPr>
                    <a:t>Home</a:t>
                  </a:r>
                </a:p>
              </p:txBody>
            </p:sp>
            <p:grpSp>
              <p:nvGrpSpPr>
                <p:cNvPr id="77" name="Group 76">
                  <a:extLst>
                    <a:ext uri="{FF2B5EF4-FFF2-40B4-BE49-F238E27FC236}">
                      <a16:creationId xmlns:a16="http://schemas.microsoft.com/office/drawing/2014/main" id="{864872A9-4AAC-F750-90B8-7F40CEEB2EB9}"/>
                    </a:ext>
                  </a:extLst>
                </p:cNvPr>
                <p:cNvGrpSpPr/>
                <p:nvPr/>
              </p:nvGrpSpPr>
              <p:grpSpPr>
                <a:xfrm>
                  <a:off x="10763998" y="2718720"/>
                  <a:ext cx="1440000" cy="360000"/>
                  <a:chOff x="4102098" y="3429000"/>
                  <a:chExt cx="1440000" cy="360000"/>
                </a:xfrm>
              </p:grpSpPr>
              <p:sp>
                <p:nvSpPr>
                  <p:cNvPr id="79" name="Title 63">
                    <a:extLst>
                      <a:ext uri="{FF2B5EF4-FFF2-40B4-BE49-F238E27FC236}">
                        <a16:creationId xmlns:a16="http://schemas.microsoft.com/office/drawing/2014/main" id="{BAF7684E-30AE-E77E-C5FC-DC25DDA25B4A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4102098" y="3429000"/>
                    <a:ext cx="720000" cy="360000"/>
                  </a:xfrm>
                  <a:prstGeom prst="rect">
                    <a:avLst/>
                  </a:prstGeom>
                  <a:solidFill>
                    <a:srgbClr val="2D6A87"/>
                  </a:solidFill>
                  <a:ln w="38100">
                    <a:noFill/>
                  </a:ln>
                </p:spPr>
                <p:txBody>
                  <a:bodyPr anchor="ctr">
                    <a:normAutofit/>
                  </a:bodyPr>
                  <a:lstStyle>
                    <a:lvl1pPr algn="l" defTabSz="914400" rtl="0" eaLnBrk="1" latinLnBrk="0" hangingPunct="1">
                      <a:lnSpc>
                        <a:spcPts val="4200"/>
                      </a:lnSpc>
                      <a:spcBef>
                        <a:spcPct val="0"/>
                      </a:spcBef>
                      <a:buNone/>
                      <a:defRPr sz="3200" b="1" kern="1200">
                        <a:solidFill>
                          <a:schemeClr val="bg1"/>
                        </a:solidFill>
                        <a:latin typeface="+mj-lt"/>
                        <a:ea typeface="+mj-ea"/>
                        <a:cs typeface="+mj-cs"/>
                      </a:defRPr>
                    </a:lvl1pPr>
                  </a:lstStyle>
                  <a:p>
                    <a:pPr algn="ctr">
                      <a:lnSpc>
                        <a:spcPct val="100000"/>
                      </a:lnSpc>
                    </a:pPr>
                    <a:r>
                      <a:rPr lang="en-US" sz="1000" b="0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rPr>
                      <a:t>Help</a:t>
                    </a:r>
                  </a:p>
                </p:txBody>
              </p:sp>
              <p:sp>
                <p:nvSpPr>
                  <p:cNvPr id="80" name="Title 63">
                    <a:extLst>
                      <a:ext uri="{FF2B5EF4-FFF2-40B4-BE49-F238E27FC236}">
                        <a16:creationId xmlns:a16="http://schemas.microsoft.com/office/drawing/2014/main" id="{8174B4D1-E0EF-28C8-3EBD-BD12D5DEC634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4822098" y="3429000"/>
                    <a:ext cx="720000" cy="360000"/>
                  </a:xfrm>
                  <a:prstGeom prst="rect">
                    <a:avLst/>
                  </a:prstGeom>
                  <a:solidFill>
                    <a:srgbClr val="2D6A87"/>
                  </a:solidFill>
                  <a:ln w="38100">
                    <a:noFill/>
                  </a:ln>
                </p:spPr>
                <p:txBody>
                  <a:bodyPr anchor="ctr">
                    <a:normAutofit/>
                  </a:bodyPr>
                  <a:lstStyle>
                    <a:lvl1pPr algn="l" defTabSz="914400" rtl="0" eaLnBrk="1" latinLnBrk="0" hangingPunct="1">
                      <a:lnSpc>
                        <a:spcPts val="4200"/>
                      </a:lnSpc>
                      <a:spcBef>
                        <a:spcPct val="0"/>
                      </a:spcBef>
                      <a:buNone/>
                      <a:defRPr sz="3200" b="1" kern="1200">
                        <a:solidFill>
                          <a:schemeClr val="bg1"/>
                        </a:solidFill>
                        <a:latin typeface="+mj-lt"/>
                        <a:ea typeface="+mj-ea"/>
                        <a:cs typeface="+mj-cs"/>
                      </a:defRPr>
                    </a:lvl1pPr>
                  </a:lstStyle>
                  <a:p>
                    <a:pPr algn="ctr">
                      <a:lnSpc>
                        <a:spcPct val="100000"/>
                      </a:lnSpc>
                    </a:pPr>
                    <a:r>
                      <a:rPr lang="en-US" sz="1000" b="0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rPr>
                      <a:t>Logout</a:t>
                    </a:r>
                  </a:p>
                </p:txBody>
              </p:sp>
            </p:grpSp>
            <p:sp>
              <p:nvSpPr>
                <p:cNvPr id="78" name="Title 63">
                  <a:extLst>
                    <a:ext uri="{FF2B5EF4-FFF2-40B4-BE49-F238E27FC236}">
                      <a16:creationId xmlns:a16="http://schemas.microsoft.com/office/drawing/2014/main" id="{38E84A56-2AD1-C2B1-5952-7B006E20F047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439998" y="2718720"/>
                  <a:ext cx="8600924" cy="360000"/>
                </a:xfrm>
                <a:prstGeom prst="rect">
                  <a:avLst/>
                </a:prstGeom>
                <a:solidFill>
                  <a:srgbClr val="2D6A87"/>
                </a:solidFill>
                <a:ln w="38100">
                  <a:noFill/>
                </a:ln>
              </p:spPr>
              <p:txBody>
                <a:bodyPr anchor="ctr">
                  <a:normAutofit/>
                </a:bodyPr>
                <a:lstStyle>
                  <a:lvl1pPr algn="l" defTabSz="914400" rtl="0" eaLnBrk="1" latinLnBrk="0" hangingPunct="1">
                    <a:lnSpc>
                      <a:spcPts val="4200"/>
                    </a:lnSpc>
                    <a:spcBef>
                      <a:spcPct val="0"/>
                    </a:spcBef>
                    <a:buNone/>
                    <a:defRPr sz="3200" b="1" kern="1200">
                      <a:solidFill>
                        <a:schemeClr val="bg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:pPr>
                    <a:lnSpc>
                      <a:spcPct val="100000"/>
                    </a:lnSpc>
                  </a:pPr>
                  <a:endParaRPr lang="en-US" sz="1000" b="0" dirty="0">
                    <a:solidFill>
                      <a:schemeClr val="tx2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endParaRPr>
                </a:p>
              </p:txBody>
            </p:sp>
          </p:grpSp>
          <p:sp>
            <p:nvSpPr>
              <p:cNvPr id="73" name="Title 63">
                <a:extLst>
                  <a:ext uri="{FF2B5EF4-FFF2-40B4-BE49-F238E27FC236}">
                    <a16:creationId xmlns:a16="http://schemas.microsoft.com/office/drawing/2014/main" id="{974BE305-7ED9-DC45-7312-4EBACF72F6D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20000" y="936090"/>
                <a:ext cx="720000" cy="360000"/>
              </a:xfrm>
              <a:prstGeom prst="rect">
                <a:avLst/>
              </a:prstGeom>
              <a:solidFill>
                <a:srgbClr val="2D6A87"/>
              </a:solidFill>
              <a:ln w="38100">
                <a:noFill/>
              </a:ln>
            </p:spPr>
            <p:txBody>
              <a:bodyPr anchor="ctr">
                <a:normAutofit fontScale="92500" lnSpcReduction="10000"/>
              </a:bodyPr>
              <a:lstStyle>
                <a:lvl1pPr algn="l" defTabSz="914400" rtl="0" eaLnBrk="1" latinLnBrk="0" hangingPunct="1">
                  <a:lnSpc>
                    <a:spcPts val="4200"/>
                  </a:lnSpc>
                  <a:spcBef>
                    <a:spcPct val="0"/>
                  </a:spcBef>
                  <a:buNone/>
                  <a:defRPr sz="3200" b="1" kern="1200">
                    <a:solidFill>
                      <a:schemeClr val="bg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00000"/>
                  </a:lnSpc>
                </a:pPr>
                <a:r>
                  <a:rPr lang="en-US" sz="1000" b="0" dirty="0">
                    <a:solidFill>
                      <a:schemeClr val="tx2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rPr>
                  <a:t>Asset Register</a:t>
                </a:r>
              </a:p>
            </p:txBody>
          </p:sp>
        </p:grpSp>
        <p:sp>
          <p:nvSpPr>
            <p:cNvPr id="71" name="Title 63">
              <a:extLst>
                <a:ext uri="{FF2B5EF4-FFF2-40B4-BE49-F238E27FC236}">
                  <a16:creationId xmlns:a16="http://schemas.microsoft.com/office/drawing/2014/main" id="{42A6A67A-01A1-0EEB-9488-00111A71CC4A}"/>
                </a:ext>
              </a:extLst>
            </p:cNvPr>
            <p:cNvSpPr txBox="1">
              <a:spLocks/>
            </p:cNvSpPr>
            <p:nvPr/>
          </p:nvSpPr>
          <p:spPr>
            <a:xfrm>
              <a:off x="10040924" y="934984"/>
              <a:ext cx="720000" cy="360000"/>
            </a:xfrm>
            <a:prstGeom prst="rect">
              <a:avLst/>
            </a:prstGeom>
            <a:solidFill>
              <a:srgbClr val="2D6A87"/>
            </a:solidFill>
            <a:ln w="38100">
              <a:noFill/>
            </a:ln>
          </p:spPr>
          <p:txBody>
            <a:bodyPr anchor="ctr">
              <a:normAutofit fontScale="92500" lnSpcReduction="10000"/>
            </a:bodyPr>
            <a:lstStyle>
              <a:lvl1pPr algn="l" defTabSz="914400" rtl="0" eaLnBrk="1" latinLnBrk="0" hangingPunct="1">
                <a:lnSpc>
                  <a:spcPts val="4200"/>
                </a:lnSpc>
                <a:spcBef>
                  <a:spcPct val="0"/>
                </a:spcBef>
                <a:buNone/>
                <a:defRPr sz="3200" b="1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>
                <a:lnSpc>
                  <a:spcPct val="100000"/>
                </a:lnSpc>
              </a:pPr>
              <a:r>
                <a:rPr lang="en-US" sz="1000" b="0" dirty="0">
                  <a:solidFill>
                    <a:schemeClr val="tx2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Account Manager</a:t>
              </a:r>
            </a:p>
          </p:txBody>
        </p:sp>
      </p:grpSp>
      <p:sp>
        <p:nvSpPr>
          <p:cNvPr id="8" name="Title 63">
            <a:extLst>
              <a:ext uri="{FF2B5EF4-FFF2-40B4-BE49-F238E27FC236}">
                <a16:creationId xmlns:a16="http://schemas.microsoft.com/office/drawing/2014/main" id="{F6E7EC02-0965-A4DA-DE2E-B401D5B7A753}"/>
              </a:ext>
            </a:extLst>
          </p:cNvPr>
          <p:cNvSpPr txBox="1">
            <a:spLocks/>
          </p:cNvSpPr>
          <p:nvPr/>
        </p:nvSpPr>
        <p:spPr>
          <a:xfrm>
            <a:off x="3993716" y="1449316"/>
            <a:ext cx="8210283" cy="360000"/>
          </a:xfrm>
          <a:prstGeom prst="rect">
            <a:avLst/>
          </a:prstGeom>
          <a:solidFill>
            <a:srgbClr val="2D6A87"/>
          </a:solidFill>
          <a:ln w="38100">
            <a:noFill/>
          </a:ln>
        </p:spPr>
        <p:txBody>
          <a:bodyPr anchor="ctr">
            <a:normAutofit fontScale="92500"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000" b="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Asset Register | Condition (GVI) | Inspection | </a:t>
            </a:r>
            <a:r>
              <a:rPr lang="en-US" sz="1000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Risk Based Inspection </a:t>
            </a:r>
            <a:r>
              <a:rPr lang="en-US" sz="1000" b="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| Technical Document | Documentation | Name Plate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D5297299-D54D-3E57-6BEE-15FE3D6D68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8035144" y="1673178"/>
            <a:ext cx="360000" cy="323076"/>
          </a:xfrm>
          <a:prstGeom prst="ellipse">
            <a:avLst/>
          </a:prstGeom>
          <a:ln w="3175" cap="rnd">
            <a:solidFill>
              <a:srgbClr val="00B050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1D782DFB-C098-ADB2-1F6B-83321F7047D8}"/>
              </a:ext>
            </a:extLst>
          </p:cNvPr>
          <p:cNvGrpSpPr/>
          <p:nvPr/>
        </p:nvGrpSpPr>
        <p:grpSpPr>
          <a:xfrm>
            <a:off x="5437775" y="3173884"/>
            <a:ext cx="2160000" cy="2109669"/>
            <a:chOff x="5437775" y="3173884"/>
            <a:chExt cx="2160000" cy="2109669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1D091E2B-A637-28F8-9D5C-209B82E94DF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5833506" y="3173884"/>
              <a:ext cx="1368539" cy="1800000"/>
            </a:xfrm>
            <a:prstGeom prst="rect">
              <a:avLst/>
            </a:prstGeom>
          </p:spPr>
        </p:pic>
        <p:sp>
          <p:nvSpPr>
            <p:cNvPr id="15" name="Title 63">
              <a:extLst>
                <a:ext uri="{FF2B5EF4-FFF2-40B4-BE49-F238E27FC236}">
                  <a16:creationId xmlns:a16="http://schemas.microsoft.com/office/drawing/2014/main" id="{7976586B-D2AF-FD4B-B7E4-703B3DB95F10}"/>
                </a:ext>
              </a:extLst>
            </p:cNvPr>
            <p:cNvSpPr txBox="1">
              <a:spLocks/>
            </p:cNvSpPr>
            <p:nvPr/>
          </p:nvSpPr>
          <p:spPr>
            <a:xfrm>
              <a:off x="5437775" y="5033291"/>
              <a:ext cx="2160000" cy="250262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>
              <a:noAutofit/>
            </a:bodyPr>
            <a:lstStyle>
              <a:lvl1pPr algn="l" defTabSz="914400" rtl="0" eaLnBrk="1" latinLnBrk="0" hangingPunct="1">
                <a:lnSpc>
                  <a:spcPts val="4200"/>
                </a:lnSpc>
                <a:spcBef>
                  <a:spcPct val="0"/>
                </a:spcBef>
                <a:buNone/>
                <a:defRPr sz="3200" b="1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>
                <a:lnSpc>
                  <a:spcPct val="100000"/>
                </a:lnSpc>
              </a:pPr>
              <a:r>
                <a:rPr lang="en-US" sz="1050" dirty="0">
                  <a:solidFill>
                    <a:schemeClr val="tx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Module Locked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00602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7555A-6EBE-6B08-F6F1-874A0F358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itle 63">
            <a:extLst>
              <a:ext uri="{FF2B5EF4-FFF2-40B4-BE49-F238E27FC236}">
                <a16:creationId xmlns:a16="http://schemas.microsoft.com/office/drawing/2014/main" id="{305EB96A-76C7-9812-6DB2-53252F8E2CB6}"/>
              </a:ext>
            </a:extLst>
          </p:cNvPr>
          <p:cNvSpPr txBox="1">
            <a:spLocks/>
          </p:cNvSpPr>
          <p:nvPr/>
        </p:nvSpPr>
        <p:spPr>
          <a:xfrm>
            <a:off x="0" y="1462924"/>
            <a:ext cx="2152665" cy="5395076"/>
          </a:xfrm>
          <a:prstGeom prst="rect">
            <a:avLst/>
          </a:prstGeom>
          <a:noFill/>
          <a:ln w="19050">
            <a:solidFill>
              <a:srgbClr val="2D6A87"/>
            </a:solidFill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endParaRPr lang="en-US" sz="1000" b="0" dirty="0">
              <a:solidFill>
                <a:schemeClr val="tx2"/>
              </a:solidFill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2" name="Title 63">
            <a:extLst>
              <a:ext uri="{FF2B5EF4-FFF2-40B4-BE49-F238E27FC236}">
                <a16:creationId xmlns:a16="http://schemas.microsoft.com/office/drawing/2014/main" id="{89537745-412F-F5CF-3F30-DF46E13C74B1}"/>
              </a:ext>
            </a:extLst>
          </p:cNvPr>
          <p:cNvSpPr txBox="1">
            <a:spLocks/>
          </p:cNvSpPr>
          <p:nvPr/>
        </p:nvSpPr>
        <p:spPr>
          <a:xfrm>
            <a:off x="-1" y="10690"/>
            <a:ext cx="12192001" cy="900000"/>
          </a:xfrm>
          <a:prstGeom prst="rect">
            <a:avLst/>
          </a:prstGeom>
          <a:solidFill>
            <a:schemeClr val="tx2"/>
          </a:solidFill>
          <a:ln w="3810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2D6A87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Structural Integrity Management System (SIMS)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9F2F58-11B7-6646-9FD3-3029027DD7A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2836" r="22678"/>
          <a:stretch>
            <a:fillRect/>
          </a:stretch>
        </p:blipFill>
        <p:spPr>
          <a:xfrm>
            <a:off x="174883" y="103675"/>
            <a:ext cx="691633" cy="714030"/>
          </a:xfrm>
          <a:prstGeom prst="rect">
            <a:avLst/>
          </a:prstGeom>
        </p:spPr>
      </p:pic>
      <p:sp>
        <p:nvSpPr>
          <p:cNvPr id="25" name="Title 63">
            <a:extLst>
              <a:ext uri="{FF2B5EF4-FFF2-40B4-BE49-F238E27FC236}">
                <a16:creationId xmlns:a16="http://schemas.microsoft.com/office/drawing/2014/main" id="{F7C3E4BE-11B4-172A-3DDE-401CD9E27BD9}"/>
              </a:ext>
            </a:extLst>
          </p:cNvPr>
          <p:cNvSpPr txBox="1">
            <a:spLocks/>
          </p:cNvSpPr>
          <p:nvPr/>
        </p:nvSpPr>
        <p:spPr>
          <a:xfrm>
            <a:off x="0" y="1449533"/>
            <a:ext cx="2160000" cy="360000"/>
          </a:xfrm>
          <a:prstGeom prst="rect">
            <a:avLst/>
          </a:prstGeom>
          <a:solidFill>
            <a:srgbClr val="2D6A87"/>
          </a:solidFill>
          <a:ln w="3810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000" b="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Asset Tree </a:t>
            </a:r>
          </a:p>
        </p:txBody>
      </p:sp>
      <p:sp>
        <p:nvSpPr>
          <p:cNvPr id="31" name="Title 63">
            <a:extLst>
              <a:ext uri="{FF2B5EF4-FFF2-40B4-BE49-F238E27FC236}">
                <a16:creationId xmlns:a16="http://schemas.microsoft.com/office/drawing/2014/main" id="{494FFA7A-1193-CB72-5B57-92F328EF866A}"/>
              </a:ext>
            </a:extLst>
          </p:cNvPr>
          <p:cNvSpPr txBox="1">
            <a:spLocks/>
          </p:cNvSpPr>
          <p:nvPr/>
        </p:nvSpPr>
        <p:spPr>
          <a:xfrm>
            <a:off x="0" y="1809532"/>
            <a:ext cx="2160000" cy="5037778"/>
          </a:xfrm>
          <a:prstGeom prst="rect">
            <a:avLst/>
          </a:prstGeom>
          <a:noFill/>
          <a:ln w="38100">
            <a:noFill/>
          </a:ln>
        </p:spPr>
        <p:txBody>
          <a:bodyPr anchor="t">
            <a:no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 Gas Purification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&gt;</a:t>
            </a: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Plant 2 Dehydration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&gt;</a:t>
            </a: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Plant 3 Fractionation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4 Refrigeration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5 Liquefaction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6 Condensate Stripping ...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15 LPG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16 Condensate Stabilize ... 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17 LPG Storage and Loa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highlight>
                  <a:srgbClr val="6E98A7"/>
                </a:highlight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17D-1/Q-1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17D-2/Q-1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17D-3/Q-1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17D-4/Q-1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17D-5/Q-1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+ add asset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19 Relief &amp; Blowdown S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20 Condensate Storage ...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20D-4/Q-1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     20D-5/Q-1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     20D-6/Q-1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+ add asset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21 Feed Gas Knockout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22 Marine Structures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24 LNG Storage and Loa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25 Fueling Facility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26 LPG Filling Station … &gt;Propane and Butane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27 Oxygen Plant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28 Acetylene Plant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29 Nitrogen Generation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30 Electrical </a:t>
            </a:r>
            <a:r>
              <a:rPr lang="en-US" sz="8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Distributio</a:t>
            </a: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31 Steam &amp; Power Gen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32 Seawater Cooling 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33 Fire Protection System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34 Liquid Waste System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35 Compressed Air System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36 Water Treatment Sy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37 Communication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+ add Plant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1307CDE-652B-AA42-3BF4-BE21B7F01B5F}"/>
              </a:ext>
            </a:extLst>
          </p:cNvPr>
          <p:cNvGrpSpPr/>
          <p:nvPr/>
        </p:nvGrpSpPr>
        <p:grpSpPr>
          <a:xfrm>
            <a:off x="216151" y="3948414"/>
            <a:ext cx="73594" cy="324419"/>
            <a:chOff x="216151" y="3221023"/>
            <a:chExt cx="73594" cy="324419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9982B457-5523-FFE3-EDAD-4CC56DE118C2}"/>
                </a:ext>
              </a:extLst>
            </p:cNvPr>
            <p:cNvSpPr/>
            <p:nvPr/>
          </p:nvSpPr>
          <p:spPr>
            <a:xfrm>
              <a:off x="217745" y="3346913"/>
              <a:ext cx="72000" cy="72000"/>
            </a:xfrm>
            <a:prstGeom prst="rect">
              <a:avLst/>
            </a:prstGeom>
            <a:solidFill>
              <a:schemeClr val="bg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C3F68A00-4701-FE17-A10C-88B452CB4C7D}"/>
                </a:ext>
              </a:extLst>
            </p:cNvPr>
            <p:cNvSpPr/>
            <p:nvPr/>
          </p:nvSpPr>
          <p:spPr>
            <a:xfrm>
              <a:off x="217745" y="3473442"/>
              <a:ext cx="72000" cy="72000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484F8D4E-9C04-A9ED-483A-4BAC2AFDDC19}"/>
                </a:ext>
              </a:extLst>
            </p:cNvPr>
            <p:cNvSpPr/>
            <p:nvPr/>
          </p:nvSpPr>
          <p:spPr>
            <a:xfrm>
              <a:off x="216151" y="3221023"/>
              <a:ext cx="72000" cy="720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sp>
        <p:nvSpPr>
          <p:cNvPr id="7" name="Title 63">
            <a:extLst>
              <a:ext uri="{FF2B5EF4-FFF2-40B4-BE49-F238E27FC236}">
                <a16:creationId xmlns:a16="http://schemas.microsoft.com/office/drawing/2014/main" id="{E029F6EC-CA7D-9DDD-F5ED-3846E88BEB8C}"/>
              </a:ext>
            </a:extLst>
          </p:cNvPr>
          <p:cNvSpPr txBox="1">
            <a:spLocks/>
          </p:cNvSpPr>
          <p:nvPr/>
        </p:nvSpPr>
        <p:spPr>
          <a:xfrm>
            <a:off x="2176858" y="1449533"/>
            <a:ext cx="1800000" cy="360000"/>
          </a:xfrm>
          <a:prstGeom prst="rect">
            <a:avLst/>
          </a:prstGeom>
          <a:solidFill>
            <a:srgbClr val="2D6A87"/>
          </a:solidFill>
          <a:ln w="3810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1000" b="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17D-1/Q-1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B3C000BB-32C7-9E12-E331-3BFAFF9A1302}"/>
              </a:ext>
            </a:extLst>
          </p:cNvPr>
          <p:cNvGrpSpPr/>
          <p:nvPr/>
        </p:nvGrpSpPr>
        <p:grpSpPr>
          <a:xfrm>
            <a:off x="214557" y="2975994"/>
            <a:ext cx="73594" cy="324419"/>
            <a:chOff x="216151" y="3221023"/>
            <a:chExt cx="73594" cy="324419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C00590DF-E516-D9E6-CE73-4EC29E246505}"/>
                </a:ext>
              </a:extLst>
            </p:cNvPr>
            <p:cNvSpPr/>
            <p:nvPr/>
          </p:nvSpPr>
          <p:spPr>
            <a:xfrm>
              <a:off x="217745" y="3346913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BDB34E88-4BD3-B08E-96C6-B90A47533A68}"/>
                </a:ext>
              </a:extLst>
            </p:cNvPr>
            <p:cNvSpPr/>
            <p:nvPr/>
          </p:nvSpPr>
          <p:spPr>
            <a:xfrm>
              <a:off x="217745" y="3473442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5F81A9AC-2F03-A1B8-A0F1-2FD6466948C5}"/>
                </a:ext>
              </a:extLst>
            </p:cNvPr>
            <p:cNvSpPr/>
            <p:nvPr/>
          </p:nvSpPr>
          <p:spPr>
            <a:xfrm>
              <a:off x="216151" y="3221023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8A57C717-B667-0B1C-52F4-757FBF709AB8}"/>
              </a:ext>
            </a:extLst>
          </p:cNvPr>
          <p:cNvGrpSpPr/>
          <p:nvPr/>
        </p:nvGrpSpPr>
        <p:grpSpPr>
          <a:xfrm>
            <a:off x="214557" y="3346544"/>
            <a:ext cx="73594" cy="197890"/>
            <a:chOff x="216151" y="3221023"/>
            <a:chExt cx="73594" cy="197890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D9D5E4C5-5DEA-8CED-FD30-0312950E9C8A}"/>
                </a:ext>
              </a:extLst>
            </p:cNvPr>
            <p:cNvSpPr/>
            <p:nvPr/>
          </p:nvSpPr>
          <p:spPr>
            <a:xfrm>
              <a:off x="217745" y="3346913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499BE4BE-B580-D02A-F7F3-D9C734EB2424}"/>
                </a:ext>
              </a:extLst>
            </p:cNvPr>
            <p:cNvSpPr/>
            <p:nvPr/>
          </p:nvSpPr>
          <p:spPr>
            <a:xfrm>
              <a:off x="216151" y="3221023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248C902E-3D23-D791-0509-807654A79835}"/>
              </a:ext>
            </a:extLst>
          </p:cNvPr>
          <p:cNvGrpSpPr/>
          <p:nvPr/>
        </p:nvGrpSpPr>
        <p:grpSpPr>
          <a:xfrm>
            <a:off x="0" y="934984"/>
            <a:ext cx="12204000" cy="361106"/>
            <a:chOff x="0" y="934984"/>
            <a:chExt cx="12204000" cy="361106"/>
          </a:xfrm>
        </p:grpSpPr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0A08686F-502A-EB05-7F2C-F9A0CAD57375}"/>
                </a:ext>
              </a:extLst>
            </p:cNvPr>
            <p:cNvGrpSpPr/>
            <p:nvPr/>
          </p:nvGrpSpPr>
          <p:grpSpPr>
            <a:xfrm>
              <a:off x="0" y="936090"/>
              <a:ext cx="12204000" cy="360000"/>
              <a:chOff x="0" y="936090"/>
              <a:chExt cx="12204000" cy="360000"/>
            </a:xfrm>
          </p:grpSpPr>
          <p:grpSp>
            <p:nvGrpSpPr>
              <p:cNvPr id="72" name="Group 71">
                <a:extLst>
                  <a:ext uri="{FF2B5EF4-FFF2-40B4-BE49-F238E27FC236}">
                    <a16:creationId xmlns:a16="http://schemas.microsoft.com/office/drawing/2014/main" id="{38FE8953-AFEB-92A4-E147-99713F3E2569}"/>
                  </a:ext>
                </a:extLst>
              </p:cNvPr>
              <p:cNvGrpSpPr/>
              <p:nvPr/>
            </p:nvGrpSpPr>
            <p:grpSpPr>
              <a:xfrm>
                <a:off x="0" y="936090"/>
                <a:ext cx="12204000" cy="360000"/>
                <a:chOff x="-2" y="2718720"/>
                <a:chExt cx="12204000" cy="360000"/>
              </a:xfrm>
            </p:grpSpPr>
            <p:sp>
              <p:nvSpPr>
                <p:cNvPr id="75" name="Title 63">
                  <a:extLst>
                    <a:ext uri="{FF2B5EF4-FFF2-40B4-BE49-F238E27FC236}">
                      <a16:creationId xmlns:a16="http://schemas.microsoft.com/office/drawing/2014/main" id="{A15496E7-16C2-5919-33C2-598F539D0BB8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-2" y="2718720"/>
                  <a:ext cx="720000" cy="360000"/>
                </a:xfrm>
                <a:prstGeom prst="rect">
                  <a:avLst/>
                </a:prstGeom>
                <a:solidFill>
                  <a:srgbClr val="2D6A87"/>
                </a:solidFill>
                <a:ln w="38100">
                  <a:noFill/>
                </a:ln>
              </p:spPr>
              <p:txBody>
                <a:bodyPr anchor="ctr">
                  <a:normAutofit/>
                </a:bodyPr>
                <a:lstStyle>
                  <a:lvl1pPr algn="l" defTabSz="914400" rtl="0" eaLnBrk="1" latinLnBrk="0" hangingPunct="1">
                    <a:lnSpc>
                      <a:spcPts val="4200"/>
                    </a:lnSpc>
                    <a:spcBef>
                      <a:spcPct val="0"/>
                    </a:spcBef>
                    <a:buNone/>
                    <a:defRPr sz="3200" b="1" kern="1200">
                      <a:solidFill>
                        <a:schemeClr val="bg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:pPr algn="ctr">
                    <a:lnSpc>
                      <a:spcPct val="100000"/>
                    </a:lnSpc>
                  </a:pPr>
                  <a:r>
                    <a:rPr lang="en-US" sz="1000" b="0" dirty="0">
                      <a:solidFill>
                        <a:schemeClr val="tx2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+mn-cs"/>
                    </a:rPr>
                    <a:t>Home</a:t>
                  </a:r>
                </a:p>
              </p:txBody>
            </p:sp>
            <p:grpSp>
              <p:nvGrpSpPr>
                <p:cNvPr id="77" name="Group 76">
                  <a:extLst>
                    <a:ext uri="{FF2B5EF4-FFF2-40B4-BE49-F238E27FC236}">
                      <a16:creationId xmlns:a16="http://schemas.microsoft.com/office/drawing/2014/main" id="{3BCD3096-7B9F-AF2F-F970-656624C2E15B}"/>
                    </a:ext>
                  </a:extLst>
                </p:cNvPr>
                <p:cNvGrpSpPr/>
                <p:nvPr/>
              </p:nvGrpSpPr>
              <p:grpSpPr>
                <a:xfrm>
                  <a:off x="10763998" y="2718720"/>
                  <a:ext cx="1440000" cy="360000"/>
                  <a:chOff x="4102098" y="3429000"/>
                  <a:chExt cx="1440000" cy="360000"/>
                </a:xfrm>
              </p:grpSpPr>
              <p:sp>
                <p:nvSpPr>
                  <p:cNvPr id="79" name="Title 63">
                    <a:extLst>
                      <a:ext uri="{FF2B5EF4-FFF2-40B4-BE49-F238E27FC236}">
                        <a16:creationId xmlns:a16="http://schemas.microsoft.com/office/drawing/2014/main" id="{41168E76-3226-4730-7787-82592D3EE41B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4102098" y="3429000"/>
                    <a:ext cx="720000" cy="360000"/>
                  </a:xfrm>
                  <a:prstGeom prst="rect">
                    <a:avLst/>
                  </a:prstGeom>
                  <a:solidFill>
                    <a:srgbClr val="2D6A87"/>
                  </a:solidFill>
                  <a:ln w="38100">
                    <a:noFill/>
                  </a:ln>
                </p:spPr>
                <p:txBody>
                  <a:bodyPr anchor="ctr">
                    <a:normAutofit/>
                  </a:bodyPr>
                  <a:lstStyle>
                    <a:lvl1pPr algn="l" defTabSz="914400" rtl="0" eaLnBrk="1" latinLnBrk="0" hangingPunct="1">
                      <a:lnSpc>
                        <a:spcPts val="4200"/>
                      </a:lnSpc>
                      <a:spcBef>
                        <a:spcPct val="0"/>
                      </a:spcBef>
                      <a:buNone/>
                      <a:defRPr sz="3200" b="1" kern="1200">
                        <a:solidFill>
                          <a:schemeClr val="bg1"/>
                        </a:solidFill>
                        <a:latin typeface="+mj-lt"/>
                        <a:ea typeface="+mj-ea"/>
                        <a:cs typeface="+mj-cs"/>
                      </a:defRPr>
                    </a:lvl1pPr>
                  </a:lstStyle>
                  <a:p>
                    <a:pPr algn="ctr">
                      <a:lnSpc>
                        <a:spcPct val="100000"/>
                      </a:lnSpc>
                    </a:pPr>
                    <a:r>
                      <a:rPr lang="en-US" sz="1000" b="0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rPr>
                      <a:t>Help</a:t>
                    </a:r>
                  </a:p>
                </p:txBody>
              </p:sp>
              <p:sp>
                <p:nvSpPr>
                  <p:cNvPr id="80" name="Title 63">
                    <a:extLst>
                      <a:ext uri="{FF2B5EF4-FFF2-40B4-BE49-F238E27FC236}">
                        <a16:creationId xmlns:a16="http://schemas.microsoft.com/office/drawing/2014/main" id="{D4F12014-019C-3D0E-6B17-6BB6B4DF51E1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4822098" y="3429000"/>
                    <a:ext cx="720000" cy="360000"/>
                  </a:xfrm>
                  <a:prstGeom prst="rect">
                    <a:avLst/>
                  </a:prstGeom>
                  <a:solidFill>
                    <a:srgbClr val="2D6A87"/>
                  </a:solidFill>
                  <a:ln w="38100">
                    <a:noFill/>
                  </a:ln>
                </p:spPr>
                <p:txBody>
                  <a:bodyPr anchor="ctr">
                    <a:normAutofit/>
                  </a:bodyPr>
                  <a:lstStyle>
                    <a:lvl1pPr algn="l" defTabSz="914400" rtl="0" eaLnBrk="1" latinLnBrk="0" hangingPunct="1">
                      <a:lnSpc>
                        <a:spcPts val="4200"/>
                      </a:lnSpc>
                      <a:spcBef>
                        <a:spcPct val="0"/>
                      </a:spcBef>
                      <a:buNone/>
                      <a:defRPr sz="3200" b="1" kern="1200">
                        <a:solidFill>
                          <a:schemeClr val="bg1"/>
                        </a:solidFill>
                        <a:latin typeface="+mj-lt"/>
                        <a:ea typeface="+mj-ea"/>
                        <a:cs typeface="+mj-cs"/>
                      </a:defRPr>
                    </a:lvl1pPr>
                  </a:lstStyle>
                  <a:p>
                    <a:pPr algn="ctr">
                      <a:lnSpc>
                        <a:spcPct val="100000"/>
                      </a:lnSpc>
                    </a:pPr>
                    <a:r>
                      <a:rPr lang="en-US" sz="1000" b="0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rPr>
                      <a:t>Logout</a:t>
                    </a:r>
                  </a:p>
                </p:txBody>
              </p:sp>
            </p:grpSp>
            <p:sp>
              <p:nvSpPr>
                <p:cNvPr id="78" name="Title 63">
                  <a:extLst>
                    <a:ext uri="{FF2B5EF4-FFF2-40B4-BE49-F238E27FC236}">
                      <a16:creationId xmlns:a16="http://schemas.microsoft.com/office/drawing/2014/main" id="{92A61A96-EA50-BF43-7BF7-57902973F2AC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439998" y="2718720"/>
                  <a:ext cx="8600924" cy="360000"/>
                </a:xfrm>
                <a:prstGeom prst="rect">
                  <a:avLst/>
                </a:prstGeom>
                <a:solidFill>
                  <a:srgbClr val="2D6A87"/>
                </a:solidFill>
                <a:ln w="38100">
                  <a:noFill/>
                </a:ln>
              </p:spPr>
              <p:txBody>
                <a:bodyPr anchor="ctr">
                  <a:normAutofit/>
                </a:bodyPr>
                <a:lstStyle>
                  <a:lvl1pPr algn="l" defTabSz="914400" rtl="0" eaLnBrk="1" latinLnBrk="0" hangingPunct="1">
                    <a:lnSpc>
                      <a:spcPts val="4200"/>
                    </a:lnSpc>
                    <a:spcBef>
                      <a:spcPct val="0"/>
                    </a:spcBef>
                    <a:buNone/>
                    <a:defRPr sz="3200" b="1" kern="1200">
                      <a:solidFill>
                        <a:schemeClr val="bg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:pPr>
                    <a:lnSpc>
                      <a:spcPct val="100000"/>
                    </a:lnSpc>
                  </a:pPr>
                  <a:endParaRPr lang="en-US" sz="1000" b="0" dirty="0">
                    <a:solidFill>
                      <a:schemeClr val="tx2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endParaRPr>
                </a:p>
              </p:txBody>
            </p:sp>
          </p:grpSp>
          <p:sp>
            <p:nvSpPr>
              <p:cNvPr id="73" name="Title 63">
                <a:extLst>
                  <a:ext uri="{FF2B5EF4-FFF2-40B4-BE49-F238E27FC236}">
                    <a16:creationId xmlns:a16="http://schemas.microsoft.com/office/drawing/2014/main" id="{4588BDDD-87DB-978B-A41A-55E9C00FDA1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20000" y="936090"/>
                <a:ext cx="720000" cy="360000"/>
              </a:xfrm>
              <a:prstGeom prst="rect">
                <a:avLst/>
              </a:prstGeom>
              <a:solidFill>
                <a:srgbClr val="2D6A87"/>
              </a:solidFill>
              <a:ln w="38100">
                <a:noFill/>
              </a:ln>
            </p:spPr>
            <p:txBody>
              <a:bodyPr anchor="ctr">
                <a:normAutofit fontScale="92500" lnSpcReduction="10000"/>
              </a:bodyPr>
              <a:lstStyle>
                <a:lvl1pPr algn="l" defTabSz="914400" rtl="0" eaLnBrk="1" latinLnBrk="0" hangingPunct="1">
                  <a:lnSpc>
                    <a:spcPts val="4200"/>
                  </a:lnSpc>
                  <a:spcBef>
                    <a:spcPct val="0"/>
                  </a:spcBef>
                  <a:buNone/>
                  <a:defRPr sz="3200" b="1" kern="1200">
                    <a:solidFill>
                      <a:schemeClr val="bg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00000"/>
                  </a:lnSpc>
                </a:pPr>
                <a:r>
                  <a:rPr lang="en-US" sz="1000" b="0" dirty="0">
                    <a:solidFill>
                      <a:schemeClr val="tx2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rPr>
                  <a:t>Asset Register</a:t>
                </a:r>
              </a:p>
            </p:txBody>
          </p:sp>
        </p:grpSp>
        <p:sp>
          <p:nvSpPr>
            <p:cNvPr id="71" name="Title 63">
              <a:extLst>
                <a:ext uri="{FF2B5EF4-FFF2-40B4-BE49-F238E27FC236}">
                  <a16:creationId xmlns:a16="http://schemas.microsoft.com/office/drawing/2014/main" id="{F1D5B141-2F6D-5A1B-E582-0682034CA92B}"/>
                </a:ext>
              </a:extLst>
            </p:cNvPr>
            <p:cNvSpPr txBox="1">
              <a:spLocks/>
            </p:cNvSpPr>
            <p:nvPr/>
          </p:nvSpPr>
          <p:spPr>
            <a:xfrm>
              <a:off x="10040924" y="934984"/>
              <a:ext cx="720000" cy="360000"/>
            </a:xfrm>
            <a:prstGeom prst="rect">
              <a:avLst/>
            </a:prstGeom>
            <a:solidFill>
              <a:srgbClr val="2D6A87"/>
            </a:solidFill>
            <a:ln w="38100">
              <a:noFill/>
            </a:ln>
          </p:spPr>
          <p:txBody>
            <a:bodyPr anchor="ctr">
              <a:normAutofit fontScale="92500" lnSpcReduction="10000"/>
            </a:bodyPr>
            <a:lstStyle>
              <a:lvl1pPr algn="l" defTabSz="914400" rtl="0" eaLnBrk="1" latinLnBrk="0" hangingPunct="1">
                <a:lnSpc>
                  <a:spcPts val="4200"/>
                </a:lnSpc>
                <a:spcBef>
                  <a:spcPct val="0"/>
                </a:spcBef>
                <a:buNone/>
                <a:defRPr sz="3200" b="1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>
                <a:lnSpc>
                  <a:spcPct val="100000"/>
                </a:lnSpc>
              </a:pPr>
              <a:r>
                <a:rPr lang="en-US" sz="1000" b="0" dirty="0">
                  <a:solidFill>
                    <a:schemeClr val="tx2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Account Manager</a:t>
              </a:r>
            </a:p>
          </p:txBody>
        </p:sp>
      </p:grpSp>
      <p:sp>
        <p:nvSpPr>
          <p:cNvPr id="8" name="Title 63">
            <a:extLst>
              <a:ext uri="{FF2B5EF4-FFF2-40B4-BE49-F238E27FC236}">
                <a16:creationId xmlns:a16="http://schemas.microsoft.com/office/drawing/2014/main" id="{DDC177C5-B02D-9D52-0AE8-4CAA8F804FCE}"/>
              </a:ext>
            </a:extLst>
          </p:cNvPr>
          <p:cNvSpPr txBox="1">
            <a:spLocks/>
          </p:cNvSpPr>
          <p:nvPr/>
        </p:nvSpPr>
        <p:spPr>
          <a:xfrm>
            <a:off x="3993716" y="1449316"/>
            <a:ext cx="8210283" cy="360000"/>
          </a:xfrm>
          <a:prstGeom prst="rect">
            <a:avLst/>
          </a:prstGeom>
          <a:solidFill>
            <a:srgbClr val="2D6A87"/>
          </a:solidFill>
          <a:ln w="3810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000" b="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Asset Register | Condition (GVI) | Inspection | Risk Based Inspection | </a:t>
            </a:r>
            <a:r>
              <a:rPr lang="en-US" sz="1000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Technical Document </a:t>
            </a:r>
            <a:r>
              <a:rPr lang="en-US" sz="1000" b="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| Documentation | Name Plate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37704122-8028-D0A8-B330-F1A8D3F1FE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9860924" y="1672072"/>
            <a:ext cx="360000" cy="323076"/>
          </a:xfrm>
          <a:prstGeom prst="ellipse">
            <a:avLst/>
          </a:prstGeom>
          <a:ln w="3175" cap="rnd">
            <a:solidFill>
              <a:srgbClr val="00B050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462CD7B6-FC01-A0DC-CC32-93CDAAC9F4B7}"/>
              </a:ext>
            </a:extLst>
          </p:cNvPr>
          <p:cNvGrpSpPr/>
          <p:nvPr/>
        </p:nvGrpSpPr>
        <p:grpSpPr>
          <a:xfrm>
            <a:off x="5437775" y="3173884"/>
            <a:ext cx="2160000" cy="2109669"/>
            <a:chOff x="5437775" y="3173884"/>
            <a:chExt cx="2160000" cy="2109669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9E05323-FAB8-2DA9-86A1-91605CB21DC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5833506" y="3173884"/>
              <a:ext cx="1368539" cy="1800000"/>
            </a:xfrm>
            <a:prstGeom prst="rect">
              <a:avLst/>
            </a:prstGeom>
          </p:spPr>
        </p:pic>
        <p:sp>
          <p:nvSpPr>
            <p:cNvPr id="15" name="Title 63">
              <a:extLst>
                <a:ext uri="{FF2B5EF4-FFF2-40B4-BE49-F238E27FC236}">
                  <a16:creationId xmlns:a16="http://schemas.microsoft.com/office/drawing/2014/main" id="{C2E86181-47C2-7C90-767E-5EFFB87E9B96}"/>
                </a:ext>
              </a:extLst>
            </p:cNvPr>
            <p:cNvSpPr txBox="1">
              <a:spLocks/>
            </p:cNvSpPr>
            <p:nvPr/>
          </p:nvSpPr>
          <p:spPr>
            <a:xfrm>
              <a:off x="5437775" y="5033291"/>
              <a:ext cx="2160000" cy="250262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>
              <a:noAutofit/>
            </a:bodyPr>
            <a:lstStyle>
              <a:lvl1pPr algn="l" defTabSz="914400" rtl="0" eaLnBrk="1" latinLnBrk="0" hangingPunct="1">
                <a:lnSpc>
                  <a:spcPts val="4200"/>
                </a:lnSpc>
                <a:spcBef>
                  <a:spcPct val="0"/>
                </a:spcBef>
                <a:buNone/>
                <a:defRPr sz="3200" b="1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>
                <a:lnSpc>
                  <a:spcPct val="100000"/>
                </a:lnSpc>
              </a:pPr>
              <a:r>
                <a:rPr lang="en-US" sz="1050" dirty="0">
                  <a:solidFill>
                    <a:schemeClr val="tx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Module Locked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60006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09FE7-B0E5-BDF8-C129-530E265F3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itle 63">
            <a:extLst>
              <a:ext uri="{FF2B5EF4-FFF2-40B4-BE49-F238E27FC236}">
                <a16:creationId xmlns:a16="http://schemas.microsoft.com/office/drawing/2014/main" id="{D5316B32-22A4-DBDB-0371-E7C1CE8330D9}"/>
              </a:ext>
            </a:extLst>
          </p:cNvPr>
          <p:cNvSpPr txBox="1">
            <a:spLocks/>
          </p:cNvSpPr>
          <p:nvPr/>
        </p:nvSpPr>
        <p:spPr>
          <a:xfrm>
            <a:off x="0" y="1462924"/>
            <a:ext cx="2152665" cy="5395076"/>
          </a:xfrm>
          <a:prstGeom prst="rect">
            <a:avLst/>
          </a:prstGeom>
          <a:noFill/>
          <a:ln w="19050">
            <a:solidFill>
              <a:srgbClr val="2D6A87"/>
            </a:solidFill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endParaRPr lang="en-US" sz="1000" b="0" dirty="0">
              <a:solidFill>
                <a:schemeClr val="tx2"/>
              </a:solidFill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2" name="Title 63">
            <a:extLst>
              <a:ext uri="{FF2B5EF4-FFF2-40B4-BE49-F238E27FC236}">
                <a16:creationId xmlns:a16="http://schemas.microsoft.com/office/drawing/2014/main" id="{A33553EE-1F00-8F3A-4FFB-4E19C4857463}"/>
              </a:ext>
            </a:extLst>
          </p:cNvPr>
          <p:cNvSpPr txBox="1">
            <a:spLocks/>
          </p:cNvSpPr>
          <p:nvPr/>
        </p:nvSpPr>
        <p:spPr>
          <a:xfrm>
            <a:off x="-1" y="10690"/>
            <a:ext cx="12192001" cy="900000"/>
          </a:xfrm>
          <a:prstGeom prst="rect">
            <a:avLst/>
          </a:prstGeom>
          <a:solidFill>
            <a:schemeClr val="tx2"/>
          </a:solidFill>
          <a:ln w="3810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2D6A87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Structural Integrity Management System (SIMS)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33B152-1650-1857-768C-5E60E4D13549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2836" r="22678"/>
          <a:stretch>
            <a:fillRect/>
          </a:stretch>
        </p:blipFill>
        <p:spPr>
          <a:xfrm>
            <a:off x="174883" y="103675"/>
            <a:ext cx="691633" cy="714030"/>
          </a:xfrm>
          <a:prstGeom prst="rect">
            <a:avLst/>
          </a:prstGeom>
        </p:spPr>
      </p:pic>
      <p:sp>
        <p:nvSpPr>
          <p:cNvPr id="25" name="Title 63">
            <a:extLst>
              <a:ext uri="{FF2B5EF4-FFF2-40B4-BE49-F238E27FC236}">
                <a16:creationId xmlns:a16="http://schemas.microsoft.com/office/drawing/2014/main" id="{B3D11D6B-84DD-4BE3-6066-F453A1A9514A}"/>
              </a:ext>
            </a:extLst>
          </p:cNvPr>
          <p:cNvSpPr txBox="1">
            <a:spLocks/>
          </p:cNvSpPr>
          <p:nvPr/>
        </p:nvSpPr>
        <p:spPr>
          <a:xfrm>
            <a:off x="0" y="1449533"/>
            <a:ext cx="2160000" cy="360000"/>
          </a:xfrm>
          <a:prstGeom prst="rect">
            <a:avLst/>
          </a:prstGeom>
          <a:solidFill>
            <a:srgbClr val="2D6A87"/>
          </a:solidFill>
          <a:ln w="3810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000" b="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Asset Tree </a:t>
            </a:r>
          </a:p>
        </p:txBody>
      </p:sp>
      <p:sp>
        <p:nvSpPr>
          <p:cNvPr id="31" name="Title 63">
            <a:extLst>
              <a:ext uri="{FF2B5EF4-FFF2-40B4-BE49-F238E27FC236}">
                <a16:creationId xmlns:a16="http://schemas.microsoft.com/office/drawing/2014/main" id="{A7861EDD-5EBE-0787-C329-0946C385CFDB}"/>
              </a:ext>
            </a:extLst>
          </p:cNvPr>
          <p:cNvSpPr txBox="1">
            <a:spLocks/>
          </p:cNvSpPr>
          <p:nvPr/>
        </p:nvSpPr>
        <p:spPr>
          <a:xfrm>
            <a:off x="0" y="1809532"/>
            <a:ext cx="2160000" cy="5037778"/>
          </a:xfrm>
          <a:prstGeom prst="rect">
            <a:avLst/>
          </a:prstGeom>
          <a:noFill/>
          <a:ln w="38100">
            <a:noFill/>
          </a:ln>
        </p:spPr>
        <p:txBody>
          <a:bodyPr anchor="t">
            <a:no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 Gas Purification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&gt;</a:t>
            </a: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Plant 2 Dehydration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&gt;</a:t>
            </a: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Plant 3 Fractionation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4 Refrigeration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5 Liquefaction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6 Condensate Stripping ...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15 LPG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16 Condensate Stabilize ... 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17 LPG Storage and Loa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highlight>
                  <a:srgbClr val="6E98A7"/>
                </a:highlight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17D-1/Q-1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17D-2/Q-1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17D-3/Q-1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17D-4/Q-1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17D-5/Q-1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+ add asset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19 Relief &amp; Blowdown S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20 Condensate Storage ...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20D-4/Q-1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     20D-5/Q-1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     20D-6/Q-1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+ add asset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21 Feed Gas Knockout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22 Marine Structures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24 LNG Storage and Loa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25 Fueling Facility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26 LPG Filling Station … &gt;Propane and Butane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27 Oxygen Plant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28 Acetylene Plant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29 Nitrogen Generation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30 Electrical </a:t>
            </a:r>
            <a:r>
              <a:rPr lang="en-US" sz="8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Distributio</a:t>
            </a: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31 Steam &amp; Power Gen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32 Seawater Cooling 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33 Fire Protection System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34 Liquid Waste System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35 Compressed Air System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36 Water Treatment Sy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37 Communication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+ add Plant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34903F3-6D38-59E4-E025-3822EA7AC8EE}"/>
              </a:ext>
            </a:extLst>
          </p:cNvPr>
          <p:cNvGrpSpPr/>
          <p:nvPr/>
        </p:nvGrpSpPr>
        <p:grpSpPr>
          <a:xfrm>
            <a:off x="216151" y="3948414"/>
            <a:ext cx="73594" cy="324419"/>
            <a:chOff x="216151" y="3221023"/>
            <a:chExt cx="73594" cy="324419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478D73E3-6377-BB6E-0A94-5E434C3EF847}"/>
                </a:ext>
              </a:extLst>
            </p:cNvPr>
            <p:cNvSpPr/>
            <p:nvPr/>
          </p:nvSpPr>
          <p:spPr>
            <a:xfrm>
              <a:off x="217745" y="3346913"/>
              <a:ext cx="72000" cy="72000"/>
            </a:xfrm>
            <a:prstGeom prst="rect">
              <a:avLst/>
            </a:prstGeom>
            <a:solidFill>
              <a:schemeClr val="bg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A85C0F50-D307-D60A-8D96-1A7E287E6B08}"/>
                </a:ext>
              </a:extLst>
            </p:cNvPr>
            <p:cNvSpPr/>
            <p:nvPr/>
          </p:nvSpPr>
          <p:spPr>
            <a:xfrm>
              <a:off x="217745" y="3473442"/>
              <a:ext cx="72000" cy="72000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3733901F-FE63-AF88-6500-F4728748AB02}"/>
                </a:ext>
              </a:extLst>
            </p:cNvPr>
            <p:cNvSpPr/>
            <p:nvPr/>
          </p:nvSpPr>
          <p:spPr>
            <a:xfrm>
              <a:off x="216151" y="3221023"/>
              <a:ext cx="72000" cy="720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sp>
        <p:nvSpPr>
          <p:cNvPr id="7" name="Title 63">
            <a:extLst>
              <a:ext uri="{FF2B5EF4-FFF2-40B4-BE49-F238E27FC236}">
                <a16:creationId xmlns:a16="http://schemas.microsoft.com/office/drawing/2014/main" id="{EEEA6159-F1D2-D181-9FDF-A62A621CF68D}"/>
              </a:ext>
            </a:extLst>
          </p:cNvPr>
          <p:cNvSpPr txBox="1">
            <a:spLocks/>
          </p:cNvSpPr>
          <p:nvPr/>
        </p:nvSpPr>
        <p:spPr>
          <a:xfrm>
            <a:off x="2176858" y="1449533"/>
            <a:ext cx="1800000" cy="360000"/>
          </a:xfrm>
          <a:prstGeom prst="rect">
            <a:avLst/>
          </a:prstGeom>
          <a:solidFill>
            <a:srgbClr val="2D6A87"/>
          </a:solidFill>
          <a:ln w="3810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1000" b="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17D-1/Q-1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732E6CA9-3672-DC21-5521-6A050E9DB544}"/>
              </a:ext>
            </a:extLst>
          </p:cNvPr>
          <p:cNvGrpSpPr/>
          <p:nvPr/>
        </p:nvGrpSpPr>
        <p:grpSpPr>
          <a:xfrm>
            <a:off x="214557" y="2975994"/>
            <a:ext cx="73594" cy="324419"/>
            <a:chOff x="216151" y="3221023"/>
            <a:chExt cx="73594" cy="324419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2901CC96-7204-6DB3-F21D-248B93091856}"/>
                </a:ext>
              </a:extLst>
            </p:cNvPr>
            <p:cNvSpPr/>
            <p:nvPr/>
          </p:nvSpPr>
          <p:spPr>
            <a:xfrm>
              <a:off x="217745" y="3346913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21CD72BF-9F16-18D9-A623-62A0C1E3A283}"/>
                </a:ext>
              </a:extLst>
            </p:cNvPr>
            <p:cNvSpPr/>
            <p:nvPr/>
          </p:nvSpPr>
          <p:spPr>
            <a:xfrm>
              <a:off x="217745" y="3473442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8CA7647F-9B14-0506-71DA-618725874593}"/>
                </a:ext>
              </a:extLst>
            </p:cNvPr>
            <p:cNvSpPr/>
            <p:nvPr/>
          </p:nvSpPr>
          <p:spPr>
            <a:xfrm>
              <a:off x="216151" y="3221023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72102E6E-56DD-99FB-56ED-4B147CDE3437}"/>
              </a:ext>
            </a:extLst>
          </p:cNvPr>
          <p:cNvGrpSpPr/>
          <p:nvPr/>
        </p:nvGrpSpPr>
        <p:grpSpPr>
          <a:xfrm>
            <a:off x="214557" y="3346544"/>
            <a:ext cx="73594" cy="197890"/>
            <a:chOff x="216151" y="3221023"/>
            <a:chExt cx="73594" cy="197890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E2753867-5466-D7B5-3908-4F0E8D2FE7B4}"/>
                </a:ext>
              </a:extLst>
            </p:cNvPr>
            <p:cNvSpPr/>
            <p:nvPr/>
          </p:nvSpPr>
          <p:spPr>
            <a:xfrm>
              <a:off x="217745" y="3346913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99A974D3-F3BB-F232-84EE-A2D2EA7C41B6}"/>
                </a:ext>
              </a:extLst>
            </p:cNvPr>
            <p:cNvSpPr/>
            <p:nvPr/>
          </p:nvSpPr>
          <p:spPr>
            <a:xfrm>
              <a:off x="216151" y="3221023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A564B310-9058-E81B-5C4B-80A1790D56F9}"/>
              </a:ext>
            </a:extLst>
          </p:cNvPr>
          <p:cNvGrpSpPr/>
          <p:nvPr/>
        </p:nvGrpSpPr>
        <p:grpSpPr>
          <a:xfrm>
            <a:off x="0" y="934984"/>
            <a:ext cx="12204000" cy="361106"/>
            <a:chOff x="0" y="934984"/>
            <a:chExt cx="12204000" cy="361106"/>
          </a:xfrm>
        </p:grpSpPr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E3959F1D-DE14-E6B4-AB4C-ED5CA41F6BBD}"/>
                </a:ext>
              </a:extLst>
            </p:cNvPr>
            <p:cNvGrpSpPr/>
            <p:nvPr/>
          </p:nvGrpSpPr>
          <p:grpSpPr>
            <a:xfrm>
              <a:off x="0" y="936090"/>
              <a:ext cx="12204000" cy="360000"/>
              <a:chOff x="0" y="936090"/>
              <a:chExt cx="12204000" cy="360000"/>
            </a:xfrm>
          </p:grpSpPr>
          <p:grpSp>
            <p:nvGrpSpPr>
              <p:cNvPr id="72" name="Group 71">
                <a:extLst>
                  <a:ext uri="{FF2B5EF4-FFF2-40B4-BE49-F238E27FC236}">
                    <a16:creationId xmlns:a16="http://schemas.microsoft.com/office/drawing/2014/main" id="{7DF516B5-CC54-C7AC-2259-9F9F28D84967}"/>
                  </a:ext>
                </a:extLst>
              </p:cNvPr>
              <p:cNvGrpSpPr/>
              <p:nvPr/>
            </p:nvGrpSpPr>
            <p:grpSpPr>
              <a:xfrm>
                <a:off x="0" y="936090"/>
                <a:ext cx="12204000" cy="360000"/>
                <a:chOff x="-2" y="2718720"/>
                <a:chExt cx="12204000" cy="360000"/>
              </a:xfrm>
            </p:grpSpPr>
            <p:sp>
              <p:nvSpPr>
                <p:cNvPr id="75" name="Title 63">
                  <a:extLst>
                    <a:ext uri="{FF2B5EF4-FFF2-40B4-BE49-F238E27FC236}">
                      <a16:creationId xmlns:a16="http://schemas.microsoft.com/office/drawing/2014/main" id="{2BD8DE18-7D56-D806-45EB-D162547DF572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-2" y="2718720"/>
                  <a:ext cx="720000" cy="360000"/>
                </a:xfrm>
                <a:prstGeom prst="rect">
                  <a:avLst/>
                </a:prstGeom>
                <a:solidFill>
                  <a:srgbClr val="2D6A87"/>
                </a:solidFill>
                <a:ln w="38100">
                  <a:noFill/>
                </a:ln>
              </p:spPr>
              <p:txBody>
                <a:bodyPr anchor="ctr">
                  <a:normAutofit/>
                </a:bodyPr>
                <a:lstStyle>
                  <a:lvl1pPr algn="l" defTabSz="914400" rtl="0" eaLnBrk="1" latinLnBrk="0" hangingPunct="1">
                    <a:lnSpc>
                      <a:spcPts val="4200"/>
                    </a:lnSpc>
                    <a:spcBef>
                      <a:spcPct val="0"/>
                    </a:spcBef>
                    <a:buNone/>
                    <a:defRPr sz="3200" b="1" kern="1200">
                      <a:solidFill>
                        <a:schemeClr val="bg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:pPr algn="ctr">
                    <a:lnSpc>
                      <a:spcPct val="100000"/>
                    </a:lnSpc>
                  </a:pPr>
                  <a:r>
                    <a:rPr lang="en-US" sz="1000" b="0" dirty="0">
                      <a:solidFill>
                        <a:schemeClr val="tx2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+mn-cs"/>
                    </a:rPr>
                    <a:t>Home</a:t>
                  </a:r>
                </a:p>
              </p:txBody>
            </p:sp>
            <p:grpSp>
              <p:nvGrpSpPr>
                <p:cNvPr id="77" name="Group 76">
                  <a:extLst>
                    <a:ext uri="{FF2B5EF4-FFF2-40B4-BE49-F238E27FC236}">
                      <a16:creationId xmlns:a16="http://schemas.microsoft.com/office/drawing/2014/main" id="{91E0B020-C62A-9BAD-5472-67A285C10FE0}"/>
                    </a:ext>
                  </a:extLst>
                </p:cNvPr>
                <p:cNvGrpSpPr/>
                <p:nvPr/>
              </p:nvGrpSpPr>
              <p:grpSpPr>
                <a:xfrm>
                  <a:off x="10763998" y="2718720"/>
                  <a:ext cx="1440000" cy="360000"/>
                  <a:chOff x="4102098" y="3429000"/>
                  <a:chExt cx="1440000" cy="360000"/>
                </a:xfrm>
              </p:grpSpPr>
              <p:sp>
                <p:nvSpPr>
                  <p:cNvPr id="79" name="Title 63">
                    <a:extLst>
                      <a:ext uri="{FF2B5EF4-FFF2-40B4-BE49-F238E27FC236}">
                        <a16:creationId xmlns:a16="http://schemas.microsoft.com/office/drawing/2014/main" id="{900F637E-A68A-8719-1BDD-EA22D5E48583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4102098" y="3429000"/>
                    <a:ext cx="720000" cy="360000"/>
                  </a:xfrm>
                  <a:prstGeom prst="rect">
                    <a:avLst/>
                  </a:prstGeom>
                  <a:solidFill>
                    <a:srgbClr val="2D6A87"/>
                  </a:solidFill>
                  <a:ln w="38100">
                    <a:noFill/>
                  </a:ln>
                </p:spPr>
                <p:txBody>
                  <a:bodyPr anchor="ctr">
                    <a:normAutofit/>
                  </a:bodyPr>
                  <a:lstStyle>
                    <a:lvl1pPr algn="l" defTabSz="914400" rtl="0" eaLnBrk="1" latinLnBrk="0" hangingPunct="1">
                      <a:lnSpc>
                        <a:spcPts val="4200"/>
                      </a:lnSpc>
                      <a:spcBef>
                        <a:spcPct val="0"/>
                      </a:spcBef>
                      <a:buNone/>
                      <a:defRPr sz="3200" b="1" kern="1200">
                        <a:solidFill>
                          <a:schemeClr val="bg1"/>
                        </a:solidFill>
                        <a:latin typeface="+mj-lt"/>
                        <a:ea typeface="+mj-ea"/>
                        <a:cs typeface="+mj-cs"/>
                      </a:defRPr>
                    </a:lvl1pPr>
                  </a:lstStyle>
                  <a:p>
                    <a:pPr algn="ctr">
                      <a:lnSpc>
                        <a:spcPct val="100000"/>
                      </a:lnSpc>
                    </a:pPr>
                    <a:r>
                      <a:rPr lang="en-US" sz="1000" b="0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rPr>
                      <a:t>Help</a:t>
                    </a:r>
                  </a:p>
                </p:txBody>
              </p:sp>
              <p:sp>
                <p:nvSpPr>
                  <p:cNvPr id="80" name="Title 63">
                    <a:extLst>
                      <a:ext uri="{FF2B5EF4-FFF2-40B4-BE49-F238E27FC236}">
                        <a16:creationId xmlns:a16="http://schemas.microsoft.com/office/drawing/2014/main" id="{9122E3D2-8FC9-1ADD-734F-A0A5F3411813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4822098" y="3429000"/>
                    <a:ext cx="720000" cy="360000"/>
                  </a:xfrm>
                  <a:prstGeom prst="rect">
                    <a:avLst/>
                  </a:prstGeom>
                  <a:solidFill>
                    <a:srgbClr val="2D6A87"/>
                  </a:solidFill>
                  <a:ln w="38100">
                    <a:noFill/>
                  </a:ln>
                </p:spPr>
                <p:txBody>
                  <a:bodyPr anchor="ctr">
                    <a:normAutofit/>
                  </a:bodyPr>
                  <a:lstStyle>
                    <a:lvl1pPr algn="l" defTabSz="914400" rtl="0" eaLnBrk="1" latinLnBrk="0" hangingPunct="1">
                      <a:lnSpc>
                        <a:spcPts val="4200"/>
                      </a:lnSpc>
                      <a:spcBef>
                        <a:spcPct val="0"/>
                      </a:spcBef>
                      <a:buNone/>
                      <a:defRPr sz="3200" b="1" kern="1200">
                        <a:solidFill>
                          <a:schemeClr val="bg1"/>
                        </a:solidFill>
                        <a:latin typeface="+mj-lt"/>
                        <a:ea typeface="+mj-ea"/>
                        <a:cs typeface="+mj-cs"/>
                      </a:defRPr>
                    </a:lvl1pPr>
                  </a:lstStyle>
                  <a:p>
                    <a:pPr algn="ctr">
                      <a:lnSpc>
                        <a:spcPct val="100000"/>
                      </a:lnSpc>
                    </a:pPr>
                    <a:r>
                      <a:rPr lang="en-US" sz="1000" b="0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rPr>
                      <a:t>Logout</a:t>
                    </a:r>
                  </a:p>
                </p:txBody>
              </p:sp>
            </p:grpSp>
            <p:sp>
              <p:nvSpPr>
                <p:cNvPr id="78" name="Title 63">
                  <a:extLst>
                    <a:ext uri="{FF2B5EF4-FFF2-40B4-BE49-F238E27FC236}">
                      <a16:creationId xmlns:a16="http://schemas.microsoft.com/office/drawing/2014/main" id="{75A13F25-0A79-7FA4-9A03-7FC90DB7D615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439998" y="2718720"/>
                  <a:ext cx="8600924" cy="360000"/>
                </a:xfrm>
                <a:prstGeom prst="rect">
                  <a:avLst/>
                </a:prstGeom>
                <a:solidFill>
                  <a:srgbClr val="2D6A87"/>
                </a:solidFill>
                <a:ln w="38100">
                  <a:noFill/>
                </a:ln>
              </p:spPr>
              <p:txBody>
                <a:bodyPr anchor="ctr">
                  <a:normAutofit/>
                </a:bodyPr>
                <a:lstStyle>
                  <a:lvl1pPr algn="l" defTabSz="914400" rtl="0" eaLnBrk="1" latinLnBrk="0" hangingPunct="1">
                    <a:lnSpc>
                      <a:spcPts val="4200"/>
                    </a:lnSpc>
                    <a:spcBef>
                      <a:spcPct val="0"/>
                    </a:spcBef>
                    <a:buNone/>
                    <a:defRPr sz="3200" b="1" kern="1200">
                      <a:solidFill>
                        <a:schemeClr val="bg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:pPr>
                    <a:lnSpc>
                      <a:spcPct val="100000"/>
                    </a:lnSpc>
                  </a:pPr>
                  <a:endParaRPr lang="en-US" sz="1000" b="0" dirty="0">
                    <a:solidFill>
                      <a:schemeClr val="tx2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endParaRPr>
                </a:p>
              </p:txBody>
            </p:sp>
          </p:grpSp>
          <p:sp>
            <p:nvSpPr>
              <p:cNvPr id="73" name="Title 63">
                <a:extLst>
                  <a:ext uri="{FF2B5EF4-FFF2-40B4-BE49-F238E27FC236}">
                    <a16:creationId xmlns:a16="http://schemas.microsoft.com/office/drawing/2014/main" id="{68D35321-01B0-84E2-96FF-B9EB2EBD112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20000" y="936090"/>
                <a:ext cx="720000" cy="360000"/>
              </a:xfrm>
              <a:prstGeom prst="rect">
                <a:avLst/>
              </a:prstGeom>
              <a:solidFill>
                <a:srgbClr val="2D6A87"/>
              </a:solidFill>
              <a:ln w="38100">
                <a:noFill/>
              </a:ln>
            </p:spPr>
            <p:txBody>
              <a:bodyPr anchor="ctr">
                <a:normAutofit fontScale="92500" lnSpcReduction="10000"/>
              </a:bodyPr>
              <a:lstStyle>
                <a:lvl1pPr algn="l" defTabSz="914400" rtl="0" eaLnBrk="1" latinLnBrk="0" hangingPunct="1">
                  <a:lnSpc>
                    <a:spcPts val="4200"/>
                  </a:lnSpc>
                  <a:spcBef>
                    <a:spcPct val="0"/>
                  </a:spcBef>
                  <a:buNone/>
                  <a:defRPr sz="3200" b="1" kern="1200">
                    <a:solidFill>
                      <a:schemeClr val="bg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00000"/>
                  </a:lnSpc>
                </a:pPr>
                <a:r>
                  <a:rPr lang="en-US" sz="1000" b="0" dirty="0">
                    <a:solidFill>
                      <a:schemeClr val="tx2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rPr>
                  <a:t>Asset Register</a:t>
                </a:r>
              </a:p>
            </p:txBody>
          </p:sp>
        </p:grpSp>
        <p:sp>
          <p:nvSpPr>
            <p:cNvPr id="71" name="Title 63">
              <a:extLst>
                <a:ext uri="{FF2B5EF4-FFF2-40B4-BE49-F238E27FC236}">
                  <a16:creationId xmlns:a16="http://schemas.microsoft.com/office/drawing/2014/main" id="{A5424CAF-AB7A-CA92-4FC3-90CD50BA3867}"/>
                </a:ext>
              </a:extLst>
            </p:cNvPr>
            <p:cNvSpPr txBox="1">
              <a:spLocks/>
            </p:cNvSpPr>
            <p:nvPr/>
          </p:nvSpPr>
          <p:spPr>
            <a:xfrm>
              <a:off x="10040924" y="934984"/>
              <a:ext cx="720000" cy="360000"/>
            </a:xfrm>
            <a:prstGeom prst="rect">
              <a:avLst/>
            </a:prstGeom>
            <a:solidFill>
              <a:srgbClr val="2D6A87"/>
            </a:solidFill>
            <a:ln w="38100">
              <a:noFill/>
            </a:ln>
          </p:spPr>
          <p:txBody>
            <a:bodyPr anchor="ctr">
              <a:normAutofit fontScale="92500" lnSpcReduction="10000"/>
            </a:bodyPr>
            <a:lstStyle>
              <a:lvl1pPr algn="l" defTabSz="914400" rtl="0" eaLnBrk="1" latinLnBrk="0" hangingPunct="1">
                <a:lnSpc>
                  <a:spcPts val="4200"/>
                </a:lnSpc>
                <a:spcBef>
                  <a:spcPct val="0"/>
                </a:spcBef>
                <a:buNone/>
                <a:defRPr sz="3200" b="1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>
                <a:lnSpc>
                  <a:spcPct val="100000"/>
                </a:lnSpc>
              </a:pPr>
              <a:r>
                <a:rPr lang="en-US" sz="1000" b="0" dirty="0">
                  <a:solidFill>
                    <a:schemeClr val="tx2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Account Manager</a:t>
              </a:r>
            </a:p>
          </p:txBody>
        </p:sp>
      </p:grpSp>
      <p:sp>
        <p:nvSpPr>
          <p:cNvPr id="8" name="Title 63">
            <a:extLst>
              <a:ext uri="{FF2B5EF4-FFF2-40B4-BE49-F238E27FC236}">
                <a16:creationId xmlns:a16="http://schemas.microsoft.com/office/drawing/2014/main" id="{20DD21DD-E019-1D4E-D9DB-F8F4670C31DF}"/>
              </a:ext>
            </a:extLst>
          </p:cNvPr>
          <p:cNvSpPr txBox="1">
            <a:spLocks/>
          </p:cNvSpPr>
          <p:nvPr/>
        </p:nvSpPr>
        <p:spPr>
          <a:xfrm>
            <a:off x="3993716" y="1449316"/>
            <a:ext cx="8210283" cy="360000"/>
          </a:xfrm>
          <a:prstGeom prst="rect">
            <a:avLst/>
          </a:prstGeom>
          <a:solidFill>
            <a:srgbClr val="2D6A87"/>
          </a:solidFill>
          <a:ln w="3810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000" b="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Asset Register | Condition (GVI) | Inspection | Risk Based Inspection | Technical Document | </a:t>
            </a:r>
            <a:r>
              <a:rPr lang="en-US" sz="1000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Documentation</a:t>
            </a:r>
            <a:r>
              <a:rPr lang="en-US" sz="1000" b="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| Name Plate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450419E8-2812-A4D9-8DBF-FC3E44C427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10944000" y="1673178"/>
            <a:ext cx="360000" cy="323076"/>
          </a:xfrm>
          <a:prstGeom prst="ellipse">
            <a:avLst/>
          </a:prstGeom>
          <a:ln w="3175" cap="rnd">
            <a:solidFill>
              <a:srgbClr val="00B050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332494EA-35FA-1F0A-525D-689D3A674D0D}"/>
              </a:ext>
            </a:extLst>
          </p:cNvPr>
          <p:cNvGrpSpPr/>
          <p:nvPr/>
        </p:nvGrpSpPr>
        <p:grpSpPr>
          <a:xfrm>
            <a:off x="5437775" y="3173884"/>
            <a:ext cx="2160000" cy="2109669"/>
            <a:chOff x="5437775" y="3173884"/>
            <a:chExt cx="2160000" cy="2109669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8009F22-E8EC-8092-7FE3-DA8215C405B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5833506" y="3173884"/>
              <a:ext cx="1368539" cy="1800000"/>
            </a:xfrm>
            <a:prstGeom prst="rect">
              <a:avLst/>
            </a:prstGeom>
          </p:spPr>
        </p:pic>
        <p:sp>
          <p:nvSpPr>
            <p:cNvPr id="15" name="Title 63">
              <a:extLst>
                <a:ext uri="{FF2B5EF4-FFF2-40B4-BE49-F238E27FC236}">
                  <a16:creationId xmlns:a16="http://schemas.microsoft.com/office/drawing/2014/main" id="{A374D04A-2E10-2C9E-C453-8FB93F552A56}"/>
                </a:ext>
              </a:extLst>
            </p:cNvPr>
            <p:cNvSpPr txBox="1">
              <a:spLocks/>
            </p:cNvSpPr>
            <p:nvPr/>
          </p:nvSpPr>
          <p:spPr>
            <a:xfrm>
              <a:off x="5437775" y="5033291"/>
              <a:ext cx="2160000" cy="250262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>
              <a:noAutofit/>
            </a:bodyPr>
            <a:lstStyle>
              <a:lvl1pPr algn="l" defTabSz="914400" rtl="0" eaLnBrk="1" latinLnBrk="0" hangingPunct="1">
                <a:lnSpc>
                  <a:spcPts val="4200"/>
                </a:lnSpc>
                <a:spcBef>
                  <a:spcPct val="0"/>
                </a:spcBef>
                <a:buNone/>
                <a:defRPr sz="3200" b="1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>
                <a:lnSpc>
                  <a:spcPct val="100000"/>
                </a:lnSpc>
              </a:pPr>
              <a:r>
                <a:rPr lang="en-US" sz="1050" dirty="0">
                  <a:solidFill>
                    <a:schemeClr val="tx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Module Locked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24815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3AA30-C837-42D9-62F2-5F87950ED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itle 63">
            <a:extLst>
              <a:ext uri="{FF2B5EF4-FFF2-40B4-BE49-F238E27FC236}">
                <a16:creationId xmlns:a16="http://schemas.microsoft.com/office/drawing/2014/main" id="{582C38EB-C658-47B0-946E-C0BCCBD5A0A8}"/>
              </a:ext>
            </a:extLst>
          </p:cNvPr>
          <p:cNvSpPr txBox="1">
            <a:spLocks/>
          </p:cNvSpPr>
          <p:nvPr/>
        </p:nvSpPr>
        <p:spPr>
          <a:xfrm>
            <a:off x="0" y="1462924"/>
            <a:ext cx="2152665" cy="5395076"/>
          </a:xfrm>
          <a:prstGeom prst="rect">
            <a:avLst/>
          </a:prstGeom>
          <a:noFill/>
          <a:ln w="19050">
            <a:solidFill>
              <a:srgbClr val="2D6A87"/>
            </a:solidFill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endParaRPr lang="en-US" sz="1000" b="0" dirty="0">
              <a:solidFill>
                <a:schemeClr val="tx2"/>
              </a:solidFill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2" name="Title 63">
            <a:extLst>
              <a:ext uri="{FF2B5EF4-FFF2-40B4-BE49-F238E27FC236}">
                <a16:creationId xmlns:a16="http://schemas.microsoft.com/office/drawing/2014/main" id="{7A461420-97A8-8521-D3A4-1A334F999CED}"/>
              </a:ext>
            </a:extLst>
          </p:cNvPr>
          <p:cNvSpPr txBox="1">
            <a:spLocks/>
          </p:cNvSpPr>
          <p:nvPr/>
        </p:nvSpPr>
        <p:spPr>
          <a:xfrm>
            <a:off x="-1" y="10690"/>
            <a:ext cx="12192001" cy="900000"/>
          </a:xfrm>
          <a:prstGeom prst="rect">
            <a:avLst/>
          </a:prstGeom>
          <a:solidFill>
            <a:schemeClr val="tx2"/>
          </a:solidFill>
          <a:ln w="3810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2D6A87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Structural Integrity Management System (SIMS)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6B1DD5-9234-A8DB-59C7-671271DDA6C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2836" r="22678"/>
          <a:stretch>
            <a:fillRect/>
          </a:stretch>
        </p:blipFill>
        <p:spPr>
          <a:xfrm>
            <a:off x="174883" y="103675"/>
            <a:ext cx="691633" cy="714030"/>
          </a:xfrm>
          <a:prstGeom prst="rect">
            <a:avLst/>
          </a:prstGeom>
        </p:spPr>
      </p:pic>
      <p:sp>
        <p:nvSpPr>
          <p:cNvPr id="25" name="Title 63">
            <a:extLst>
              <a:ext uri="{FF2B5EF4-FFF2-40B4-BE49-F238E27FC236}">
                <a16:creationId xmlns:a16="http://schemas.microsoft.com/office/drawing/2014/main" id="{D4ED3ADE-68BE-2479-B755-604596231459}"/>
              </a:ext>
            </a:extLst>
          </p:cNvPr>
          <p:cNvSpPr txBox="1">
            <a:spLocks/>
          </p:cNvSpPr>
          <p:nvPr/>
        </p:nvSpPr>
        <p:spPr>
          <a:xfrm>
            <a:off x="0" y="1449533"/>
            <a:ext cx="2160000" cy="360000"/>
          </a:xfrm>
          <a:prstGeom prst="rect">
            <a:avLst/>
          </a:prstGeom>
          <a:solidFill>
            <a:srgbClr val="2D6A87"/>
          </a:solidFill>
          <a:ln w="3810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000" b="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Asset Tree </a:t>
            </a:r>
          </a:p>
        </p:txBody>
      </p:sp>
      <p:sp>
        <p:nvSpPr>
          <p:cNvPr id="31" name="Title 63">
            <a:extLst>
              <a:ext uri="{FF2B5EF4-FFF2-40B4-BE49-F238E27FC236}">
                <a16:creationId xmlns:a16="http://schemas.microsoft.com/office/drawing/2014/main" id="{60E32D32-FD45-98E8-90A1-1ED87F345B56}"/>
              </a:ext>
            </a:extLst>
          </p:cNvPr>
          <p:cNvSpPr txBox="1">
            <a:spLocks/>
          </p:cNvSpPr>
          <p:nvPr/>
        </p:nvSpPr>
        <p:spPr>
          <a:xfrm>
            <a:off x="0" y="1809532"/>
            <a:ext cx="2160000" cy="5037778"/>
          </a:xfrm>
          <a:prstGeom prst="rect">
            <a:avLst/>
          </a:prstGeom>
          <a:noFill/>
          <a:ln w="38100">
            <a:noFill/>
          </a:ln>
        </p:spPr>
        <p:txBody>
          <a:bodyPr anchor="t">
            <a:no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 Gas Purification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&gt;</a:t>
            </a: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Plant 2 Dehydration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&gt;</a:t>
            </a: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Plant 3 Fractionation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4 Refrigeration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5 Liquefaction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6 Condensate Stripping ...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15 LPG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16 Condensate Stabilize ... 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17 LPG Storage and Loa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highlight>
                  <a:srgbClr val="6E98A7"/>
                </a:highlight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17D-1/Q-1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17D-2/Q-1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17D-3/Q-1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17D-4/Q-1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17D-5/Q-1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+ add asset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19 Relief &amp; Blowdown S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20 Condensate Storage ...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20D-4/Q-1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     20D-5/Q-1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     20D-6/Q-1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+ add asset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21 Feed Gas Knockout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22 Marine Structures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24 LNG Storage and Loa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25 Fueling Facility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26 LPG Filling Station … &gt;Propane and Butane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27 Oxygen Plant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28 Acetylene Plant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29 Nitrogen Generation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30 Electrical </a:t>
            </a:r>
            <a:r>
              <a:rPr lang="en-US" sz="8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Distributio</a:t>
            </a: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31 Steam &amp; Power Gen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32 Seawater Cooling 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33 Fire Protection System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34 Liquid Waste System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35 Compressed Air System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36 Water Treatment Sy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37 Communication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+ add Plant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94A4E8B-CA7F-0B0E-5D85-6DD1ADBC11D4}"/>
              </a:ext>
            </a:extLst>
          </p:cNvPr>
          <p:cNvGrpSpPr/>
          <p:nvPr/>
        </p:nvGrpSpPr>
        <p:grpSpPr>
          <a:xfrm>
            <a:off x="216151" y="3948414"/>
            <a:ext cx="73594" cy="324419"/>
            <a:chOff x="216151" y="3221023"/>
            <a:chExt cx="73594" cy="324419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3F6A9FC6-B983-9AEC-0ADD-2CF843854AD7}"/>
                </a:ext>
              </a:extLst>
            </p:cNvPr>
            <p:cNvSpPr/>
            <p:nvPr/>
          </p:nvSpPr>
          <p:spPr>
            <a:xfrm>
              <a:off x="217745" y="3346913"/>
              <a:ext cx="72000" cy="72000"/>
            </a:xfrm>
            <a:prstGeom prst="rect">
              <a:avLst/>
            </a:prstGeom>
            <a:solidFill>
              <a:schemeClr val="bg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6989B573-22DE-161E-C623-C3A27F9D5C23}"/>
                </a:ext>
              </a:extLst>
            </p:cNvPr>
            <p:cNvSpPr/>
            <p:nvPr/>
          </p:nvSpPr>
          <p:spPr>
            <a:xfrm>
              <a:off x="217745" y="3473442"/>
              <a:ext cx="72000" cy="72000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F2996E09-C8F1-8C8B-43D1-6534F6D8B63A}"/>
                </a:ext>
              </a:extLst>
            </p:cNvPr>
            <p:cNvSpPr/>
            <p:nvPr/>
          </p:nvSpPr>
          <p:spPr>
            <a:xfrm>
              <a:off x="216151" y="3221023"/>
              <a:ext cx="72000" cy="720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sp>
        <p:nvSpPr>
          <p:cNvPr id="7" name="Title 63">
            <a:extLst>
              <a:ext uri="{FF2B5EF4-FFF2-40B4-BE49-F238E27FC236}">
                <a16:creationId xmlns:a16="http://schemas.microsoft.com/office/drawing/2014/main" id="{29E9CDBB-6321-6B94-6C94-E30ECE15C036}"/>
              </a:ext>
            </a:extLst>
          </p:cNvPr>
          <p:cNvSpPr txBox="1">
            <a:spLocks/>
          </p:cNvSpPr>
          <p:nvPr/>
        </p:nvSpPr>
        <p:spPr>
          <a:xfrm>
            <a:off x="2176858" y="1449533"/>
            <a:ext cx="1800000" cy="360000"/>
          </a:xfrm>
          <a:prstGeom prst="rect">
            <a:avLst/>
          </a:prstGeom>
          <a:solidFill>
            <a:srgbClr val="2D6A87"/>
          </a:solidFill>
          <a:ln w="3810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1000" b="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17D-1/Q-1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01471700-AFEB-AE0C-09C0-44C9BE44315E}"/>
              </a:ext>
            </a:extLst>
          </p:cNvPr>
          <p:cNvGrpSpPr/>
          <p:nvPr/>
        </p:nvGrpSpPr>
        <p:grpSpPr>
          <a:xfrm>
            <a:off x="214557" y="2975994"/>
            <a:ext cx="73594" cy="324419"/>
            <a:chOff x="216151" y="3221023"/>
            <a:chExt cx="73594" cy="324419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1F60A2BB-E142-3ACA-A7EF-5FF19450D3CA}"/>
                </a:ext>
              </a:extLst>
            </p:cNvPr>
            <p:cNvSpPr/>
            <p:nvPr/>
          </p:nvSpPr>
          <p:spPr>
            <a:xfrm>
              <a:off x="217745" y="3346913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ACEE0DB5-1A6C-0A33-5A26-DBE138BCCE74}"/>
                </a:ext>
              </a:extLst>
            </p:cNvPr>
            <p:cNvSpPr/>
            <p:nvPr/>
          </p:nvSpPr>
          <p:spPr>
            <a:xfrm>
              <a:off x="217745" y="3473442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47AE03BB-4D35-2E00-9D40-FBE36F8B937D}"/>
                </a:ext>
              </a:extLst>
            </p:cNvPr>
            <p:cNvSpPr/>
            <p:nvPr/>
          </p:nvSpPr>
          <p:spPr>
            <a:xfrm>
              <a:off x="216151" y="3221023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CD8B7123-BA7D-8C85-7674-72081F332940}"/>
              </a:ext>
            </a:extLst>
          </p:cNvPr>
          <p:cNvGrpSpPr/>
          <p:nvPr/>
        </p:nvGrpSpPr>
        <p:grpSpPr>
          <a:xfrm>
            <a:off x="214557" y="3346544"/>
            <a:ext cx="73594" cy="197890"/>
            <a:chOff x="216151" y="3221023"/>
            <a:chExt cx="73594" cy="197890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2F68F713-984F-9E5E-C281-C4A7564CE5DB}"/>
                </a:ext>
              </a:extLst>
            </p:cNvPr>
            <p:cNvSpPr/>
            <p:nvPr/>
          </p:nvSpPr>
          <p:spPr>
            <a:xfrm>
              <a:off x="217745" y="3346913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B92CC473-AC1E-FFF4-C83F-CC359DFB5B9F}"/>
                </a:ext>
              </a:extLst>
            </p:cNvPr>
            <p:cNvSpPr/>
            <p:nvPr/>
          </p:nvSpPr>
          <p:spPr>
            <a:xfrm>
              <a:off x="216151" y="3221023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sp>
        <p:nvSpPr>
          <p:cNvPr id="8" name="Title 63">
            <a:extLst>
              <a:ext uri="{FF2B5EF4-FFF2-40B4-BE49-F238E27FC236}">
                <a16:creationId xmlns:a16="http://schemas.microsoft.com/office/drawing/2014/main" id="{06E16CA7-9713-57A3-0315-C3CE282B0ACC}"/>
              </a:ext>
            </a:extLst>
          </p:cNvPr>
          <p:cNvSpPr txBox="1">
            <a:spLocks/>
          </p:cNvSpPr>
          <p:nvPr/>
        </p:nvSpPr>
        <p:spPr>
          <a:xfrm>
            <a:off x="3993716" y="1449316"/>
            <a:ext cx="8210283" cy="360000"/>
          </a:xfrm>
          <a:prstGeom prst="rect">
            <a:avLst/>
          </a:prstGeom>
          <a:solidFill>
            <a:srgbClr val="2D6A87"/>
          </a:solidFill>
          <a:ln w="3810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000" b="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Asset Register | Condition (GVI) | Inspection | Risk Based Inspection | Technical Document | Documentation | </a:t>
            </a:r>
            <a:r>
              <a:rPr lang="en-US" sz="1000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Name Plate</a:t>
            </a:r>
          </a:p>
        </p:txBody>
      </p:sp>
      <p:sp>
        <p:nvSpPr>
          <p:cNvPr id="33" name="Title 63">
            <a:extLst>
              <a:ext uri="{FF2B5EF4-FFF2-40B4-BE49-F238E27FC236}">
                <a16:creationId xmlns:a16="http://schemas.microsoft.com/office/drawing/2014/main" id="{9632D5C3-B931-B74B-F976-4A6070DCBC1D}"/>
              </a:ext>
            </a:extLst>
          </p:cNvPr>
          <p:cNvSpPr txBox="1">
            <a:spLocks/>
          </p:cNvSpPr>
          <p:nvPr/>
        </p:nvSpPr>
        <p:spPr>
          <a:xfrm>
            <a:off x="6053191" y="6108162"/>
            <a:ext cx="720000" cy="360000"/>
          </a:xfrm>
          <a:prstGeom prst="rect">
            <a:avLst/>
          </a:prstGeom>
          <a:solidFill>
            <a:srgbClr val="2D6A87"/>
          </a:solidFill>
          <a:ln w="3810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800" b="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Print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E9BFE672-2F5A-637A-8688-52BC4ED72C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12012000" y="1673178"/>
            <a:ext cx="360000" cy="323076"/>
          </a:xfrm>
          <a:prstGeom prst="ellipse">
            <a:avLst/>
          </a:prstGeom>
          <a:ln w="3175" cap="rnd">
            <a:solidFill>
              <a:srgbClr val="00B050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5799FBBA-C4C1-2BA8-91C4-0F692FBEDB50}"/>
              </a:ext>
            </a:extLst>
          </p:cNvPr>
          <p:cNvGrpSpPr/>
          <p:nvPr/>
        </p:nvGrpSpPr>
        <p:grpSpPr>
          <a:xfrm>
            <a:off x="5102699" y="2288152"/>
            <a:ext cx="2520000" cy="3600000"/>
            <a:chOff x="7327111" y="1373774"/>
            <a:chExt cx="2520000" cy="3600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68805C6-CA43-7595-52D8-6F6496AB720D}"/>
                </a:ext>
              </a:extLst>
            </p:cNvPr>
            <p:cNvSpPr/>
            <p:nvPr/>
          </p:nvSpPr>
          <p:spPr>
            <a:xfrm rot="5400000">
              <a:off x="6787111" y="1913774"/>
              <a:ext cx="3600000" cy="25200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6469FE2-FC5C-8F71-6B2D-0EBDA020227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000000">
                    <a:alpha val="0"/>
                  </a:srgbClr>
                </a:clrFrom>
                <a:clrTo>
                  <a:srgbClr val="000000">
                    <a:alpha val="0"/>
                  </a:srgbClr>
                </a:clrTo>
              </a:clrChange>
            </a:blip>
            <a:srcRect l="5779" t="5840" r="7044" b="7465"/>
            <a:stretch>
              <a:fillRect/>
            </a:stretch>
          </p:blipFill>
          <p:spPr>
            <a:xfrm>
              <a:off x="7751221" y="2309102"/>
              <a:ext cx="1671780" cy="1662545"/>
            </a:xfrm>
            <a:prstGeom prst="rect">
              <a:avLst/>
            </a:prstGeom>
          </p:spPr>
        </p:pic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6C93E9E-5C54-A8BA-F59B-482465EFE21C}"/>
                </a:ext>
              </a:extLst>
            </p:cNvPr>
            <p:cNvGrpSpPr/>
            <p:nvPr/>
          </p:nvGrpSpPr>
          <p:grpSpPr>
            <a:xfrm>
              <a:off x="7862238" y="1482247"/>
              <a:ext cx="1372026" cy="727570"/>
              <a:chOff x="5687854" y="757733"/>
              <a:chExt cx="1372026" cy="727570"/>
            </a:xfrm>
          </p:grpSpPr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72B79D82-8840-EF31-DC73-2254BA288D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l="22836" r="22678" b="10053"/>
              <a:stretch>
                <a:fillRect/>
              </a:stretch>
            </p:blipFill>
            <p:spPr>
              <a:xfrm>
                <a:off x="5687854" y="757733"/>
                <a:ext cx="775365" cy="720000"/>
              </a:xfrm>
              <a:prstGeom prst="rect">
                <a:avLst/>
              </a:prstGeom>
            </p:spPr>
          </p:pic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1A5F6A10-5D40-0DCB-5743-5BD7428CA57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674602" y="765303"/>
                <a:ext cx="385278" cy="720000"/>
              </a:xfrm>
              <a:prstGeom prst="rect">
                <a:avLst/>
              </a:prstGeom>
            </p:spPr>
          </p:pic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AA5E351-023A-6FB6-BBF7-7E1739419052}"/>
                </a:ext>
              </a:extLst>
            </p:cNvPr>
            <p:cNvSpPr txBox="1"/>
            <p:nvPr/>
          </p:nvSpPr>
          <p:spPr>
            <a:xfrm>
              <a:off x="7650128" y="4018890"/>
              <a:ext cx="1873966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200" b="1" dirty="0">
                  <a:latin typeface="Verdana" panose="020B0604030504040204" pitchFamily="34" charset="0"/>
                  <a:ea typeface="Verdana" panose="020B0604030504040204" pitchFamily="34" charset="0"/>
                </a:rPr>
                <a:t>Foundation</a:t>
              </a:r>
            </a:p>
            <a:p>
              <a:pPr algn="ctr"/>
              <a:r>
                <a:rPr lang="en-US" sz="1200" b="1" dirty="0">
                  <a:latin typeface="Verdana" panose="020B0604030504040204" pitchFamily="34" charset="0"/>
                  <a:ea typeface="Verdana" panose="020B0604030504040204" pitchFamily="34" charset="0"/>
                </a:rPr>
                <a:t>for 17D-1</a:t>
              </a:r>
            </a:p>
            <a:p>
              <a:pPr algn="ctr"/>
              <a:endParaRPr lang="en-US" sz="1200" b="1" dirty="0">
                <a:latin typeface="Verdana" panose="020B0604030504040204" pitchFamily="34" charset="0"/>
                <a:ea typeface="Verdana" panose="020B0604030504040204" pitchFamily="34" charset="0"/>
              </a:endParaRPr>
            </a:p>
            <a:p>
              <a:pPr algn="ctr"/>
              <a:r>
                <a:rPr lang="en-ID" sz="1200" b="1" dirty="0">
                  <a:latin typeface="Verdana" panose="020B0604030504040204" pitchFamily="34" charset="0"/>
                  <a:ea typeface="Verdana" panose="020B0604030504040204" pitchFamily="34" charset="0"/>
                </a:rPr>
                <a:t>Tag no.: 17D-1/Q-1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53EFEC1-3ADB-4020-148F-894FDC86AA80}"/>
              </a:ext>
            </a:extLst>
          </p:cNvPr>
          <p:cNvGrpSpPr/>
          <p:nvPr/>
        </p:nvGrpSpPr>
        <p:grpSpPr>
          <a:xfrm>
            <a:off x="0" y="932141"/>
            <a:ext cx="12204000" cy="363949"/>
            <a:chOff x="0" y="932141"/>
            <a:chExt cx="12204000" cy="363949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FA5A01E8-5865-92EE-058F-B8745DCCE5D5}"/>
                </a:ext>
              </a:extLst>
            </p:cNvPr>
            <p:cNvGrpSpPr/>
            <p:nvPr/>
          </p:nvGrpSpPr>
          <p:grpSpPr>
            <a:xfrm>
              <a:off x="0" y="934984"/>
              <a:ext cx="12204000" cy="361106"/>
              <a:chOff x="0" y="934984"/>
              <a:chExt cx="12204000" cy="361106"/>
            </a:xfrm>
          </p:grpSpPr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3252F549-6B9B-1754-B66C-D78005E01192}"/>
                  </a:ext>
                </a:extLst>
              </p:cNvPr>
              <p:cNvGrpSpPr/>
              <p:nvPr/>
            </p:nvGrpSpPr>
            <p:grpSpPr>
              <a:xfrm>
                <a:off x="0" y="936090"/>
                <a:ext cx="12204000" cy="360000"/>
                <a:chOff x="0" y="936090"/>
                <a:chExt cx="12204000" cy="360000"/>
              </a:xfrm>
            </p:grpSpPr>
            <p:grpSp>
              <p:nvGrpSpPr>
                <p:cNvPr id="23" name="Group 22">
                  <a:extLst>
                    <a:ext uri="{FF2B5EF4-FFF2-40B4-BE49-F238E27FC236}">
                      <a16:creationId xmlns:a16="http://schemas.microsoft.com/office/drawing/2014/main" id="{6515B3D6-4DA0-742A-DC23-DECD388FD107}"/>
                    </a:ext>
                  </a:extLst>
                </p:cNvPr>
                <p:cNvGrpSpPr/>
                <p:nvPr/>
              </p:nvGrpSpPr>
              <p:grpSpPr>
                <a:xfrm>
                  <a:off x="0" y="936090"/>
                  <a:ext cx="12204000" cy="360000"/>
                  <a:chOff x="-2" y="2718720"/>
                  <a:chExt cx="12204000" cy="360000"/>
                </a:xfrm>
              </p:grpSpPr>
              <p:sp>
                <p:nvSpPr>
                  <p:cNvPr id="26" name="Title 63">
                    <a:extLst>
                      <a:ext uri="{FF2B5EF4-FFF2-40B4-BE49-F238E27FC236}">
                        <a16:creationId xmlns:a16="http://schemas.microsoft.com/office/drawing/2014/main" id="{61623122-F9D6-2B17-DA84-99F4BA04A61E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-2" y="2718720"/>
                    <a:ext cx="720000" cy="360000"/>
                  </a:xfrm>
                  <a:prstGeom prst="rect">
                    <a:avLst/>
                  </a:prstGeom>
                  <a:solidFill>
                    <a:srgbClr val="2D6A87"/>
                  </a:solidFill>
                  <a:ln w="38100">
                    <a:noFill/>
                  </a:ln>
                </p:spPr>
                <p:txBody>
                  <a:bodyPr anchor="ctr">
                    <a:normAutofit/>
                  </a:bodyPr>
                  <a:lstStyle>
                    <a:lvl1pPr algn="l" defTabSz="914400" rtl="0" eaLnBrk="1" latinLnBrk="0" hangingPunct="1">
                      <a:lnSpc>
                        <a:spcPts val="4200"/>
                      </a:lnSpc>
                      <a:spcBef>
                        <a:spcPct val="0"/>
                      </a:spcBef>
                      <a:buNone/>
                      <a:defRPr sz="3200" b="1" kern="1200">
                        <a:solidFill>
                          <a:schemeClr val="bg1"/>
                        </a:solidFill>
                        <a:latin typeface="+mj-lt"/>
                        <a:ea typeface="+mj-ea"/>
                        <a:cs typeface="+mj-cs"/>
                      </a:defRPr>
                    </a:lvl1pPr>
                  </a:lstStyle>
                  <a:p>
                    <a:pPr algn="ctr">
                      <a:lnSpc>
                        <a:spcPct val="100000"/>
                      </a:lnSpc>
                    </a:pPr>
                    <a:r>
                      <a:rPr lang="en-US" sz="1000" b="0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rPr>
                      <a:t>Home</a:t>
                    </a:r>
                  </a:p>
                </p:txBody>
              </p:sp>
              <p:grpSp>
                <p:nvGrpSpPr>
                  <p:cNvPr id="27" name="Group 26">
                    <a:extLst>
                      <a:ext uri="{FF2B5EF4-FFF2-40B4-BE49-F238E27FC236}">
                        <a16:creationId xmlns:a16="http://schemas.microsoft.com/office/drawing/2014/main" id="{C2D5F1C6-B0DC-1BDB-5E5E-BF1673AD2301}"/>
                      </a:ext>
                    </a:extLst>
                  </p:cNvPr>
                  <p:cNvGrpSpPr/>
                  <p:nvPr/>
                </p:nvGrpSpPr>
                <p:grpSpPr>
                  <a:xfrm>
                    <a:off x="10763998" y="2718720"/>
                    <a:ext cx="1440000" cy="360000"/>
                    <a:chOff x="4102098" y="3429000"/>
                    <a:chExt cx="1440000" cy="360000"/>
                  </a:xfrm>
                </p:grpSpPr>
                <p:sp>
                  <p:nvSpPr>
                    <p:cNvPr id="29" name="Title 63">
                      <a:extLst>
                        <a:ext uri="{FF2B5EF4-FFF2-40B4-BE49-F238E27FC236}">
                          <a16:creationId xmlns:a16="http://schemas.microsoft.com/office/drawing/2014/main" id="{3E905A17-E055-8DB9-80E3-7BF4BFC43D18}"/>
                        </a:ext>
                      </a:extLst>
                    </p:cNvPr>
                    <p:cNvSpPr txBox="1">
                      <a:spLocks/>
                    </p:cNvSpPr>
                    <p:nvPr/>
                  </p:nvSpPr>
                  <p:spPr>
                    <a:xfrm>
                      <a:off x="4102098" y="3429000"/>
                      <a:ext cx="720000" cy="360000"/>
                    </a:xfrm>
                    <a:prstGeom prst="rect">
                      <a:avLst/>
                    </a:prstGeom>
                    <a:solidFill>
                      <a:srgbClr val="2D6A87"/>
                    </a:solidFill>
                    <a:ln w="38100">
                      <a:noFill/>
                    </a:ln>
                  </p:spPr>
                  <p:txBody>
                    <a:bodyPr anchor="ctr">
                      <a:normAutofit/>
                    </a:bodyPr>
                    <a:lstStyle>
                      <a:lvl1pPr algn="l" defTabSz="914400" rtl="0" eaLnBrk="1" latinLnBrk="0" hangingPunct="1">
                        <a:lnSpc>
                          <a:spcPts val="4200"/>
                        </a:lnSpc>
                        <a:spcBef>
                          <a:spcPct val="0"/>
                        </a:spcBef>
                        <a:buNone/>
                        <a:defRPr sz="3200" b="1" kern="1200">
                          <a:solidFill>
                            <a:schemeClr val="bg1"/>
                          </a:solidFill>
                          <a:latin typeface="+mj-lt"/>
                          <a:ea typeface="+mj-ea"/>
                          <a:cs typeface="+mj-cs"/>
                        </a:defRPr>
                      </a:lvl1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Help</a:t>
                      </a:r>
                    </a:p>
                  </p:txBody>
                </p:sp>
                <p:sp>
                  <p:nvSpPr>
                    <p:cNvPr id="30" name="Title 63">
                      <a:extLst>
                        <a:ext uri="{FF2B5EF4-FFF2-40B4-BE49-F238E27FC236}">
                          <a16:creationId xmlns:a16="http://schemas.microsoft.com/office/drawing/2014/main" id="{30C5F692-ACC0-D87C-E7E9-297AE83E19F1}"/>
                        </a:ext>
                      </a:extLst>
                    </p:cNvPr>
                    <p:cNvSpPr txBox="1">
                      <a:spLocks/>
                    </p:cNvSpPr>
                    <p:nvPr/>
                  </p:nvSpPr>
                  <p:spPr>
                    <a:xfrm>
                      <a:off x="4822098" y="3429000"/>
                      <a:ext cx="720000" cy="360000"/>
                    </a:xfrm>
                    <a:prstGeom prst="rect">
                      <a:avLst/>
                    </a:prstGeom>
                    <a:solidFill>
                      <a:srgbClr val="2D6A87"/>
                    </a:solidFill>
                    <a:ln w="38100">
                      <a:noFill/>
                    </a:ln>
                  </p:spPr>
                  <p:txBody>
                    <a:bodyPr anchor="ctr">
                      <a:normAutofit/>
                    </a:bodyPr>
                    <a:lstStyle>
                      <a:lvl1pPr algn="l" defTabSz="914400" rtl="0" eaLnBrk="1" latinLnBrk="0" hangingPunct="1">
                        <a:lnSpc>
                          <a:spcPts val="4200"/>
                        </a:lnSpc>
                        <a:spcBef>
                          <a:spcPct val="0"/>
                        </a:spcBef>
                        <a:buNone/>
                        <a:defRPr sz="3200" b="1" kern="1200">
                          <a:solidFill>
                            <a:schemeClr val="bg1"/>
                          </a:solidFill>
                          <a:latin typeface="+mj-lt"/>
                          <a:ea typeface="+mj-ea"/>
                          <a:cs typeface="+mj-cs"/>
                        </a:defRPr>
                      </a:lvl1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Logout</a:t>
                      </a:r>
                    </a:p>
                  </p:txBody>
                </p:sp>
              </p:grpSp>
              <p:sp>
                <p:nvSpPr>
                  <p:cNvPr id="28" name="Title 63">
                    <a:extLst>
                      <a:ext uri="{FF2B5EF4-FFF2-40B4-BE49-F238E27FC236}">
                        <a16:creationId xmlns:a16="http://schemas.microsoft.com/office/drawing/2014/main" id="{04DA1E0F-CDEA-71F9-9D67-6AD8548D6CC5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3595617" y="2718720"/>
                    <a:ext cx="6445306" cy="360000"/>
                  </a:xfrm>
                  <a:prstGeom prst="rect">
                    <a:avLst/>
                  </a:prstGeom>
                  <a:solidFill>
                    <a:srgbClr val="2D6A87"/>
                  </a:solidFill>
                  <a:ln w="38100">
                    <a:noFill/>
                  </a:ln>
                </p:spPr>
                <p:txBody>
                  <a:bodyPr anchor="ctr">
                    <a:normAutofit/>
                  </a:bodyPr>
                  <a:lstStyle>
                    <a:lvl1pPr algn="l" defTabSz="914400" rtl="0" eaLnBrk="1" latinLnBrk="0" hangingPunct="1">
                      <a:lnSpc>
                        <a:spcPts val="4200"/>
                      </a:lnSpc>
                      <a:spcBef>
                        <a:spcPct val="0"/>
                      </a:spcBef>
                      <a:buNone/>
                      <a:defRPr sz="3200" b="1" kern="1200">
                        <a:solidFill>
                          <a:schemeClr val="bg1"/>
                        </a:solidFill>
                        <a:latin typeface="+mj-lt"/>
                        <a:ea typeface="+mj-ea"/>
                        <a:cs typeface="+mj-cs"/>
                      </a:defRPr>
                    </a:lvl1pPr>
                  </a:lstStyle>
                  <a:p>
                    <a:pPr>
                      <a:lnSpc>
                        <a:spcPct val="100000"/>
                      </a:lnSpc>
                    </a:pPr>
                    <a:endParaRPr lang="en-US" sz="1000" b="0" dirty="0">
                      <a:solidFill>
                        <a:schemeClr val="tx2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+mn-cs"/>
                    </a:endParaRPr>
                  </a:p>
                </p:txBody>
              </p:sp>
            </p:grpSp>
            <p:sp>
              <p:nvSpPr>
                <p:cNvPr id="24" name="Title 63">
                  <a:extLst>
                    <a:ext uri="{FF2B5EF4-FFF2-40B4-BE49-F238E27FC236}">
                      <a16:creationId xmlns:a16="http://schemas.microsoft.com/office/drawing/2014/main" id="{8BFD91B3-3FFC-5C41-3ABD-9FA19F9EB37D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720000" y="936090"/>
                  <a:ext cx="720000" cy="360000"/>
                </a:xfrm>
                <a:prstGeom prst="rect">
                  <a:avLst/>
                </a:prstGeom>
                <a:solidFill>
                  <a:srgbClr val="2D6A87"/>
                </a:solidFill>
                <a:ln w="38100">
                  <a:noFill/>
                </a:ln>
              </p:spPr>
              <p:txBody>
                <a:bodyPr anchor="ctr">
                  <a:normAutofit fontScale="92500" lnSpcReduction="10000"/>
                </a:bodyPr>
                <a:lstStyle>
                  <a:lvl1pPr algn="l" defTabSz="914400" rtl="0" eaLnBrk="1" latinLnBrk="0" hangingPunct="1">
                    <a:lnSpc>
                      <a:spcPts val="4200"/>
                    </a:lnSpc>
                    <a:spcBef>
                      <a:spcPct val="0"/>
                    </a:spcBef>
                    <a:buNone/>
                    <a:defRPr sz="3200" b="1" kern="1200">
                      <a:solidFill>
                        <a:schemeClr val="bg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:pPr algn="ctr">
                    <a:lnSpc>
                      <a:spcPct val="100000"/>
                    </a:lnSpc>
                  </a:pPr>
                  <a:r>
                    <a:rPr lang="en-US" sz="1000" b="0" dirty="0">
                      <a:solidFill>
                        <a:schemeClr val="tx2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+mn-cs"/>
                    </a:rPr>
                    <a:t>Asset Register</a:t>
                  </a:r>
                </a:p>
              </p:txBody>
            </p:sp>
          </p:grpSp>
          <p:sp>
            <p:nvSpPr>
              <p:cNvPr id="22" name="Title 63">
                <a:extLst>
                  <a:ext uri="{FF2B5EF4-FFF2-40B4-BE49-F238E27FC236}">
                    <a16:creationId xmlns:a16="http://schemas.microsoft.com/office/drawing/2014/main" id="{D8F22C5E-B339-FDEA-79AF-B7AF7C8E4C1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040924" y="934984"/>
                <a:ext cx="720000" cy="360000"/>
              </a:xfrm>
              <a:prstGeom prst="rect">
                <a:avLst/>
              </a:prstGeom>
              <a:solidFill>
                <a:srgbClr val="2D6A87"/>
              </a:solidFill>
              <a:ln w="38100">
                <a:noFill/>
              </a:ln>
            </p:spPr>
            <p:txBody>
              <a:bodyPr anchor="ctr">
                <a:normAutofit fontScale="92500" lnSpcReduction="10000"/>
              </a:bodyPr>
              <a:lstStyle>
                <a:lvl1pPr algn="l" defTabSz="914400" rtl="0" eaLnBrk="1" latinLnBrk="0" hangingPunct="1">
                  <a:lnSpc>
                    <a:spcPts val="4200"/>
                  </a:lnSpc>
                  <a:spcBef>
                    <a:spcPct val="0"/>
                  </a:spcBef>
                  <a:buNone/>
                  <a:defRPr sz="3200" b="1" kern="1200">
                    <a:solidFill>
                      <a:schemeClr val="bg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00000"/>
                  </a:lnSpc>
                </a:pPr>
                <a:r>
                  <a:rPr lang="en-US" sz="1000" b="0" dirty="0">
                    <a:solidFill>
                      <a:schemeClr val="tx2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rPr>
                  <a:t>Account Manager</a:t>
                </a:r>
              </a:p>
            </p:txBody>
          </p:sp>
        </p:grpSp>
        <p:sp>
          <p:nvSpPr>
            <p:cNvPr id="18" name="Title 63">
              <a:extLst>
                <a:ext uri="{FF2B5EF4-FFF2-40B4-BE49-F238E27FC236}">
                  <a16:creationId xmlns:a16="http://schemas.microsoft.com/office/drawing/2014/main" id="{7A4CBA7A-B517-5EBE-7F36-D0F12014E634}"/>
                </a:ext>
              </a:extLst>
            </p:cNvPr>
            <p:cNvSpPr txBox="1">
              <a:spLocks/>
            </p:cNvSpPr>
            <p:nvPr/>
          </p:nvSpPr>
          <p:spPr>
            <a:xfrm>
              <a:off x="1437809" y="932141"/>
              <a:ext cx="1440000" cy="360000"/>
            </a:xfrm>
            <a:prstGeom prst="rect">
              <a:avLst/>
            </a:prstGeom>
            <a:solidFill>
              <a:srgbClr val="2D6A87"/>
            </a:solidFill>
            <a:ln w="38100">
              <a:noFill/>
            </a:ln>
          </p:spPr>
          <p:txBody>
            <a:bodyPr anchor="ctr">
              <a:normAutofit fontScale="92500" lnSpcReduction="10000"/>
            </a:bodyPr>
            <a:lstStyle>
              <a:lvl1pPr algn="l" defTabSz="914400" rtl="0" eaLnBrk="1" latinLnBrk="0" hangingPunct="1">
                <a:lnSpc>
                  <a:spcPts val="4200"/>
                </a:lnSpc>
                <a:spcBef>
                  <a:spcPct val="0"/>
                </a:spcBef>
                <a:buNone/>
                <a:defRPr sz="3200" b="1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>
                <a:lnSpc>
                  <a:spcPct val="100000"/>
                </a:lnSpc>
              </a:pPr>
              <a:r>
                <a:rPr lang="en-US" sz="1000" b="0" dirty="0">
                  <a:solidFill>
                    <a:schemeClr val="tx2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Risk Based Inspection Planning</a:t>
              </a:r>
            </a:p>
          </p:txBody>
        </p:sp>
        <p:sp>
          <p:nvSpPr>
            <p:cNvPr id="20" name="Title 63">
              <a:extLst>
                <a:ext uri="{FF2B5EF4-FFF2-40B4-BE49-F238E27FC236}">
                  <a16:creationId xmlns:a16="http://schemas.microsoft.com/office/drawing/2014/main" id="{A56F26E2-D5F0-4983-E6A0-5C3D7126B342}"/>
                </a:ext>
              </a:extLst>
            </p:cNvPr>
            <p:cNvSpPr txBox="1">
              <a:spLocks/>
            </p:cNvSpPr>
            <p:nvPr/>
          </p:nvSpPr>
          <p:spPr>
            <a:xfrm>
              <a:off x="2877809" y="932141"/>
              <a:ext cx="720000" cy="360000"/>
            </a:xfrm>
            <a:prstGeom prst="rect">
              <a:avLst/>
            </a:prstGeom>
            <a:solidFill>
              <a:srgbClr val="2D6A87"/>
            </a:solidFill>
            <a:ln w="38100">
              <a:noFill/>
            </a:ln>
          </p:spPr>
          <p:txBody>
            <a:bodyPr anchor="ctr">
              <a:normAutofit fontScale="92500" lnSpcReduction="10000"/>
            </a:bodyPr>
            <a:lstStyle>
              <a:lvl1pPr algn="l" defTabSz="914400" rtl="0" eaLnBrk="1" latinLnBrk="0" hangingPunct="1">
                <a:lnSpc>
                  <a:spcPts val="4200"/>
                </a:lnSpc>
                <a:spcBef>
                  <a:spcPct val="0"/>
                </a:spcBef>
                <a:buNone/>
                <a:defRPr sz="3200" b="1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>
                <a:lnSpc>
                  <a:spcPct val="100000"/>
                </a:lnSpc>
              </a:pPr>
              <a:r>
                <a:rPr lang="en-US" sz="1000" b="0" dirty="0">
                  <a:solidFill>
                    <a:schemeClr val="tx2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Add</a:t>
              </a:r>
            </a:p>
            <a:p>
              <a:pPr algn="ctr">
                <a:lnSpc>
                  <a:spcPct val="100000"/>
                </a:lnSpc>
              </a:pPr>
              <a:r>
                <a:rPr lang="en-US" sz="1000" b="0" dirty="0">
                  <a:solidFill>
                    <a:schemeClr val="tx2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Module</a:t>
              </a:r>
            </a:p>
          </p:txBody>
        </p:sp>
      </p:grpSp>
      <p:sp>
        <p:nvSpPr>
          <p:cNvPr id="6" name="Title 63">
            <a:extLst>
              <a:ext uri="{FF2B5EF4-FFF2-40B4-BE49-F238E27FC236}">
                <a16:creationId xmlns:a16="http://schemas.microsoft.com/office/drawing/2014/main" id="{D91C799E-495E-1C8F-8CB8-60D25DCA68CF}"/>
              </a:ext>
            </a:extLst>
          </p:cNvPr>
          <p:cNvSpPr txBox="1">
            <a:spLocks/>
          </p:cNvSpPr>
          <p:nvPr/>
        </p:nvSpPr>
        <p:spPr>
          <a:xfrm>
            <a:off x="8848621" y="6108162"/>
            <a:ext cx="720000" cy="360000"/>
          </a:xfrm>
          <a:prstGeom prst="rect">
            <a:avLst/>
          </a:prstGeom>
          <a:solidFill>
            <a:srgbClr val="2D6A87"/>
          </a:solidFill>
          <a:ln w="3810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800" b="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Print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7377B42-5021-CDBE-2896-C6EA74934EE0}"/>
              </a:ext>
            </a:extLst>
          </p:cNvPr>
          <p:cNvGrpSpPr/>
          <p:nvPr/>
        </p:nvGrpSpPr>
        <p:grpSpPr>
          <a:xfrm>
            <a:off x="7898129" y="2288152"/>
            <a:ext cx="2520000" cy="3600000"/>
            <a:chOff x="7327111" y="1373774"/>
            <a:chExt cx="2520000" cy="36000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CAC39F0-C753-1F94-FC40-D0EFB5941C69}"/>
                </a:ext>
              </a:extLst>
            </p:cNvPr>
            <p:cNvSpPr/>
            <p:nvPr/>
          </p:nvSpPr>
          <p:spPr>
            <a:xfrm rot="5400000">
              <a:off x="6787111" y="1913774"/>
              <a:ext cx="3600000" cy="25200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6543069D-6DC0-913D-CB72-8067409BEE0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000000">
                    <a:alpha val="0"/>
                  </a:srgbClr>
                </a:clrFrom>
                <a:clrTo>
                  <a:srgbClr val="000000">
                    <a:alpha val="0"/>
                  </a:srgbClr>
                </a:clrTo>
              </a:clrChange>
            </a:blip>
            <a:srcRect l="5779" t="5840" r="7044" b="7465"/>
            <a:stretch>
              <a:fillRect/>
            </a:stretch>
          </p:blipFill>
          <p:spPr>
            <a:xfrm>
              <a:off x="7751221" y="2309102"/>
              <a:ext cx="1671780" cy="1662545"/>
            </a:xfrm>
            <a:prstGeom prst="rect">
              <a:avLst/>
            </a:prstGeom>
          </p:spPr>
        </p:pic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28FD4C65-6CDE-5FD7-8EB1-CD21D012EE8C}"/>
                </a:ext>
              </a:extLst>
            </p:cNvPr>
            <p:cNvGrpSpPr/>
            <p:nvPr/>
          </p:nvGrpSpPr>
          <p:grpSpPr>
            <a:xfrm>
              <a:off x="7862238" y="1482247"/>
              <a:ext cx="1372026" cy="727570"/>
              <a:chOff x="5687854" y="757733"/>
              <a:chExt cx="1372026" cy="727570"/>
            </a:xfrm>
          </p:grpSpPr>
          <p:pic>
            <p:nvPicPr>
              <p:cNvPr id="36" name="Picture 35">
                <a:extLst>
                  <a:ext uri="{FF2B5EF4-FFF2-40B4-BE49-F238E27FC236}">
                    <a16:creationId xmlns:a16="http://schemas.microsoft.com/office/drawing/2014/main" id="{3CC4C8E2-4A2E-2D51-B532-1090FD08C26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l="22836" r="22678" b="10053"/>
              <a:stretch>
                <a:fillRect/>
              </a:stretch>
            </p:blipFill>
            <p:spPr>
              <a:xfrm>
                <a:off x="5687854" y="757733"/>
                <a:ext cx="775365" cy="720000"/>
              </a:xfrm>
              <a:prstGeom prst="rect">
                <a:avLst/>
              </a:prstGeom>
            </p:spPr>
          </p:pic>
          <p:pic>
            <p:nvPicPr>
              <p:cNvPr id="38" name="Picture 37">
                <a:extLst>
                  <a:ext uri="{FF2B5EF4-FFF2-40B4-BE49-F238E27FC236}">
                    <a16:creationId xmlns:a16="http://schemas.microsoft.com/office/drawing/2014/main" id="{3403A6C8-7E04-AFA3-D3AA-C3FA873E25A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674602" y="765303"/>
                <a:ext cx="385278" cy="720000"/>
              </a:xfrm>
              <a:prstGeom prst="rect">
                <a:avLst/>
              </a:prstGeom>
            </p:spPr>
          </p:pic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ACBAF01D-3BB0-E47E-BAED-36FE0D5ADAC1}"/>
                </a:ext>
              </a:extLst>
            </p:cNvPr>
            <p:cNvSpPr txBox="1"/>
            <p:nvPr/>
          </p:nvSpPr>
          <p:spPr>
            <a:xfrm>
              <a:off x="7650128" y="4018890"/>
              <a:ext cx="1873966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200" b="1" dirty="0">
                  <a:latin typeface="Verdana" panose="020B0604030504040204" pitchFamily="34" charset="0"/>
                  <a:ea typeface="Verdana" panose="020B0604030504040204" pitchFamily="34" charset="0"/>
                </a:rPr>
                <a:t>Bridge 1</a:t>
              </a:r>
            </a:p>
            <a:p>
              <a:pPr algn="ctr"/>
              <a:endParaRPr lang="en-US" sz="1200" b="1" dirty="0">
                <a:latin typeface="Verdana" panose="020B0604030504040204" pitchFamily="34" charset="0"/>
                <a:ea typeface="Verdana" panose="020B0604030504040204" pitchFamily="34" charset="0"/>
              </a:endParaRPr>
            </a:p>
            <a:p>
              <a:pPr algn="ctr"/>
              <a:r>
                <a:rPr lang="en-ID" sz="1200" b="1" dirty="0">
                  <a:latin typeface="Verdana" panose="020B0604030504040204" pitchFamily="34" charset="0"/>
                  <a:ea typeface="Verdana" panose="020B0604030504040204" pitchFamily="34" charset="0"/>
                </a:rPr>
                <a:t>Tag no.: 17/M-1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49546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B2BD62D-D026-1A26-AC7A-B397FD23A9A6}"/>
              </a:ext>
            </a:extLst>
          </p:cNvPr>
          <p:cNvGrpSpPr/>
          <p:nvPr/>
        </p:nvGrpSpPr>
        <p:grpSpPr>
          <a:xfrm>
            <a:off x="1394299" y="1231512"/>
            <a:ext cx="2520000" cy="3600000"/>
            <a:chOff x="7327111" y="1373774"/>
            <a:chExt cx="2520000" cy="36000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9AA70B83-E33D-BF82-B282-FF141A290B54}"/>
                </a:ext>
              </a:extLst>
            </p:cNvPr>
            <p:cNvSpPr/>
            <p:nvPr/>
          </p:nvSpPr>
          <p:spPr>
            <a:xfrm rot="5400000">
              <a:off x="6787111" y="1913774"/>
              <a:ext cx="3600000" cy="25200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E720487F-B8FA-FC2E-C61D-2B51AEC5E2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000000">
                    <a:alpha val="0"/>
                  </a:srgbClr>
                </a:clrFrom>
                <a:clrTo>
                  <a:srgbClr val="000000">
                    <a:alpha val="0"/>
                  </a:srgbClr>
                </a:clrTo>
              </a:clrChange>
            </a:blip>
            <a:srcRect l="5779" t="5840" r="7044" b="7465"/>
            <a:stretch>
              <a:fillRect/>
            </a:stretch>
          </p:blipFill>
          <p:spPr>
            <a:xfrm>
              <a:off x="7751221" y="2309102"/>
              <a:ext cx="1671780" cy="1662545"/>
            </a:xfrm>
            <a:prstGeom prst="rect">
              <a:avLst/>
            </a:prstGeom>
          </p:spPr>
        </p:pic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2D2BDC80-EDAA-6275-3B85-836EC2047269}"/>
                </a:ext>
              </a:extLst>
            </p:cNvPr>
            <p:cNvGrpSpPr/>
            <p:nvPr/>
          </p:nvGrpSpPr>
          <p:grpSpPr>
            <a:xfrm>
              <a:off x="7862238" y="1482247"/>
              <a:ext cx="1372026" cy="727570"/>
              <a:chOff x="5687854" y="757733"/>
              <a:chExt cx="1372026" cy="727570"/>
            </a:xfrm>
          </p:grpSpPr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7676FB03-6340-5B81-4A85-537B9D1CBD3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l="22836" r="22678" b="10053"/>
              <a:stretch>
                <a:fillRect/>
              </a:stretch>
            </p:blipFill>
            <p:spPr>
              <a:xfrm>
                <a:off x="5687854" y="757733"/>
                <a:ext cx="775365" cy="720000"/>
              </a:xfrm>
              <a:prstGeom prst="rect">
                <a:avLst/>
              </a:prstGeom>
            </p:spPr>
          </p:pic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3ABE8F78-A9C5-F3BC-7C3C-3984F2534E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674602" y="765303"/>
                <a:ext cx="385278" cy="720000"/>
              </a:xfrm>
              <a:prstGeom prst="rect">
                <a:avLst/>
              </a:prstGeom>
            </p:spPr>
          </p:pic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3CBF75B-380A-91E2-24F8-029D1F964256}"/>
                </a:ext>
              </a:extLst>
            </p:cNvPr>
            <p:cNvSpPr txBox="1"/>
            <p:nvPr/>
          </p:nvSpPr>
          <p:spPr>
            <a:xfrm>
              <a:off x="7650128" y="4018890"/>
              <a:ext cx="1873966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200" b="1" dirty="0">
                  <a:latin typeface="Verdana" panose="020B0604030504040204" pitchFamily="34" charset="0"/>
                  <a:ea typeface="Verdana" panose="020B0604030504040204" pitchFamily="34" charset="0"/>
                </a:rPr>
                <a:t>Foundation</a:t>
              </a:r>
            </a:p>
            <a:p>
              <a:pPr algn="ctr"/>
              <a:r>
                <a:rPr lang="en-US" sz="1200" b="1" dirty="0">
                  <a:latin typeface="Verdana" panose="020B0604030504040204" pitchFamily="34" charset="0"/>
                  <a:ea typeface="Verdana" panose="020B0604030504040204" pitchFamily="34" charset="0"/>
                </a:rPr>
                <a:t>for 17D-1</a:t>
              </a:r>
            </a:p>
            <a:p>
              <a:pPr algn="ctr"/>
              <a:endParaRPr lang="en-US" sz="1200" b="1" dirty="0">
                <a:latin typeface="Verdana" panose="020B0604030504040204" pitchFamily="34" charset="0"/>
                <a:ea typeface="Verdana" panose="020B0604030504040204" pitchFamily="34" charset="0"/>
              </a:endParaRPr>
            </a:p>
            <a:p>
              <a:pPr algn="ctr"/>
              <a:r>
                <a:rPr lang="en-ID" sz="1200" b="1" dirty="0">
                  <a:latin typeface="Verdana" panose="020B0604030504040204" pitchFamily="34" charset="0"/>
                  <a:ea typeface="Verdana" panose="020B0604030504040204" pitchFamily="34" charset="0"/>
                </a:rPr>
                <a:t>Tag no.: 17D-1/Q-1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7AC616B7-48F8-D33C-16B3-B4C9E17C65AB}"/>
              </a:ext>
            </a:extLst>
          </p:cNvPr>
          <p:cNvSpPr txBox="1"/>
          <p:nvPr/>
        </p:nvSpPr>
        <p:spPr>
          <a:xfrm>
            <a:off x="5060239" y="2297645"/>
            <a:ext cx="26822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dirty="0">
                <a:solidFill>
                  <a:srgbClr val="3366C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QR code </a:t>
            </a:r>
            <a:r>
              <a:rPr lang="en-US" sz="1100" dirty="0" err="1">
                <a:latin typeface="Verdana" panose="020B0604030504040204" pitchFamily="34" charset="0"/>
                <a:ea typeface="Verdana" panose="020B0604030504040204" pitchFamily="34" charset="0"/>
              </a:rPr>
              <a:t>dari</a:t>
            </a:r>
            <a:r>
              <a:rPr lang="en-US" sz="11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100" b="1" dirty="0">
                <a:latin typeface="Verdana" panose="020B0604030504040204" pitchFamily="34" charset="0"/>
                <a:ea typeface="Verdana" panose="020B0604030504040204" pitchFamily="34" charset="0"/>
              </a:rPr>
              <a:t>specific asset</a:t>
            </a:r>
            <a:endParaRPr lang="en-ID" sz="11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F8E4EA7-F379-1F01-A96B-513A5EC1A4DC}"/>
              </a:ext>
            </a:extLst>
          </p:cNvPr>
          <p:cNvSpPr txBox="1"/>
          <p:nvPr/>
        </p:nvSpPr>
        <p:spPr>
          <a:xfrm>
            <a:off x="5039953" y="4007433"/>
            <a:ext cx="42265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dirty="0">
                <a:solidFill>
                  <a:srgbClr val="3366C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Civil Asset Description </a:t>
            </a:r>
            <a:r>
              <a:rPr lang="en-US" sz="1100" dirty="0" err="1">
                <a:latin typeface="Verdana" panose="020B0604030504040204" pitchFamily="34" charset="0"/>
                <a:ea typeface="Verdana" panose="020B0604030504040204" pitchFamily="34" charset="0"/>
              </a:rPr>
              <a:t>dari</a:t>
            </a:r>
            <a:r>
              <a:rPr lang="en-US" sz="11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100" b="1" dirty="0">
                <a:latin typeface="Verdana" panose="020B0604030504040204" pitchFamily="34" charset="0"/>
                <a:ea typeface="Verdana" panose="020B0604030504040204" pitchFamily="34" charset="0"/>
              </a:rPr>
              <a:t>specific asset</a:t>
            </a:r>
            <a:endParaRPr lang="en-ID" sz="11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7F4EC9-9019-13CD-5D08-FB4E3E4859C4}"/>
              </a:ext>
            </a:extLst>
          </p:cNvPr>
          <p:cNvSpPr txBox="1"/>
          <p:nvPr/>
        </p:nvSpPr>
        <p:spPr>
          <a:xfrm>
            <a:off x="5039953" y="4451027"/>
            <a:ext cx="42265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dirty="0">
                <a:solidFill>
                  <a:srgbClr val="3366C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Asset tag no </a:t>
            </a:r>
            <a:r>
              <a:rPr lang="en-US" sz="1100" dirty="0" err="1">
                <a:latin typeface="Verdana" panose="020B0604030504040204" pitchFamily="34" charset="0"/>
                <a:ea typeface="Verdana" panose="020B0604030504040204" pitchFamily="34" charset="0"/>
              </a:rPr>
              <a:t>dari</a:t>
            </a:r>
            <a:r>
              <a:rPr lang="en-US" sz="11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100" b="1" dirty="0">
                <a:latin typeface="Verdana" panose="020B0604030504040204" pitchFamily="34" charset="0"/>
                <a:ea typeface="Verdana" panose="020B0604030504040204" pitchFamily="34" charset="0"/>
              </a:rPr>
              <a:t>specific asset</a:t>
            </a:r>
            <a:endParaRPr lang="en-ID" sz="11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C0CE8FB-A9A3-5E51-570E-15BFC7879EA4}"/>
              </a:ext>
            </a:extLst>
          </p:cNvPr>
          <p:cNvCxnSpPr/>
          <p:nvPr/>
        </p:nvCxnSpPr>
        <p:spPr>
          <a:xfrm>
            <a:off x="3224981" y="2428450"/>
            <a:ext cx="176980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6CE9685-C58B-8A18-3C2A-0C3C3355252D}"/>
              </a:ext>
            </a:extLst>
          </p:cNvPr>
          <p:cNvCxnSpPr/>
          <p:nvPr/>
        </p:nvCxnSpPr>
        <p:spPr>
          <a:xfrm>
            <a:off x="3165987" y="4138238"/>
            <a:ext cx="181896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D837E51-ABE3-54B1-512D-744CEDE1B318}"/>
              </a:ext>
            </a:extLst>
          </p:cNvPr>
          <p:cNvCxnSpPr/>
          <p:nvPr/>
        </p:nvCxnSpPr>
        <p:spPr>
          <a:xfrm>
            <a:off x="3591282" y="4581832"/>
            <a:ext cx="140350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7331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93263-A617-9137-119E-5B38F6F64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itle 63">
            <a:extLst>
              <a:ext uri="{FF2B5EF4-FFF2-40B4-BE49-F238E27FC236}">
                <a16:creationId xmlns:a16="http://schemas.microsoft.com/office/drawing/2014/main" id="{C76ABCA5-3FBD-23CC-BB74-B1E2445E9920}"/>
              </a:ext>
            </a:extLst>
          </p:cNvPr>
          <p:cNvSpPr txBox="1">
            <a:spLocks/>
          </p:cNvSpPr>
          <p:nvPr/>
        </p:nvSpPr>
        <p:spPr>
          <a:xfrm>
            <a:off x="0" y="1462924"/>
            <a:ext cx="2152665" cy="5395076"/>
          </a:xfrm>
          <a:prstGeom prst="rect">
            <a:avLst/>
          </a:prstGeom>
          <a:noFill/>
          <a:ln w="19050">
            <a:solidFill>
              <a:srgbClr val="2D6A87"/>
            </a:solidFill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endParaRPr lang="en-US" sz="1000" b="0" dirty="0">
              <a:solidFill>
                <a:schemeClr val="tx2"/>
              </a:solidFill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2" name="Title 63">
            <a:extLst>
              <a:ext uri="{FF2B5EF4-FFF2-40B4-BE49-F238E27FC236}">
                <a16:creationId xmlns:a16="http://schemas.microsoft.com/office/drawing/2014/main" id="{C5D55EA6-5FF0-AF50-DD19-A734B530ED39}"/>
              </a:ext>
            </a:extLst>
          </p:cNvPr>
          <p:cNvSpPr txBox="1">
            <a:spLocks/>
          </p:cNvSpPr>
          <p:nvPr/>
        </p:nvSpPr>
        <p:spPr>
          <a:xfrm>
            <a:off x="-1" y="10690"/>
            <a:ext cx="12192001" cy="900000"/>
          </a:xfrm>
          <a:prstGeom prst="rect">
            <a:avLst/>
          </a:prstGeom>
          <a:solidFill>
            <a:schemeClr val="tx2"/>
          </a:solidFill>
          <a:ln w="3810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2D6A87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Structural Integrity Management System (SIMS)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2E18D0-274E-1EA0-1B5D-75E1EAFC5D2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2836" r="22678"/>
          <a:stretch>
            <a:fillRect/>
          </a:stretch>
        </p:blipFill>
        <p:spPr>
          <a:xfrm>
            <a:off x="174883" y="103675"/>
            <a:ext cx="691633" cy="714030"/>
          </a:xfrm>
          <a:prstGeom prst="rect">
            <a:avLst/>
          </a:prstGeom>
        </p:spPr>
      </p:pic>
      <p:sp>
        <p:nvSpPr>
          <p:cNvPr id="25" name="Title 63">
            <a:extLst>
              <a:ext uri="{FF2B5EF4-FFF2-40B4-BE49-F238E27FC236}">
                <a16:creationId xmlns:a16="http://schemas.microsoft.com/office/drawing/2014/main" id="{27655DDD-2259-C4E3-CE85-65528AA170FB}"/>
              </a:ext>
            </a:extLst>
          </p:cNvPr>
          <p:cNvSpPr txBox="1">
            <a:spLocks/>
          </p:cNvSpPr>
          <p:nvPr/>
        </p:nvSpPr>
        <p:spPr>
          <a:xfrm>
            <a:off x="0" y="1449533"/>
            <a:ext cx="2160000" cy="360000"/>
          </a:xfrm>
          <a:prstGeom prst="rect">
            <a:avLst/>
          </a:prstGeom>
          <a:solidFill>
            <a:srgbClr val="2D6A87"/>
          </a:solidFill>
          <a:ln w="3810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000" b="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Asset Tree </a:t>
            </a:r>
          </a:p>
        </p:txBody>
      </p:sp>
      <p:sp>
        <p:nvSpPr>
          <p:cNvPr id="31" name="Title 63">
            <a:extLst>
              <a:ext uri="{FF2B5EF4-FFF2-40B4-BE49-F238E27FC236}">
                <a16:creationId xmlns:a16="http://schemas.microsoft.com/office/drawing/2014/main" id="{348E10A7-C051-F4C7-4B8F-9B96238EE86B}"/>
              </a:ext>
            </a:extLst>
          </p:cNvPr>
          <p:cNvSpPr txBox="1">
            <a:spLocks/>
          </p:cNvSpPr>
          <p:nvPr/>
        </p:nvSpPr>
        <p:spPr>
          <a:xfrm>
            <a:off x="0" y="1809532"/>
            <a:ext cx="2160000" cy="5037778"/>
          </a:xfrm>
          <a:prstGeom prst="rect">
            <a:avLst/>
          </a:prstGeom>
          <a:noFill/>
          <a:ln w="38100">
            <a:noFill/>
          </a:ln>
        </p:spPr>
        <p:txBody>
          <a:bodyPr anchor="t">
            <a:no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 Gas Purification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&gt;</a:t>
            </a: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Plant 2 Dehydration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&gt;</a:t>
            </a: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Plant 3 Fractionation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4 Refrigeration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5 Liquefaction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6 Condensate Stripping ...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15 LPG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16 Condensate Stabilize ... 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17 LPG Storage and Loa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17D-1/Q-1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17D-2/Q-1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17D-3/Q-1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17D-4/Q-1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17D-5/Q-1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+ add asset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19 Relief &amp; Blowdown S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20 Condensate Storage ...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20D-4/Q-1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     20D-5/Q-1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     20D-6/Q-1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+ add asset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21 Feed Gas Knockout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22 Marine Structures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24 LNG Storage and Loa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25 Fueling Facility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26 LPG Filling Station … &gt;Propane and Butane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27 Oxygen Plant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28 Acetylene Plant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29 Nitrogen Generation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30 Electrical </a:t>
            </a:r>
            <a:r>
              <a:rPr lang="en-US" sz="8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Distributio</a:t>
            </a: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31 Steam &amp; Power Gen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32 Seawater Cooling 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33 Fire Protection System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34 Liquid Waste System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35 Compressed Air System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36 Water Treatment Sy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37 Communication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+ add Plant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04398D5-08B2-A96E-590A-BEFF153E3B29}"/>
              </a:ext>
            </a:extLst>
          </p:cNvPr>
          <p:cNvGrpSpPr/>
          <p:nvPr/>
        </p:nvGrpSpPr>
        <p:grpSpPr>
          <a:xfrm>
            <a:off x="216151" y="3948414"/>
            <a:ext cx="73594" cy="324419"/>
            <a:chOff x="216151" y="3221023"/>
            <a:chExt cx="73594" cy="324419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76B03109-60FC-0428-5DE2-54BECBDD1DF0}"/>
                </a:ext>
              </a:extLst>
            </p:cNvPr>
            <p:cNvSpPr/>
            <p:nvPr/>
          </p:nvSpPr>
          <p:spPr>
            <a:xfrm>
              <a:off x="217745" y="3346913"/>
              <a:ext cx="72000" cy="72000"/>
            </a:xfrm>
            <a:prstGeom prst="rect">
              <a:avLst/>
            </a:prstGeom>
            <a:solidFill>
              <a:schemeClr val="bg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80068EFD-DAA5-FDC0-4A75-0885A203275B}"/>
                </a:ext>
              </a:extLst>
            </p:cNvPr>
            <p:cNvSpPr/>
            <p:nvPr/>
          </p:nvSpPr>
          <p:spPr>
            <a:xfrm>
              <a:off x="217745" y="3473442"/>
              <a:ext cx="72000" cy="72000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B64859B3-1AF6-083C-2AAA-0341FB81F45E}"/>
                </a:ext>
              </a:extLst>
            </p:cNvPr>
            <p:cNvSpPr/>
            <p:nvPr/>
          </p:nvSpPr>
          <p:spPr>
            <a:xfrm>
              <a:off x="216151" y="3221023"/>
              <a:ext cx="72000" cy="720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sp>
        <p:nvSpPr>
          <p:cNvPr id="7" name="Title 63">
            <a:extLst>
              <a:ext uri="{FF2B5EF4-FFF2-40B4-BE49-F238E27FC236}">
                <a16:creationId xmlns:a16="http://schemas.microsoft.com/office/drawing/2014/main" id="{28D7F886-22A7-1B4C-8A4D-70F138F136D0}"/>
              </a:ext>
            </a:extLst>
          </p:cNvPr>
          <p:cNvSpPr txBox="1">
            <a:spLocks/>
          </p:cNvSpPr>
          <p:nvPr/>
        </p:nvSpPr>
        <p:spPr>
          <a:xfrm>
            <a:off x="2157809" y="1449533"/>
            <a:ext cx="10034191" cy="360000"/>
          </a:xfrm>
          <a:prstGeom prst="rect">
            <a:avLst/>
          </a:prstGeom>
          <a:solidFill>
            <a:srgbClr val="2D6A87"/>
          </a:solidFill>
          <a:ln w="3810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000" b="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Asset Register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7826F4B4-0BC0-B3A6-FF5D-26EF561F4889}"/>
              </a:ext>
            </a:extLst>
          </p:cNvPr>
          <p:cNvGrpSpPr/>
          <p:nvPr/>
        </p:nvGrpSpPr>
        <p:grpSpPr>
          <a:xfrm>
            <a:off x="214557" y="2975994"/>
            <a:ext cx="73594" cy="324419"/>
            <a:chOff x="216151" y="3221023"/>
            <a:chExt cx="73594" cy="324419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E412CEBC-0CFB-74FE-0652-EAF422348903}"/>
                </a:ext>
              </a:extLst>
            </p:cNvPr>
            <p:cNvSpPr/>
            <p:nvPr/>
          </p:nvSpPr>
          <p:spPr>
            <a:xfrm>
              <a:off x="217745" y="3346913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6574F176-FA07-25BF-BAA0-140A0AE48DEA}"/>
                </a:ext>
              </a:extLst>
            </p:cNvPr>
            <p:cNvSpPr/>
            <p:nvPr/>
          </p:nvSpPr>
          <p:spPr>
            <a:xfrm>
              <a:off x="217745" y="3473442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EEC8B655-CE38-7AE3-6459-28E672A3EB1B}"/>
                </a:ext>
              </a:extLst>
            </p:cNvPr>
            <p:cNvSpPr/>
            <p:nvPr/>
          </p:nvSpPr>
          <p:spPr>
            <a:xfrm>
              <a:off x="216151" y="3221023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E5D697C3-9E78-57DB-DE3F-95F79BCC627F}"/>
              </a:ext>
            </a:extLst>
          </p:cNvPr>
          <p:cNvGrpSpPr/>
          <p:nvPr/>
        </p:nvGrpSpPr>
        <p:grpSpPr>
          <a:xfrm>
            <a:off x="214557" y="3346544"/>
            <a:ext cx="73594" cy="197890"/>
            <a:chOff x="216151" y="3221023"/>
            <a:chExt cx="73594" cy="197890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8368BEF1-FA0A-9649-43F0-059A164FADFD}"/>
                </a:ext>
              </a:extLst>
            </p:cNvPr>
            <p:cNvSpPr/>
            <p:nvPr/>
          </p:nvSpPr>
          <p:spPr>
            <a:xfrm>
              <a:off x="217745" y="3346913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5690EBC8-E6F7-4269-0E25-C6B764ACA6CD}"/>
                </a:ext>
              </a:extLst>
            </p:cNvPr>
            <p:cNvSpPr/>
            <p:nvPr/>
          </p:nvSpPr>
          <p:spPr>
            <a:xfrm>
              <a:off x="216151" y="3221023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652C5AF-8D69-5A2E-2046-25B2D051B6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5759327"/>
              </p:ext>
            </p:extLst>
          </p:nvPr>
        </p:nvGraphicFramePr>
        <p:xfrm>
          <a:off x="2367222" y="2429150"/>
          <a:ext cx="9121778" cy="1280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3380">
                  <a:extLst>
                    <a:ext uri="{9D8B030D-6E8A-4147-A177-3AD203B41FA5}">
                      <a16:colId xmlns:a16="http://schemas.microsoft.com/office/drawing/2014/main" val="3900566622"/>
                    </a:ext>
                  </a:extLst>
                </a:gridCol>
                <a:gridCol w="521018">
                  <a:extLst>
                    <a:ext uri="{9D8B030D-6E8A-4147-A177-3AD203B41FA5}">
                      <a16:colId xmlns:a16="http://schemas.microsoft.com/office/drawing/2014/main" val="157434326"/>
                    </a:ext>
                  </a:extLst>
                </a:gridCol>
                <a:gridCol w="630555">
                  <a:extLst>
                    <a:ext uri="{9D8B030D-6E8A-4147-A177-3AD203B41FA5}">
                      <a16:colId xmlns:a16="http://schemas.microsoft.com/office/drawing/2014/main" val="2437213845"/>
                    </a:ext>
                  </a:extLst>
                </a:gridCol>
                <a:gridCol w="1033780">
                  <a:extLst>
                    <a:ext uri="{9D8B030D-6E8A-4147-A177-3AD203B41FA5}">
                      <a16:colId xmlns:a16="http://schemas.microsoft.com/office/drawing/2014/main" val="1409784151"/>
                    </a:ext>
                  </a:extLst>
                </a:gridCol>
                <a:gridCol w="428943">
                  <a:extLst>
                    <a:ext uri="{9D8B030D-6E8A-4147-A177-3AD203B41FA5}">
                      <a16:colId xmlns:a16="http://schemas.microsoft.com/office/drawing/2014/main" val="627301954"/>
                    </a:ext>
                  </a:extLst>
                </a:gridCol>
                <a:gridCol w="478155">
                  <a:extLst>
                    <a:ext uri="{9D8B030D-6E8A-4147-A177-3AD203B41FA5}">
                      <a16:colId xmlns:a16="http://schemas.microsoft.com/office/drawing/2014/main" val="197566671"/>
                    </a:ext>
                  </a:extLst>
                </a:gridCol>
                <a:gridCol w="684530">
                  <a:extLst>
                    <a:ext uri="{9D8B030D-6E8A-4147-A177-3AD203B41FA5}">
                      <a16:colId xmlns:a16="http://schemas.microsoft.com/office/drawing/2014/main" val="3808521504"/>
                    </a:ext>
                  </a:extLst>
                </a:gridCol>
                <a:gridCol w="428943">
                  <a:extLst>
                    <a:ext uri="{9D8B030D-6E8A-4147-A177-3AD203B41FA5}">
                      <a16:colId xmlns:a16="http://schemas.microsoft.com/office/drawing/2014/main" val="1108487631"/>
                    </a:ext>
                  </a:extLst>
                </a:gridCol>
                <a:gridCol w="914718">
                  <a:extLst>
                    <a:ext uri="{9D8B030D-6E8A-4147-A177-3AD203B41FA5}">
                      <a16:colId xmlns:a16="http://schemas.microsoft.com/office/drawing/2014/main" val="1699741227"/>
                    </a:ext>
                  </a:extLst>
                </a:gridCol>
                <a:gridCol w="633730">
                  <a:extLst>
                    <a:ext uri="{9D8B030D-6E8A-4147-A177-3AD203B41FA5}">
                      <a16:colId xmlns:a16="http://schemas.microsoft.com/office/drawing/2014/main" val="3451459594"/>
                    </a:ext>
                  </a:extLst>
                </a:gridCol>
                <a:gridCol w="614680">
                  <a:extLst>
                    <a:ext uri="{9D8B030D-6E8A-4147-A177-3AD203B41FA5}">
                      <a16:colId xmlns:a16="http://schemas.microsoft.com/office/drawing/2014/main" val="3524732178"/>
                    </a:ext>
                  </a:extLst>
                </a:gridCol>
                <a:gridCol w="589280">
                  <a:extLst>
                    <a:ext uri="{9D8B030D-6E8A-4147-A177-3AD203B41FA5}">
                      <a16:colId xmlns:a16="http://schemas.microsoft.com/office/drawing/2014/main" val="3554480355"/>
                    </a:ext>
                  </a:extLst>
                </a:gridCol>
                <a:gridCol w="378143">
                  <a:extLst>
                    <a:ext uri="{9D8B030D-6E8A-4147-A177-3AD203B41FA5}">
                      <a16:colId xmlns:a16="http://schemas.microsoft.com/office/drawing/2014/main" val="1155635048"/>
                    </a:ext>
                  </a:extLst>
                </a:gridCol>
                <a:gridCol w="722630">
                  <a:extLst>
                    <a:ext uri="{9D8B030D-6E8A-4147-A177-3AD203B41FA5}">
                      <a16:colId xmlns:a16="http://schemas.microsoft.com/office/drawing/2014/main" val="2525689907"/>
                    </a:ext>
                  </a:extLst>
                </a:gridCol>
                <a:gridCol w="689293">
                  <a:extLst>
                    <a:ext uri="{9D8B030D-6E8A-4147-A177-3AD203B41FA5}">
                      <a16:colId xmlns:a16="http://schemas.microsoft.com/office/drawing/2014/main" val="6047846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600" b="1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Reg</a:t>
                      </a:r>
                    </a:p>
                    <a:p>
                      <a:r>
                        <a:rPr lang="en-US" sz="600" b="1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no.</a:t>
                      </a:r>
                      <a:endParaRPr lang="en-ID" sz="600" b="1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00" b="1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GIS</a:t>
                      </a:r>
                    </a:p>
                    <a:p>
                      <a:r>
                        <a:rPr lang="en-US" sz="600" b="1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Ref No.</a:t>
                      </a:r>
                      <a:endParaRPr lang="en-ID" sz="600" b="1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00" b="1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Tag</a:t>
                      </a:r>
                    </a:p>
                    <a:p>
                      <a:r>
                        <a:rPr lang="en-US" sz="600" b="1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No.</a:t>
                      </a:r>
                      <a:endParaRPr lang="en-ID" sz="600" b="1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00" b="1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</a:t>
                      </a:r>
                      <a:r>
                        <a:rPr lang="en-ID" sz="600" b="1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Description</a:t>
                      </a:r>
                      <a:endParaRPr lang="en-US" sz="600" b="1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00" b="1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Plant</a:t>
                      </a:r>
                      <a:endParaRPr lang="en-ID" sz="600" b="1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00" b="1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Zone</a:t>
                      </a:r>
                      <a:endParaRPr lang="en-ID" sz="600" b="1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00" b="1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Area</a:t>
                      </a:r>
                      <a:endParaRPr lang="en-ID" sz="600" b="1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00" b="1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Train</a:t>
                      </a:r>
                      <a:endParaRPr lang="en-ID" sz="600" b="1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00" b="1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Coordinate</a:t>
                      </a:r>
                      <a:endParaRPr lang="en-ID" sz="600" b="1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00" b="1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Function</a:t>
                      </a:r>
                      <a:endParaRPr lang="en-ID" sz="600" b="1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00" b="1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Material</a:t>
                      </a:r>
                      <a:endParaRPr lang="en-ID" sz="600" b="1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00" b="1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Installed</a:t>
                      </a:r>
                      <a:endParaRPr lang="en-ID" sz="600" b="1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00" b="1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Age</a:t>
                      </a:r>
                    </a:p>
                    <a:p>
                      <a:r>
                        <a:rPr lang="en-US" sz="600" b="1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(yr)</a:t>
                      </a:r>
                      <a:endParaRPr lang="en-ID" sz="600" b="1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00" b="1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Insp. Date</a:t>
                      </a:r>
                      <a:endParaRPr lang="en-ID" sz="600" b="1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00" b="1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Condition</a:t>
                      </a:r>
                    </a:p>
                    <a:p>
                      <a:r>
                        <a:rPr lang="en-US" sz="600" b="1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(GVI)</a:t>
                      </a:r>
                      <a:endParaRPr lang="en-ID" sz="600" b="1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975405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</a:t>
                      </a:r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12345…</a:t>
                      </a:r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600" u="sng" dirty="0">
                          <a:solidFill>
                            <a:srgbClr val="0070C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17D-1/Q-1</a:t>
                      </a:r>
                      <a:endParaRPr lang="en-ID" sz="600" u="sng" dirty="0">
                        <a:solidFill>
                          <a:srgbClr val="0070C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Foundation for 17D-1</a:t>
                      </a:r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17</a:t>
                      </a:r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Zone 1</a:t>
                      </a:r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sz="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LPG Storage</a:t>
                      </a:r>
                    </a:p>
                    <a:p>
                      <a:r>
                        <a:rPr lang="en-ID" sz="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and Loading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12345 N. 12345 E</a:t>
                      </a:r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Equipment</a:t>
                      </a:r>
                    </a:p>
                    <a:p>
                      <a:r>
                        <a:rPr lang="en-US" sz="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Foundation</a:t>
                      </a:r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Reinforced</a:t>
                      </a:r>
                    </a:p>
                    <a:p>
                      <a:r>
                        <a:rPr lang="en-US" sz="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Concrete</a:t>
                      </a:r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1970</a:t>
                      </a:r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56</a:t>
                      </a:r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15/Aug/2026</a:t>
                      </a:r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Good</a:t>
                      </a:r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3737568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7975326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950697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821805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9890854"/>
                  </a:ext>
                </a:extLst>
              </a:tr>
            </a:tbl>
          </a:graphicData>
        </a:graphic>
      </p:graphicFrame>
      <p:sp>
        <p:nvSpPr>
          <p:cNvPr id="10" name="Title 63">
            <a:extLst>
              <a:ext uri="{FF2B5EF4-FFF2-40B4-BE49-F238E27FC236}">
                <a16:creationId xmlns:a16="http://schemas.microsoft.com/office/drawing/2014/main" id="{4519E935-9717-0852-2242-ED8A5785B76C}"/>
              </a:ext>
            </a:extLst>
          </p:cNvPr>
          <p:cNvSpPr txBox="1">
            <a:spLocks/>
          </p:cNvSpPr>
          <p:nvPr/>
        </p:nvSpPr>
        <p:spPr>
          <a:xfrm>
            <a:off x="11364839" y="1958627"/>
            <a:ext cx="720000" cy="252000"/>
          </a:xfrm>
          <a:prstGeom prst="rect">
            <a:avLst/>
          </a:prstGeom>
          <a:solidFill>
            <a:srgbClr val="2D6A87"/>
          </a:solidFill>
          <a:ln w="3810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700" b="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Download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66A3C5A-C00A-C6B0-14BE-9CD5BB2B1336}"/>
              </a:ext>
            </a:extLst>
          </p:cNvPr>
          <p:cNvGrpSpPr/>
          <p:nvPr/>
        </p:nvGrpSpPr>
        <p:grpSpPr>
          <a:xfrm>
            <a:off x="2374557" y="1962976"/>
            <a:ext cx="4232024" cy="261525"/>
            <a:chOff x="604350" y="2873028"/>
            <a:chExt cx="4232024" cy="261525"/>
          </a:xfrm>
        </p:grpSpPr>
        <p:sp>
          <p:nvSpPr>
            <p:cNvPr id="14" name="Title 63">
              <a:extLst>
                <a:ext uri="{FF2B5EF4-FFF2-40B4-BE49-F238E27FC236}">
                  <a16:creationId xmlns:a16="http://schemas.microsoft.com/office/drawing/2014/main" id="{3A1FFDF1-B5D6-236A-E897-5056A357615C}"/>
                </a:ext>
              </a:extLst>
            </p:cNvPr>
            <p:cNvSpPr txBox="1">
              <a:spLocks/>
            </p:cNvSpPr>
            <p:nvPr/>
          </p:nvSpPr>
          <p:spPr>
            <a:xfrm>
              <a:off x="4116374" y="2882553"/>
              <a:ext cx="720000" cy="252000"/>
            </a:xfrm>
            <a:prstGeom prst="rect">
              <a:avLst/>
            </a:prstGeom>
            <a:solidFill>
              <a:srgbClr val="2D6A87"/>
            </a:solidFill>
            <a:ln w="38100">
              <a:noFill/>
            </a:ln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ts val="4200"/>
                </a:lnSpc>
                <a:spcBef>
                  <a:spcPct val="0"/>
                </a:spcBef>
                <a:buNone/>
                <a:defRPr sz="3200" b="1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>
                <a:lnSpc>
                  <a:spcPct val="100000"/>
                </a:lnSpc>
              </a:pPr>
              <a:r>
                <a:rPr lang="en-US" sz="700" b="0" dirty="0">
                  <a:solidFill>
                    <a:schemeClr val="tx2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Search</a:t>
              </a:r>
            </a:p>
          </p:txBody>
        </p:sp>
        <p:sp>
          <p:nvSpPr>
            <p:cNvPr id="16" name="Title 63">
              <a:extLst>
                <a:ext uri="{FF2B5EF4-FFF2-40B4-BE49-F238E27FC236}">
                  <a16:creationId xmlns:a16="http://schemas.microsoft.com/office/drawing/2014/main" id="{61B810BE-EDDB-5CC5-FEA4-4AF45DC6697B}"/>
                </a:ext>
              </a:extLst>
            </p:cNvPr>
            <p:cNvSpPr txBox="1">
              <a:spLocks/>
            </p:cNvSpPr>
            <p:nvPr/>
          </p:nvSpPr>
          <p:spPr>
            <a:xfrm>
              <a:off x="604350" y="2873028"/>
              <a:ext cx="3481123" cy="252000"/>
            </a:xfrm>
            <a:prstGeom prst="rect">
              <a:avLst/>
            </a:prstGeom>
            <a:noFill/>
            <a:ln w="9525">
              <a:solidFill>
                <a:srgbClr val="2D6A87"/>
              </a:solidFill>
            </a:ln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ts val="4200"/>
                </a:lnSpc>
                <a:spcBef>
                  <a:spcPct val="0"/>
                </a:spcBef>
                <a:buNone/>
                <a:defRPr sz="3200" b="1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en-US" sz="700" b="0" dirty="0">
                  <a:solidFill>
                    <a:schemeClr val="tx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&lt;Search Asset&gt;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960002C-588A-4A89-27F9-B55654A66CFD}"/>
              </a:ext>
            </a:extLst>
          </p:cNvPr>
          <p:cNvGrpSpPr/>
          <p:nvPr/>
        </p:nvGrpSpPr>
        <p:grpSpPr>
          <a:xfrm>
            <a:off x="0" y="932141"/>
            <a:ext cx="12204000" cy="363949"/>
            <a:chOff x="0" y="932141"/>
            <a:chExt cx="12204000" cy="363949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387B859B-CA42-EAFC-94FB-B057AA0F558B}"/>
                </a:ext>
              </a:extLst>
            </p:cNvPr>
            <p:cNvGrpSpPr/>
            <p:nvPr/>
          </p:nvGrpSpPr>
          <p:grpSpPr>
            <a:xfrm>
              <a:off x="0" y="934984"/>
              <a:ext cx="12204000" cy="361106"/>
              <a:chOff x="0" y="934984"/>
              <a:chExt cx="12204000" cy="361106"/>
            </a:xfrm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11FA60C0-2E02-6D7E-C5F7-48EDA029C238}"/>
                  </a:ext>
                </a:extLst>
              </p:cNvPr>
              <p:cNvGrpSpPr/>
              <p:nvPr/>
            </p:nvGrpSpPr>
            <p:grpSpPr>
              <a:xfrm>
                <a:off x="0" y="936090"/>
                <a:ext cx="12204000" cy="360000"/>
                <a:chOff x="0" y="936090"/>
                <a:chExt cx="12204000" cy="360000"/>
              </a:xfrm>
            </p:grpSpPr>
            <p:grpSp>
              <p:nvGrpSpPr>
                <p:cNvPr id="42" name="Group 41">
                  <a:extLst>
                    <a:ext uri="{FF2B5EF4-FFF2-40B4-BE49-F238E27FC236}">
                      <a16:creationId xmlns:a16="http://schemas.microsoft.com/office/drawing/2014/main" id="{5B63F8BE-140D-C433-1ED5-3A89A5F5654D}"/>
                    </a:ext>
                  </a:extLst>
                </p:cNvPr>
                <p:cNvGrpSpPr/>
                <p:nvPr/>
              </p:nvGrpSpPr>
              <p:grpSpPr>
                <a:xfrm>
                  <a:off x="0" y="936090"/>
                  <a:ext cx="12204000" cy="360000"/>
                  <a:chOff x="-2" y="2718720"/>
                  <a:chExt cx="12204000" cy="360000"/>
                </a:xfrm>
              </p:grpSpPr>
              <p:sp>
                <p:nvSpPr>
                  <p:cNvPr id="45" name="Title 63">
                    <a:extLst>
                      <a:ext uri="{FF2B5EF4-FFF2-40B4-BE49-F238E27FC236}">
                        <a16:creationId xmlns:a16="http://schemas.microsoft.com/office/drawing/2014/main" id="{CFF2D246-A00D-2525-A5DB-68448B3A52D7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-2" y="2718720"/>
                    <a:ext cx="720000" cy="360000"/>
                  </a:xfrm>
                  <a:prstGeom prst="rect">
                    <a:avLst/>
                  </a:prstGeom>
                  <a:solidFill>
                    <a:srgbClr val="2D6A87"/>
                  </a:solidFill>
                  <a:ln w="38100">
                    <a:noFill/>
                  </a:ln>
                </p:spPr>
                <p:txBody>
                  <a:bodyPr anchor="ctr">
                    <a:normAutofit/>
                  </a:bodyPr>
                  <a:lstStyle>
                    <a:lvl1pPr algn="l" defTabSz="914400" rtl="0" eaLnBrk="1" latinLnBrk="0" hangingPunct="1">
                      <a:lnSpc>
                        <a:spcPts val="4200"/>
                      </a:lnSpc>
                      <a:spcBef>
                        <a:spcPct val="0"/>
                      </a:spcBef>
                      <a:buNone/>
                      <a:defRPr sz="3200" b="1" kern="1200">
                        <a:solidFill>
                          <a:schemeClr val="bg1"/>
                        </a:solidFill>
                        <a:latin typeface="+mj-lt"/>
                        <a:ea typeface="+mj-ea"/>
                        <a:cs typeface="+mj-cs"/>
                      </a:defRPr>
                    </a:lvl1pPr>
                  </a:lstStyle>
                  <a:p>
                    <a:pPr algn="ctr">
                      <a:lnSpc>
                        <a:spcPct val="100000"/>
                      </a:lnSpc>
                    </a:pPr>
                    <a:r>
                      <a:rPr lang="en-US" sz="1000" b="0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rPr>
                      <a:t>Home</a:t>
                    </a:r>
                  </a:p>
                </p:txBody>
              </p:sp>
              <p:grpSp>
                <p:nvGrpSpPr>
                  <p:cNvPr id="46" name="Group 45">
                    <a:extLst>
                      <a:ext uri="{FF2B5EF4-FFF2-40B4-BE49-F238E27FC236}">
                        <a16:creationId xmlns:a16="http://schemas.microsoft.com/office/drawing/2014/main" id="{F151A080-7466-9963-0545-8470623F9AFE}"/>
                      </a:ext>
                    </a:extLst>
                  </p:cNvPr>
                  <p:cNvGrpSpPr/>
                  <p:nvPr/>
                </p:nvGrpSpPr>
                <p:grpSpPr>
                  <a:xfrm>
                    <a:off x="10763998" y="2718720"/>
                    <a:ext cx="1440000" cy="360000"/>
                    <a:chOff x="4102098" y="3429000"/>
                    <a:chExt cx="1440000" cy="360000"/>
                  </a:xfrm>
                </p:grpSpPr>
                <p:sp>
                  <p:nvSpPr>
                    <p:cNvPr id="48" name="Title 63">
                      <a:extLst>
                        <a:ext uri="{FF2B5EF4-FFF2-40B4-BE49-F238E27FC236}">
                          <a16:creationId xmlns:a16="http://schemas.microsoft.com/office/drawing/2014/main" id="{BC8DCEF9-18B8-CF48-4B56-B2F54D1B0A57}"/>
                        </a:ext>
                      </a:extLst>
                    </p:cNvPr>
                    <p:cNvSpPr txBox="1">
                      <a:spLocks/>
                    </p:cNvSpPr>
                    <p:nvPr/>
                  </p:nvSpPr>
                  <p:spPr>
                    <a:xfrm>
                      <a:off x="4102098" y="3429000"/>
                      <a:ext cx="720000" cy="360000"/>
                    </a:xfrm>
                    <a:prstGeom prst="rect">
                      <a:avLst/>
                    </a:prstGeom>
                    <a:solidFill>
                      <a:srgbClr val="2D6A87"/>
                    </a:solidFill>
                    <a:ln w="38100">
                      <a:noFill/>
                    </a:ln>
                  </p:spPr>
                  <p:txBody>
                    <a:bodyPr anchor="ctr">
                      <a:normAutofit/>
                    </a:bodyPr>
                    <a:lstStyle>
                      <a:lvl1pPr algn="l" defTabSz="914400" rtl="0" eaLnBrk="1" latinLnBrk="0" hangingPunct="1">
                        <a:lnSpc>
                          <a:spcPts val="4200"/>
                        </a:lnSpc>
                        <a:spcBef>
                          <a:spcPct val="0"/>
                        </a:spcBef>
                        <a:buNone/>
                        <a:defRPr sz="3200" b="1" kern="1200">
                          <a:solidFill>
                            <a:schemeClr val="bg1"/>
                          </a:solidFill>
                          <a:latin typeface="+mj-lt"/>
                          <a:ea typeface="+mj-ea"/>
                          <a:cs typeface="+mj-cs"/>
                        </a:defRPr>
                      </a:lvl1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Help</a:t>
                      </a:r>
                    </a:p>
                  </p:txBody>
                </p:sp>
                <p:sp>
                  <p:nvSpPr>
                    <p:cNvPr id="49" name="Title 63">
                      <a:extLst>
                        <a:ext uri="{FF2B5EF4-FFF2-40B4-BE49-F238E27FC236}">
                          <a16:creationId xmlns:a16="http://schemas.microsoft.com/office/drawing/2014/main" id="{19CD39FF-3482-50B2-4F3A-4A65C4A9EE66}"/>
                        </a:ext>
                      </a:extLst>
                    </p:cNvPr>
                    <p:cNvSpPr txBox="1">
                      <a:spLocks/>
                    </p:cNvSpPr>
                    <p:nvPr/>
                  </p:nvSpPr>
                  <p:spPr>
                    <a:xfrm>
                      <a:off x="4822098" y="3429000"/>
                      <a:ext cx="720000" cy="360000"/>
                    </a:xfrm>
                    <a:prstGeom prst="rect">
                      <a:avLst/>
                    </a:prstGeom>
                    <a:solidFill>
                      <a:srgbClr val="2D6A87"/>
                    </a:solidFill>
                    <a:ln w="38100">
                      <a:noFill/>
                    </a:ln>
                  </p:spPr>
                  <p:txBody>
                    <a:bodyPr anchor="ctr">
                      <a:normAutofit/>
                    </a:bodyPr>
                    <a:lstStyle>
                      <a:lvl1pPr algn="l" defTabSz="914400" rtl="0" eaLnBrk="1" latinLnBrk="0" hangingPunct="1">
                        <a:lnSpc>
                          <a:spcPts val="4200"/>
                        </a:lnSpc>
                        <a:spcBef>
                          <a:spcPct val="0"/>
                        </a:spcBef>
                        <a:buNone/>
                        <a:defRPr sz="3200" b="1" kern="1200">
                          <a:solidFill>
                            <a:schemeClr val="bg1"/>
                          </a:solidFill>
                          <a:latin typeface="+mj-lt"/>
                          <a:ea typeface="+mj-ea"/>
                          <a:cs typeface="+mj-cs"/>
                        </a:defRPr>
                      </a:lvl1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Logout</a:t>
                      </a:r>
                    </a:p>
                  </p:txBody>
                </p:sp>
              </p:grpSp>
              <p:sp>
                <p:nvSpPr>
                  <p:cNvPr id="47" name="Title 63">
                    <a:extLst>
                      <a:ext uri="{FF2B5EF4-FFF2-40B4-BE49-F238E27FC236}">
                        <a16:creationId xmlns:a16="http://schemas.microsoft.com/office/drawing/2014/main" id="{737AD132-9B23-ABE0-C8E2-67A2BF47390C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3595617" y="2718720"/>
                    <a:ext cx="6445306" cy="360000"/>
                  </a:xfrm>
                  <a:prstGeom prst="rect">
                    <a:avLst/>
                  </a:prstGeom>
                  <a:solidFill>
                    <a:srgbClr val="2D6A87"/>
                  </a:solidFill>
                  <a:ln w="38100">
                    <a:noFill/>
                  </a:ln>
                </p:spPr>
                <p:txBody>
                  <a:bodyPr anchor="ctr">
                    <a:normAutofit/>
                  </a:bodyPr>
                  <a:lstStyle>
                    <a:lvl1pPr algn="l" defTabSz="914400" rtl="0" eaLnBrk="1" latinLnBrk="0" hangingPunct="1">
                      <a:lnSpc>
                        <a:spcPts val="4200"/>
                      </a:lnSpc>
                      <a:spcBef>
                        <a:spcPct val="0"/>
                      </a:spcBef>
                      <a:buNone/>
                      <a:defRPr sz="3200" b="1" kern="1200">
                        <a:solidFill>
                          <a:schemeClr val="bg1"/>
                        </a:solidFill>
                        <a:latin typeface="+mj-lt"/>
                        <a:ea typeface="+mj-ea"/>
                        <a:cs typeface="+mj-cs"/>
                      </a:defRPr>
                    </a:lvl1pPr>
                  </a:lstStyle>
                  <a:p>
                    <a:pPr>
                      <a:lnSpc>
                        <a:spcPct val="100000"/>
                      </a:lnSpc>
                    </a:pPr>
                    <a:endParaRPr lang="en-US" sz="1000" b="0" dirty="0">
                      <a:solidFill>
                        <a:schemeClr val="tx2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+mn-cs"/>
                    </a:endParaRPr>
                  </a:p>
                </p:txBody>
              </p:sp>
            </p:grpSp>
            <p:sp>
              <p:nvSpPr>
                <p:cNvPr id="44" name="Title 63">
                  <a:extLst>
                    <a:ext uri="{FF2B5EF4-FFF2-40B4-BE49-F238E27FC236}">
                      <a16:creationId xmlns:a16="http://schemas.microsoft.com/office/drawing/2014/main" id="{61CB6288-108E-75F7-C20A-F6F7FEC81AA2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720000" y="936090"/>
                  <a:ext cx="720000" cy="360000"/>
                </a:xfrm>
                <a:prstGeom prst="rect">
                  <a:avLst/>
                </a:prstGeom>
                <a:solidFill>
                  <a:srgbClr val="2D6A87"/>
                </a:solidFill>
                <a:ln w="38100">
                  <a:noFill/>
                </a:ln>
              </p:spPr>
              <p:txBody>
                <a:bodyPr anchor="ctr">
                  <a:normAutofit fontScale="77500" lnSpcReduction="20000"/>
                </a:bodyPr>
                <a:lstStyle>
                  <a:lvl1pPr algn="l" defTabSz="914400" rtl="0" eaLnBrk="1" latinLnBrk="0" hangingPunct="1">
                    <a:lnSpc>
                      <a:spcPts val="4200"/>
                    </a:lnSpc>
                    <a:spcBef>
                      <a:spcPct val="0"/>
                    </a:spcBef>
                    <a:buNone/>
                    <a:defRPr sz="3200" b="1" kern="1200">
                      <a:solidFill>
                        <a:schemeClr val="bg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:pPr algn="ctr">
                    <a:lnSpc>
                      <a:spcPct val="100000"/>
                    </a:lnSpc>
                  </a:pPr>
                  <a:r>
                    <a:rPr lang="en-US" sz="1000" dirty="0">
                      <a:solidFill>
                        <a:schemeClr val="accent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+mn-cs"/>
                    </a:rPr>
                    <a:t>Asset Register</a:t>
                  </a:r>
                </a:p>
              </p:txBody>
            </p:sp>
          </p:grpSp>
          <p:sp>
            <p:nvSpPr>
              <p:cNvPr id="40" name="Title 63">
                <a:extLst>
                  <a:ext uri="{FF2B5EF4-FFF2-40B4-BE49-F238E27FC236}">
                    <a16:creationId xmlns:a16="http://schemas.microsoft.com/office/drawing/2014/main" id="{C3B16C45-F0B3-E84D-45D6-3395F8F5590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040924" y="934984"/>
                <a:ext cx="720000" cy="360000"/>
              </a:xfrm>
              <a:prstGeom prst="rect">
                <a:avLst/>
              </a:prstGeom>
              <a:solidFill>
                <a:srgbClr val="2D6A87"/>
              </a:solidFill>
              <a:ln w="38100">
                <a:noFill/>
              </a:ln>
            </p:spPr>
            <p:txBody>
              <a:bodyPr anchor="ctr">
                <a:normAutofit fontScale="92500" lnSpcReduction="10000"/>
              </a:bodyPr>
              <a:lstStyle>
                <a:lvl1pPr algn="l" defTabSz="914400" rtl="0" eaLnBrk="1" latinLnBrk="0" hangingPunct="1">
                  <a:lnSpc>
                    <a:spcPts val="4200"/>
                  </a:lnSpc>
                  <a:spcBef>
                    <a:spcPct val="0"/>
                  </a:spcBef>
                  <a:buNone/>
                  <a:defRPr sz="3200" b="1" kern="1200">
                    <a:solidFill>
                      <a:schemeClr val="bg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00000"/>
                  </a:lnSpc>
                </a:pPr>
                <a:r>
                  <a:rPr lang="en-US" sz="1000" b="0" dirty="0">
                    <a:solidFill>
                      <a:schemeClr val="tx2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rPr>
                  <a:t>Account Manager</a:t>
                </a:r>
              </a:p>
            </p:txBody>
          </p:sp>
        </p:grpSp>
        <p:sp>
          <p:nvSpPr>
            <p:cNvPr id="21" name="Title 63">
              <a:extLst>
                <a:ext uri="{FF2B5EF4-FFF2-40B4-BE49-F238E27FC236}">
                  <a16:creationId xmlns:a16="http://schemas.microsoft.com/office/drawing/2014/main" id="{1E696304-9B1C-109D-B56C-8B3A754AA392}"/>
                </a:ext>
              </a:extLst>
            </p:cNvPr>
            <p:cNvSpPr txBox="1">
              <a:spLocks/>
            </p:cNvSpPr>
            <p:nvPr/>
          </p:nvSpPr>
          <p:spPr>
            <a:xfrm>
              <a:off x="1437809" y="932141"/>
              <a:ext cx="1440000" cy="360000"/>
            </a:xfrm>
            <a:prstGeom prst="rect">
              <a:avLst/>
            </a:prstGeom>
            <a:solidFill>
              <a:srgbClr val="2D6A87"/>
            </a:solidFill>
            <a:ln w="38100">
              <a:noFill/>
            </a:ln>
          </p:spPr>
          <p:txBody>
            <a:bodyPr anchor="ctr">
              <a:normAutofit fontScale="92500" lnSpcReduction="10000"/>
            </a:bodyPr>
            <a:lstStyle>
              <a:lvl1pPr algn="l" defTabSz="914400" rtl="0" eaLnBrk="1" latinLnBrk="0" hangingPunct="1">
                <a:lnSpc>
                  <a:spcPts val="4200"/>
                </a:lnSpc>
                <a:spcBef>
                  <a:spcPct val="0"/>
                </a:spcBef>
                <a:buNone/>
                <a:defRPr sz="3200" b="1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>
                <a:lnSpc>
                  <a:spcPct val="100000"/>
                </a:lnSpc>
              </a:pPr>
              <a:r>
                <a:rPr lang="en-US" sz="1000" b="0" dirty="0">
                  <a:solidFill>
                    <a:schemeClr val="tx2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Risk Based Inspection Planning</a:t>
              </a:r>
            </a:p>
          </p:txBody>
        </p:sp>
        <p:sp>
          <p:nvSpPr>
            <p:cNvPr id="22" name="Title 63">
              <a:extLst>
                <a:ext uri="{FF2B5EF4-FFF2-40B4-BE49-F238E27FC236}">
                  <a16:creationId xmlns:a16="http://schemas.microsoft.com/office/drawing/2014/main" id="{7874755A-3F7D-AC2A-F4F0-3EB97CA19845}"/>
                </a:ext>
              </a:extLst>
            </p:cNvPr>
            <p:cNvSpPr txBox="1">
              <a:spLocks/>
            </p:cNvSpPr>
            <p:nvPr/>
          </p:nvSpPr>
          <p:spPr>
            <a:xfrm>
              <a:off x="2877809" y="932141"/>
              <a:ext cx="720000" cy="360000"/>
            </a:xfrm>
            <a:prstGeom prst="rect">
              <a:avLst/>
            </a:prstGeom>
            <a:solidFill>
              <a:srgbClr val="2D6A87"/>
            </a:solidFill>
            <a:ln w="38100">
              <a:noFill/>
            </a:ln>
          </p:spPr>
          <p:txBody>
            <a:bodyPr anchor="ctr">
              <a:normAutofit fontScale="92500" lnSpcReduction="10000"/>
            </a:bodyPr>
            <a:lstStyle>
              <a:lvl1pPr algn="l" defTabSz="914400" rtl="0" eaLnBrk="1" latinLnBrk="0" hangingPunct="1">
                <a:lnSpc>
                  <a:spcPts val="4200"/>
                </a:lnSpc>
                <a:spcBef>
                  <a:spcPct val="0"/>
                </a:spcBef>
                <a:buNone/>
                <a:defRPr sz="3200" b="1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>
                <a:lnSpc>
                  <a:spcPct val="100000"/>
                </a:lnSpc>
              </a:pPr>
              <a:r>
                <a:rPr lang="en-US" sz="1000" b="0" dirty="0">
                  <a:solidFill>
                    <a:schemeClr val="tx2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Add</a:t>
              </a:r>
            </a:p>
            <a:p>
              <a:pPr algn="ctr">
                <a:lnSpc>
                  <a:spcPct val="100000"/>
                </a:lnSpc>
              </a:pPr>
              <a:r>
                <a:rPr lang="en-US" sz="1000" b="0" dirty="0">
                  <a:solidFill>
                    <a:schemeClr val="tx2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Module</a:t>
              </a:r>
            </a:p>
          </p:txBody>
        </p:sp>
      </p:grpSp>
      <p:pic>
        <p:nvPicPr>
          <p:cNvPr id="51" name="Picture 50">
            <a:extLst>
              <a:ext uri="{FF2B5EF4-FFF2-40B4-BE49-F238E27FC236}">
                <a16:creationId xmlns:a16="http://schemas.microsoft.com/office/drawing/2014/main" id="{32663EDE-A667-C437-87A7-E5AE310140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1265144" y="1170844"/>
            <a:ext cx="360000" cy="323076"/>
          </a:xfrm>
          <a:prstGeom prst="ellipse">
            <a:avLst/>
          </a:prstGeom>
          <a:ln w="3175" cap="rnd">
            <a:solidFill>
              <a:srgbClr val="00B050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9E022BC-BFED-0D0C-2D9B-F45410C89513}"/>
              </a:ext>
            </a:extLst>
          </p:cNvPr>
          <p:cNvSpPr/>
          <p:nvPr/>
        </p:nvSpPr>
        <p:spPr>
          <a:xfrm>
            <a:off x="4914939" y="2413944"/>
            <a:ext cx="406869" cy="1295366"/>
          </a:xfrm>
          <a:prstGeom prst="rect">
            <a:avLst/>
          </a:prstGeom>
          <a:solidFill>
            <a:srgbClr val="FFFF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C359C200-D6FE-F91A-1C58-3F18704193E9}"/>
              </a:ext>
            </a:extLst>
          </p:cNvPr>
          <p:cNvSpPr/>
          <p:nvPr/>
        </p:nvSpPr>
        <p:spPr>
          <a:xfrm>
            <a:off x="11657117" y="318924"/>
            <a:ext cx="360000" cy="360000"/>
          </a:xfrm>
          <a:prstGeom prst="triangl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</a:rPr>
              <a:t>B</a:t>
            </a:r>
            <a:endParaRPr lang="en-ID" sz="12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0209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9AB5394-BC77-302C-E19E-AE0B22BA69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7769524"/>
              </p:ext>
            </p:extLst>
          </p:nvPr>
        </p:nvGraphicFramePr>
        <p:xfrm>
          <a:off x="1240859" y="316405"/>
          <a:ext cx="10169117" cy="1600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3764">
                  <a:extLst>
                    <a:ext uri="{9D8B030D-6E8A-4147-A177-3AD203B41FA5}">
                      <a16:colId xmlns:a16="http://schemas.microsoft.com/office/drawing/2014/main" val="3900566622"/>
                    </a:ext>
                  </a:extLst>
                </a:gridCol>
                <a:gridCol w="576580">
                  <a:extLst>
                    <a:ext uri="{9D8B030D-6E8A-4147-A177-3AD203B41FA5}">
                      <a16:colId xmlns:a16="http://schemas.microsoft.com/office/drawing/2014/main" val="157434326"/>
                    </a:ext>
                  </a:extLst>
                </a:gridCol>
                <a:gridCol w="700405">
                  <a:extLst>
                    <a:ext uri="{9D8B030D-6E8A-4147-A177-3AD203B41FA5}">
                      <a16:colId xmlns:a16="http://schemas.microsoft.com/office/drawing/2014/main" val="2437213845"/>
                    </a:ext>
                  </a:extLst>
                </a:gridCol>
                <a:gridCol w="1175068">
                  <a:extLst>
                    <a:ext uri="{9D8B030D-6E8A-4147-A177-3AD203B41FA5}">
                      <a16:colId xmlns:a16="http://schemas.microsoft.com/office/drawing/2014/main" val="1409784151"/>
                    </a:ext>
                  </a:extLst>
                </a:gridCol>
                <a:gridCol w="475934">
                  <a:extLst>
                    <a:ext uri="{9D8B030D-6E8A-4147-A177-3AD203B41FA5}">
                      <a16:colId xmlns:a16="http://schemas.microsoft.com/office/drawing/2014/main" val="2996765397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197566671"/>
                    </a:ext>
                  </a:extLst>
                </a:gridCol>
                <a:gridCol w="767080">
                  <a:extLst>
                    <a:ext uri="{9D8B030D-6E8A-4147-A177-3AD203B41FA5}">
                      <a16:colId xmlns:a16="http://schemas.microsoft.com/office/drawing/2014/main" val="3808521504"/>
                    </a:ext>
                  </a:extLst>
                </a:gridCol>
                <a:gridCol w="447171">
                  <a:extLst>
                    <a:ext uri="{9D8B030D-6E8A-4147-A177-3AD203B41FA5}">
                      <a16:colId xmlns:a16="http://schemas.microsoft.com/office/drawing/2014/main" val="1108487631"/>
                    </a:ext>
                  </a:extLst>
                </a:gridCol>
                <a:gridCol w="1035368">
                  <a:extLst>
                    <a:ext uri="{9D8B030D-6E8A-4147-A177-3AD203B41FA5}">
                      <a16:colId xmlns:a16="http://schemas.microsoft.com/office/drawing/2014/main" val="1699741227"/>
                    </a:ext>
                  </a:extLst>
                </a:gridCol>
                <a:gridCol w="708343">
                  <a:extLst>
                    <a:ext uri="{9D8B030D-6E8A-4147-A177-3AD203B41FA5}">
                      <a16:colId xmlns:a16="http://schemas.microsoft.com/office/drawing/2014/main" val="3451459594"/>
                    </a:ext>
                  </a:extLst>
                </a:gridCol>
                <a:gridCol w="686118">
                  <a:extLst>
                    <a:ext uri="{9D8B030D-6E8A-4147-A177-3AD203B41FA5}">
                      <a16:colId xmlns:a16="http://schemas.microsoft.com/office/drawing/2014/main" val="3524732178"/>
                    </a:ext>
                  </a:extLst>
                </a:gridCol>
                <a:gridCol w="659130">
                  <a:extLst>
                    <a:ext uri="{9D8B030D-6E8A-4147-A177-3AD203B41FA5}">
                      <a16:colId xmlns:a16="http://schemas.microsoft.com/office/drawing/2014/main" val="3554480355"/>
                    </a:ext>
                  </a:extLst>
                </a:gridCol>
                <a:gridCol w="530728">
                  <a:extLst>
                    <a:ext uri="{9D8B030D-6E8A-4147-A177-3AD203B41FA5}">
                      <a16:colId xmlns:a16="http://schemas.microsoft.com/office/drawing/2014/main" val="1155635048"/>
                    </a:ext>
                  </a:extLst>
                </a:gridCol>
                <a:gridCol w="808355">
                  <a:extLst>
                    <a:ext uri="{9D8B030D-6E8A-4147-A177-3AD203B41FA5}">
                      <a16:colId xmlns:a16="http://schemas.microsoft.com/office/drawing/2014/main" val="2525689907"/>
                    </a:ext>
                  </a:extLst>
                </a:gridCol>
                <a:gridCol w="689293">
                  <a:extLst>
                    <a:ext uri="{9D8B030D-6E8A-4147-A177-3AD203B41FA5}">
                      <a16:colId xmlns:a16="http://schemas.microsoft.com/office/drawing/2014/main" val="6047846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700" b="1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[1]</a:t>
                      </a:r>
                      <a:endParaRPr lang="en-ID" sz="700" b="1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1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[2]</a:t>
                      </a:r>
                      <a:endParaRPr lang="en-ID" sz="700" b="1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1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[3]</a:t>
                      </a:r>
                      <a:endParaRPr lang="en-ID" sz="700" b="1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1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[4]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1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[5]</a:t>
                      </a:r>
                      <a:endParaRPr lang="en-ID" sz="700" b="1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1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[6]</a:t>
                      </a:r>
                      <a:endParaRPr lang="en-ID" sz="700" b="1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1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[7]</a:t>
                      </a:r>
                      <a:endParaRPr lang="en-ID" sz="700" b="1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1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[8]</a:t>
                      </a:r>
                      <a:endParaRPr lang="en-ID" sz="700" b="1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1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[9]</a:t>
                      </a:r>
                      <a:endParaRPr lang="en-ID" sz="700" b="1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1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[10]</a:t>
                      </a:r>
                      <a:endParaRPr lang="en-ID" sz="700" b="1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1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[11]</a:t>
                      </a:r>
                      <a:endParaRPr lang="en-ID" sz="700" b="1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1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[12]</a:t>
                      </a:r>
                      <a:endParaRPr lang="en-ID" sz="700" b="1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1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[13]</a:t>
                      </a:r>
                      <a:endParaRPr lang="en-ID" sz="700" b="1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1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[14]</a:t>
                      </a:r>
                      <a:endParaRPr lang="en-ID" sz="700" b="1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1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[15]</a:t>
                      </a:r>
                      <a:endParaRPr lang="en-ID" sz="700" b="1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996903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b="1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Reg</a:t>
                      </a:r>
                    </a:p>
                    <a:p>
                      <a:r>
                        <a:rPr lang="en-US" sz="700" b="1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no.</a:t>
                      </a:r>
                      <a:endParaRPr lang="en-ID" sz="700" b="1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1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GIS</a:t>
                      </a:r>
                    </a:p>
                    <a:p>
                      <a:r>
                        <a:rPr lang="en-US" sz="700" b="1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Ref No.</a:t>
                      </a:r>
                      <a:endParaRPr lang="en-ID" sz="700" b="1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1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Tag</a:t>
                      </a:r>
                    </a:p>
                    <a:p>
                      <a:r>
                        <a:rPr lang="en-US" sz="700" b="1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No.</a:t>
                      </a:r>
                      <a:endParaRPr lang="en-ID" sz="700" b="1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1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</a:t>
                      </a:r>
                      <a:r>
                        <a:rPr lang="en-ID" sz="700" b="1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Description</a:t>
                      </a:r>
                      <a:endParaRPr lang="en-US" sz="700" b="1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1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Plant</a:t>
                      </a:r>
                      <a:endParaRPr lang="en-ID" sz="700" b="1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1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Zone</a:t>
                      </a:r>
                      <a:endParaRPr lang="en-ID" sz="700" b="1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1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Area</a:t>
                      </a:r>
                      <a:endParaRPr lang="en-ID" sz="700" b="1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1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Train</a:t>
                      </a:r>
                      <a:endParaRPr lang="en-ID" sz="700" b="1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1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Coordinate</a:t>
                      </a:r>
                      <a:endParaRPr lang="en-ID" sz="700" b="1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1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Function</a:t>
                      </a:r>
                      <a:endParaRPr lang="en-ID" sz="700" b="1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1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Material</a:t>
                      </a:r>
                      <a:endParaRPr lang="en-ID" sz="700" b="1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1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Installed</a:t>
                      </a:r>
                      <a:endParaRPr lang="en-ID" sz="700" b="1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1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Age</a:t>
                      </a:r>
                    </a:p>
                    <a:p>
                      <a:r>
                        <a:rPr lang="en-US" sz="700" b="1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(yr)</a:t>
                      </a:r>
                      <a:endParaRPr lang="en-ID" sz="700" b="1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1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Insp. Date</a:t>
                      </a:r>
                      <a:endParaRPr lang="en-ID" sz="700" b="1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1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Condition</a:t>
                      </a:r>
                    </a:p>
                    <a:p>
                      <a:r>
                        <a:rPr lang="en-US" sz="700" b="1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(GVI)</a:t>
                      </a:r>
                      <a:endParaRPr lang="en-ID" sz="700" b="1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6E98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975405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12345…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u="sng" dirty="0">
                          <a:solidFill>
                            <a:srgbClr val="0070C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17D-1/Q-1</a:t>
                      </a:r>
                      <a:endParaRPr lang="en-ID" sz="700" u="sng" dirty="0">
                        <a:solidFill>
                          <a:srgbClr val="0070C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Foundation for 17D-1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17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Zone 1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LPG Storage</a:t>
                      </a:r>
                    </a:p>
                    <a:p>
                      <a:r>
                        <a:rPr lang="en-ID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and Loading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12345 N. 12345 E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Equipment</a:t>
                      </a:r>
                    </a:p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Foundation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Reinforced</a:t>
                      </a:r>
                    </a:p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Concrete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1970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56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15/Aug/2026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Good</a:t>
                      </a:r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3737568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7975326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950697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821805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7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9890854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D182872-42F0-2026-D05F-F3B8FFE481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4813764"/>
              </p:ext>
            </p:extLst>
          </p:nvPr>
        </p:nvGraphicFramePr>
        <p:xfrm>
          <a:off x="1240859" y="2344532"/>
          <a:ext cx="9702444" cy="39014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763905">
                  <a:extLst>
                    <a:ext uri="{9D8B030D-6E8A-4147-A177-3AD203B41FA5}">
                      <a16:colId xmlns:a16="http://schemas.microsoft.com/office/drawing/2014/main" val="3849779001"/>
                    </a:ext>
                  </a:extLst>
                </a:gridCol>
                <a:gridCol w="5497249">
                  <a:extLst>
                    <a:ext uri="{9D8B030D-6E8A-4147-A177-3AD203B41FA5}">
                      <a16:colId xmlns:a16="http://schemas.microsoft.com/office/drawing/2014/main" val="402038412"/>
                    </a:ext>
                  </a:extLst>
                </a:gridCol>
                <a:gridCol w="1907458">
                  <a:extLst>
                    <a:ext uri="{9D8B030D-6E8A-4147-A177-3AD203B41FA5}">
                      <a16:colId xmlns:a16="http://schemas.microsoft.com/office/drawing/2014/main" val="84088965"/>
                    </a:ext>
                  </a:extLst>
                </a:gridCol>
                <a:gridCol w="1533832">
                  <a:extLst>
                    <a:ext uri="{9D8B030D-6E8A-4147-A177-3AD203B41FA5}">
                      <a16:colId xmlns:a16="http://schemas.microsoft.com/office/drawing/2014/main" val="5962693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Column</a:t>
                      </a:r>
                      <a:endParaRPr lang="en-ID" sz="1000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Reference/source</a:t>
                      </a:r>
                      <a:endParaRPr lang="en-ID" sz="1000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Click Action </a:t>
                      </a:r>
                      <a:endParaRPr lang="en-ID" sz="1000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Feature</a:t>
                      </a:r>
                      <a:endParaRPr lang="en-ID" sz="1000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283904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[1]</a:t>
                      </a:r>
                      <a:endParaRPr lang="en-ID" sz="10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3366CC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register no. </a:t>
                      </a:r>
                      <a:r>
                        <a:rPr lang="en-US" sz="1000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dari</a:t>
                      </a:r>
                      <a:r>
                        <a:rPr lang="en-US" sz="10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</a:t>
                      </a:r>
                      <a:r>
                        <a:rPr lang="en-US" sz="1000" b="1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Specific asset</a:t>
                      </a:r>
                      <a:endParaRPr lang="en-ID" sz="1000" b="1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N/A</a:t>
                      </a:r>
                      <a:endParaRPr lang="en-ID" sz="10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Filter, sorting</a:t>
                      </a:r>
                      <a:endParaRPr lang="en-ID" sz="10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378807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[2]</a:t>
                      </a:r>
                      <a:endParaRPr lang="en-ID" sz="10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3366CC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GIS Reference no. </a:t>
                      </a:r>
                      <a:r>
                        <a:rPr lang="en-US" sz="1000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dari</a:t>
                      </a:r>
                      <a:r>
                        <a:rPr lang="en-US" sz="10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</a:t>
                      </a:r>
                      <a:r>
                        <a:rPr lang="en-US" sz="1000" b="1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specific asset</a:t>
                      </a:r>
                      <a:endParaRPr lang="en-ID" sz="1000" b="1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N/A</a:t>
                      </a:r>
                      <a:endParaRPr lang="en-ID" sz="10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Filter, sorting</a:t>
                      </a:r>
                      <a:endParaRPr lang="en-ID" sz="10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079742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[3]</a:t>
                      </a:r>
                      <a:endParaRPr lang="en-ID" sz="10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rgbClr val="3366CC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Asset Tag no. </a:t>
                      </a:r>
                      <a:r>
                        <a:rPr lang="en-US" sz="1000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dari</a:t>
                      </a:r>
                      <a:r>
                        <a:rPr lang="en-US" sz="10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</a:t>
                      </a:r>
                      <a:r>
                        <a:rPr lang="en-US" sz="1000" b="1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specific asset</a:t>
                      </a:r>
                      <a:endParaRPr lang="en-ID" sz="1000" b="1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Hyperlink to specific asset</a:t>
                      </a:r>
                      <a:endParaRPr lang="en-ID" sz="10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Filter, sorting</a:t>
                      </a:r>
                      <a:endParaRPr lang="en-ID" sz="10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09201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[4]</a:t>
                      </a:r>
                      <a:endParaRPr lang="en-ID" sz="10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rgbClr val="3366CC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Civil Asset Description </a:t>
                      </a:r>
                      <a:r>
                        <a:rPr lang="en-US" sz="1000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dari</a:t>
                      </a:r>
                      <a:r>
                        <a:rPr lang="en-US" sz="10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</a:t>
                      </a:r>
                      <a:r>
                        <a:rPr lang="en-US" sz="1000" b="1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specific asset</a:t>
                      </a:r>
                      <a:endParaRPr lang="en-ID" sz="1000" b="1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N/A</a:t>
                      </a:r>
                      <a:endParaRPr lang="en-ID" sz="10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Filter, sorting</a:t>
                      </a:r>
                      <a:endParaRPr lang="en-ID" sz="10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4433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[5]</a:t>
                      </a:r>
                      <a:endParaRPr lang="en-ID" sz="10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dirty="0">
                          <a:solidFill>
                            <a:srgbClr val="3366CC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Plant</a:t>
                      </a:r>
                      <a:r>
                        <a:rPr lang="en-US" sz="1000" b="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</a:t>
                      </a:r>
                      <a:r>
                        <a:rPr lang="en-US" sz="1000" b="0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dari</a:t>
                      </a:r>
                      <a:r>
                        <a:rPr lang="en-US" sz="1000" b="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</a:t>
                      </a:r>
                      <a:r>
                        <a:rPr lang="en-US" sz="1000" b="1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specific asset</a:t>
                      </a:r>
                      <a:endParaRPr lang="en-ID" sz="1000" b="1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N/A</a:t>
                      </a:r>
                      <a:endParaRPr lang="en-ID" sz="10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Filter, sorting</a:t>
                      </a:r>
                      <a:endParaRPr lang="en-ID" sz="10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231271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[6]</a:t>
                      </a:r>
                      <a:endParaRPr lang="en-ID" sz="10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rgbClr val="3366CC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Zone </a:t>
                      </a:r>
                      <a:r>
                        <a:rPr lang="en-US" sz="1000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dari</a:t>
                      </a:r>
                      <a:r>
                        <a:rPr lang="en-US" sz="10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</a:t>
                      </a:r>
                      <a:r>
                        <a:rPr lang="en-US" sz="1000" b="1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specific asset</a:t>
                      </a:r>
                      <a:endParaRPr lang="en-ID" sz="1000" b="1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N/A</a:t>
                      </a:r>
                      <a:endParaRPr lang="en-ID" sz="10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Filter, sorting</a:t>
                      </a:r>
                      <a:endParaRPr lang="en-ID" sz="10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38403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[7]</a:t>
                      </a:r>
                      <a:endParaRPr lang="en-ID" sz="10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rgbClr val="3366CC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Area </a:t>
                      </a:r>
                      <a:r>
                        <a:rPr lang="en-US" sz="1000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dari</a:t>
                      </a:r>
                      <a:r>
                        <a:rPr lang="en-US" sz="10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</a:t>
                      </a:r>
                      <a:r>
                        <a:rPr lang="en-US" sz="1000" b="1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specific asset</a:t>
                      </a:r>
                      <a:endParaRPr lang="en-ID" sz="1000" b="1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N/A</a:t>
                      </a:r>
                      <a:endParaRPr lang="en-ID" sz="10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Filter, sorting</a:t>
                      </a:r>
                      <a:endParaRPr lang="en-ID" sz="10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24494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[8]</a:t>
                      </a:r>
                      <a:endParaRPr lang="en-ID" sz="10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rgbClr val="3366CC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Train </a:t>
                      </a:r>
                      <a:r>
                        <a:rPr lang="en-US" sz="1000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dari</a:t>
                      </a:r>
                      <a:r>
                        <a:rPr lang="en-US" sz="10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</a:t>
                      </a:r>
                      <a:r>
                        <a:rPr lang="en-US" sz="1000" b="1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specific asset</a:t>
                      </a:r>
                      <a:endParaRPr lang="en-ID" sz="1000" b="1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N/A</a:t>
                      </a:r>
                      <a:endParaRPr lang="en-ID" sz="10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Filter, sorting</a:t>
                      </a:r>
                      <a:endParaRPr lang="en-ID" sz="10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879479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[9]</a:t>
                      </a:r>
                      <a:endParaRPr lang="en-ID" sz="10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rgbClr val="3366CC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Coordinate </a:t>
                      </a:r>
                      <a:r>
                        <a:rPr lang="en-US" sz="1000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dari</a:t>
                      </a:r>
                      <a:r>
                        <a:rPr lang="en-US" sz="10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</a:t>
                      </a:r>
                      <a:r>
                        <a:rPr lang="en-US" sz="1000" b="1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specific asset</a:t>
                      </a:r>
                      <a:endParaRPr lang="en-ID" sz="1000" b="1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N/A</a:t>
                      </a:r>
                      <a:endParaRPr lang="en-ID" sz="10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Filter, sorting</a:t>
                      </a:r>
                      <a:endParaRPr lang="en-ID" sz="10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359541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[10]</a:t>
                      </a:r>
                      <a:endParaRPr lang="en-ID" sz="10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rgbClr val="3366CC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Function </a:t>
                      </a:r>
                      <a:r>
                        <a:rPr lang="en-US" sz="1000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dari</a:t>
                      </a:r>
                      <a:r>
                        <a:rPr lang="en-US" sz="10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</a:t>
                      </a:r>
                      <a:r>
                        <a:rPr lang="en-US" sz="1000" b="1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specific asset</a:t>
                      </a:r>
                      <a:endParaRPr lang="en-ID" sz="1000" b="1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N/A</a:t>
                      </a:r>
                      <a:endParaRPr lang="en-ID" sz="10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Filter, sorting</a:t>
                      </a:r>
                      <a:endParaRPr lang="en-ID" sz="10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6768625"/>
                  </a:ext>
                </a:extLst>
              </a:tr>
              <a:tr h="161875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[11]</a:t>
                      </a:r>
                      <a:endParaRPr lang="en-ID" sz="10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rgbClr val="3366CC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Material </a:t>
                      </a:r>
                      <a:r>
                        <a:rPr lang="en-US" sz="1000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dari</a:t>
                      </a:r>
                      <a:r>
                        <a:rPr lang="en-US" sz="10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</a:t>
                      </a:r>
                      <a:r>
                        <a:rPr lang="en-US" sz="1000" b="1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specific asset</a:t>
                      </a:r>
                      <a:endParaRPr lang="en-ID" sz="1000" b="1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N/A</a:t>
                      </a:r>
                      <a:endParaRPr lang="en-ID" sz="10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Filter, sorting</a:t>
                      </a:r>
                      <a:endParaRPr lang="en-ID" sz="10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568182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[12]</a:t>
                      </a:r>
                      <a:endParaRPr lang="en-ID" sz="10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rgbClr val="3366CC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Installed </a:t>
                      </a:r>
                      <a:r>
                        <a:rPr lang="en-US" sz="1000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dari</a:t>
                      </a:r>
                      <a:r>
                        <a:rPr lang="en-US" sz="10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</a:t>
                      </a:r>
                      <a:r>
                        <a:rPr lang="en-US" sz="1000" b="1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specific asset</a:t>
                      </a:r>
                      <a:endParaRPr lang="en-ID" sz="1000" b="1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N/A</a:t>
                      </a:r>
                      <a:endParaRPr lang="en-ID" sz="10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Filter, sorting</a:t>
                      </a:r>
                      <a:endParaRPr lang="en-ID" sz="10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37003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[13]</a:t>
                      </a:r>
                      <a:endParaRPr lang="en-ID" sz="10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Current date </a:t>
                      </a:r>
                      <a:r>
                        <a:rPr lang="en-US" sz="1000" dirty="0">
                          <a:solidFill>
                            <a:srgbClr val="3366CC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 Installed </a:t>
                      </a:r>
                      <a:r>
                        <a:rPr lang="en-US" sz="1000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dari</a:t>
                      </a:r>
                      <a:r>
                        <a:rPr lang="en-US" sz="10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</a:t>
                      </a:r>
                      <a:r>
                        <a:rPr lang="en-US" sz="1000" b="1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specific asset</a:t>
                      </a:r>
                      <a:endParaRPr lang="en-ID" sz="1000" b="1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N/A</a:t>
                      </a:r>
                      <a:endParaRPr lang="en-ID" sz="10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Filter, sorting</a:t>
                      </a:r>
                      <a:endParaRPr lang="en-ID" sz="10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19371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[14]</a:t>
                      </a:r>
                      <a:endParaRPr lang="en-ID" sz="10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rgbClr val="3366CC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Inspection Date </a:t>
                      </a:r>
                      <a:r>
                        <a:rPr lang="en-US" sz="1000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dari</a:t>
                      </a:r>
                      <a:r>
                        <a:rPr lang="en-US" sz="10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</a:t>
                      </a:r>
                      <a:r>
                        <a:rPr lang="en-US" sz="1000" b="1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specific asset</a:t>
                      </a:r>
                      <a:endParaRPr lang="en-ID" sz="1000" b="1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N/A</a:t>
                      </a:r>
                      <a:endParaRPr lang="en-ID" sz="10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Filter, sorting</a:t>
                      </a:r>
                      <a:endParaRPr lang="en-ID" sz="10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0483005"/>
                  </a:ext>
                </a:extLst>
              </a:tr>
              <a:tr h="130411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[15]</a:t>
                      </a:r>
                      <a:endParaRPr lang="en-ID" sz="10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rgbClr val="3366CC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Condition </a:t>
                      </a:r>
                      <a:r>
                        <a:rPr lang="en-US" sz="1000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dari</a:t>
                      </a:r>
                      <a:r>
                        <a:rPr lang="en-US" sz="10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</a:t>
                      </a:r>
                      <a:r>
                        <a:rPr lang="en-US" sz="1000" b="1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specific asset</a:t>
                      </a:r>
                      <a:endParaRPr lang="en-ID" sz="1000" b="1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N/A</a:t>
                      </a:r>
                      <a:endParaRPr lang="en-ID" sz="10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Filter, sorting</a:t>
                      </a:r>
                      <a:endParaRPr lang="en-ID" sz="10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0553395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56A6D9A3-0B6A-7717-7DE9-55734FFC276B}"/>
              </a:ext>
            </a:extLst>
          </p:cNvPr>
          <p:cNvSpPr/>
          <p:nvPr/>
        </p:nvSpPr>
        <p:spPr>
          <a:xfrm>
            <a:off x="4101123" y="316404"/>
            <a:ext cx="406869" cy="1600199"/>
          </a:xfrm>
          <a:prstGeom prst="rect">
            <a:avLst/>
          </a:prstGeom>
          <a:solidFill>
            <a:srgbClr val="FFFF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D14D1CE-F9BC-4F84-5DBF-851DA6D682B2}"/>
              </a:ext>
            </a:extLst>
          </p:cNvPr>
          <p:cNvSpPr/>
          <p:nvPr/>
        </p:nvSpPr>
        <p:spPr>
          <a:xfrm>
            <a:off x="1240859" y="3559477"/>
            <a:ext cx="2860264" cy="299292"/>
          </a:xfrm>
          <a:prstGeom prst="rect">
            <a:avLst/>
          </a:prstGeom>
          <a:solidFill>
            <a:srgbClr val="FFFF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B3ADB868-BC0C-14F3-4FEB-C5BEDAC98017}"/>
              </a:ext>
            </a:extLst>
          </p:cNvPr>
          <p:cNvSpPr/>
          <p:nvPr/>
        </p:nvSpPr>
        <p:spPr>
          <a:xfrm>
            <a:off x="11657117" y="318924"/>
            <a:ext cx="360000" cy="360000"/>
          </a:xfrm>
          <a:prstGeom prst="triangl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</a:rPr>
              <a:t>B</a:t>
            </a:r>
            <a:endParaRPr lang="en-ID" sz="12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1238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7709E-2F7F-492D-CB77-D0082CDC9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itle 63">
            <a:extLst>
              <a:ext uri="{FF2B5EF4-FFF2-40B4-BE49-F238E27FC236}">
                <a16:creationId xmlns:a16="http://schemas.microsoft.com/office/drawing/2014/main" id="{C5FD048A-8AEB-7AD0-F8A9-DAC62806A2C4}"/>
              </a:ext>
            </a:extLst>
          </p:cNvPr>
          <p:cNvSpPr txBox="1">
            <a:spLocks/>
          </p:cNvSpPr>
          <p:nvPr/>
        </p:nvSpPr>
        <p:spPr>
          <a:xfrm>
            <a:off x="0" y="1462924"/>
            <a:ext cx="2152665" cy="5395076"/>
          </a:xfrm>
          <a:prstGeom prst="rect">
            <a:avLst/>
          </a:prstGeom>
          <a:noFill/>
          <a:ln w="19050">
            <a:solidFill>
              <a:srgbClr val="2D6A87"/>
            </a:solidFill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endParaRPr lang="en-US" sz="1000" b="0" dirty="0">
              <a:solidFill>
                <a:schemeClr val="tx2"/>
              </a:solidFill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2" name="Title 63">
            <a:extLst>
              <a:ext uri="{FF2B5EF4-FFF2-40B4-BE49-F238E27FC236}">
                <a16:creationId xmlns:a16="http://schemas.microsoft.com/office/drawing/2014/main" id="{E24E941D-5A40-BA62-6F47-E21BA27343BA}"/>
              </a:ext>
            </a:extLst>
          </p:cNvPr>
          <p:cNvSpPr txBox="1">
            <a:spLocks/>
          </p:cNvSpPr>
          <p:nvPr/>
        </p:nvSpPr>
        <p:spPr>
          <a:xfrm>
            <a:off x="-1" y="10690"/>
            <a:ext cx="12192001" cy="900000"/>
          </a:xfrm>
          <a:prstGeom prst="rect">
            <a:avLst/>
          </a:prstGeom>
          <a:solidFill>
            <a:schemeClr val="tx2"/>
          </a:solidFill>
          <a:ln w="3810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2D6A87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Structural Integrity Management System (SIMS)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E8A83C-F4FF-85DC-BA7C-1748B3249A4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2836" r="22678"/>
          <a:stretch>
            <a:fillRect/>
          </a:stretch>
        </p:blipFill>
        <p:spPr>
          <a:xfrm>
            <a:off x="174883" y="103675"/>
            <a:ext cx="691633" cy="714030"/>
          </a:xfrm>
          <a:prstGeom prst="rect">
            <a:avLst/>
          </a:prstGeom>
        </p:spPr>
      </p:pic>
      <p:sp>
        <p:nvSpPr>
          <p:cNvPr id="25" name="Title 63">
            <a:extLst>
              <a:ext uri="{FF2B5EF4-FFF2-40B4-BE49-F238E27FC236}">
                <a16:creationId xmlns:a16="http://schemas.microsoft.com/office/drawing/2014/main" id="{91485F42-11F6-085B-0853-43261EB53AC9}"/>
              </a:ext>
            </a:extLst>
          </p:cNvPr>
          <p:cNvSpPr txBox="1">
            <a:spLocks/>
          </p:cNvSpPr>
          <p:nvPr/>
        </p:nvSpPr>
        <p:spPr>
          <a:xfrm>
            <a:off x="0" y="1449533"/>
            <a:ext cx="2160000" cy="360000"/>
          </a:xfrm>
          <a:prstGeom prst="rect">
            <a:avLst/>
          </a:prstGeom>
          <a:solidFill>
            <a:srgbClr val="2D6A87"/>
          </a:solidFill>
          <a:ln w="3810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000" b="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Asset Tree </a:t>
            </a:r>
          </a:p>
        </p:txBody>
      </p:sp>
      <p:sp>
        <p:nvSpPr>
          <p:cNvPr id="31" name="Title 63">
            <a:extLst>
              <a:ext uri="{FF2B5EF4-FFF2-40B4-BE49-F238E27FC236}">
                <a16:creationId xmlns:a16="http://schemas.microsoft.com/office/drawing/2014/main" id="{C90D593A-B923-49FE-798C-5F99A4D4414C}"/>
              </a:ext>
            </a:extLst>
          </p:cNvPr>
          <p:cNvSpPr txBox="1">
            <a:spLocks/>
          </p:cNvSpPr>
          <p:nvPr/>
        </p:nvSpPr>
        <p:spPr>
          <a:xfrm>
            <a:off x="0" y="1809532"/>
            <a:ext cx="2160000" cy="5037778"/>
          </a:xfrm>
          <a:prstGeom prst="rect">
            <a:avLst/>
          </a:prstGeom>
          <a:noFill/>
          <a:ln w="38100">
            <a:noFill/>
          </a:ln>
        </p:spPr>
        <p:txBody>
          <a:bodyPr anchor="t">
            <a:no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 Gas Purification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&gt;</a:t>
            </a: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Plant 2 Dehydration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&gt;</a:t>
            </a: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Plant 3 Fractionation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4 Refrigeration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5 Liquefaction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6 Condensate Stripping ...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15 LPG Section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16 Condensate Stabilize ... 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17 LPG Storage and Loa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17D-1/Q-1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17D-2/Q-1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17D-3/Q-1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17D-4/Q-1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17D-5/Q-1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+ add asset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19 Relief &amp; Blowdown S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20 Condensate Storage ...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20D-4/Q-1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     20D-5/Q-1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     20D-6/Q-1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     + add asset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21 Feed Gas Knockout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22 Marine Structures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24 LNG Storage and Loa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25 Fueling Facility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26 LPG Filling Station … &gt;Propane and Butane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27 Oxygen Plant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28 Acetylene Plant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29 Nitrogen Generation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30 Electrical </a:t>
            </a:r>
            <a:r>
              <a:rPr lang="en-US" sz="8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Distributio</a:t>
            </a: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31 Steam &amp; Power Gen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32 Seawater Cooling 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33 Fire Protection System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34 Liquid Waste System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35 Compressed Air System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36 Water Treatment Sy …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&gt;Plant 37 Communication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 + add Plant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E965877-83A4-78F0-5988-3E021F60D90B}"/>
              </a:ext>
            </a:extLst>
          </p:cNvPr>
          <p:cNvGrpSpPr/>
          <p:nvPr/>
        </p:nvGrpSpPr>
        <p:grpSpPr>
          <a:xfrm>
            <a:off x="216151" y="3948414"/>
            <a:ext cx="73594" cy="324419"/>
            <a:chOff x="216151" y="3221023"/>
            <a:chExt cx="73594" cy="324419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3A5D1630-D0E0-4BA9-DD43-0F01C4F6CDBD}"/>
                </a:ext>
              </a:extLst>
            </p:cNvPr>
            <p:cNvSpPr/>
            <p:nvPr/>
          </p:nvSpPr>
          <p:spPr>
            <a:xfrm>
              <a:off x="217745" y="3346913"/>
              <a:ext cx="72000" cy="72000"/>
            </a:xfrm>
            <a:prstGeom prst="rect">
              <a:avLst/>
            </a:prstGeom>
            <a:solidFill>
              <a:schemeClr val="bg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1D671E8A-19D4-79B3-80A6-089977AE742D}"/>
                </a:ext>
              </a:extLst>
            </p:cNvPr>
            <p:cNvSpPr/>
            <p:nvPr/>
          </p:nvSpPr>
          <p:spPr>
            <a:xfrm>
              <a:off x="217745" y="3473442"/>
              <a:ext cx="72000" cy="72000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9558EE55-0C42-B0D0-7884-70CF53FE064D}"/>
                </a:ext>
              </a:extLst>
            </p:cNvPr>
            <p:cNvSpPr/>
            <p:nvPr/>
          </p:nvSpPr>
          <p:spPr>
            <a:xfrm>
              <a:off x="216151" y="3221023"/>
              <a:ext cx="72000" cy="720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sp>
        <p:nvSpPr>
          <p:cNvPr id="7" name="Title 63">
            <a:extLst>
              <a:ext uri="{FF2B5EF4-FFF2-40B4-BE49-F238E27FC236}">
                <a16:creationId xmlns:a16="http://schemas.microsoft.com/office/drawing/2014/main" id="{A495C192-91E7-9C7D-6F34-CDFC0A3250BC}"/>
              </a:ext>
            </a:extLst>
          </p:cNvPr>
          <p:cNvSpPr txBox="1">
            <a:spLocks/>
          </p:cNvSpPr>
          <p:nvPr/>
        </p:nvSpPr>
        <p:spPr>
          <a:xfrm>
            <a:off x="2157809" y="1449533"/>
            <a:ext cx="10034191" cy="360000"/>
          </a:xfrm>
          <a:prstGeom prst="rect">
            <a:avLst/>
          </a:prstGeom>
          <a:solidFill>
            <a:srgbClr val="2D6A87"/>
          </a:solidFill>
          <a:ln w="38100"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000" b="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Risk Based Inspection Planning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F53A98A4-D4D9-33A0-4F49-D16BBF6AC782}"/>
              </a:ext>
            </a:extLst>
          </p:cNvPr>
          <p:cNvGrpSpPr/>
          <p:nvPr/>
        </p:nvGrpSpPr>
        <p:grpSpPr>
          <a:xfrm>
            <a:off x="214557" y="2975994"/>
            <a:ext cx="73594" cy="324419"/>
            <a:chOff x="216151" y="3221023"/>
            <a:chExt cx="73594" cy="324419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3B4CE7F3-07D7-7474-15B6-FEDBE771B9E4}"/>
                </a:ext>
              </a:extLst>
            </p:cNvPr>
            <p:cNvSpPr/>
            <p:nvPr/>
          </p:nvSpPr>
          <p:spPr>
            <a:xfrm>
              <a:off x="217745" y="3346913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83119B63-14F0-58D6-050B-16B64810E1C8}"/>
                </a:ext>
              </a:extLst>
            </p:cNvPr>
            <p:cNvSpPr/>
            <p:nvPr/>
          </p:nvSpPr>
          <p:spPr>
            <a:xfrm>
              <a:off x="217745" y="3473442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5BAD76FB-B1B7-1FED-ADC4-310E76D13767}"/>
                </a:ext>
              </a:extLst>
            </p:cNvPr>
            <p:cNvSpPr/>
            <p:nvPr/>
          </p:nvSpPr>
          <p:spPr>
            <a:xfrm>
              <a:off x="216151" y="3221023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0A4024A9-5886-CE84-CC6B-2A7A94C151D4}"/>
              </a:ext>
            </a:extLst>
          </p:cNvPr>
          <p:cNvGrpSpPr/>
          <p:nvPr/>
        </p:nvGrpSpPr>
        <p:grpSpPr>
          <a:xfrm>
            <a:off x="214557" y="3346544"/>
            <a:ext cx="73594" cy="197890"/>
            <a:chOff x="216151" y="3221023"/>
            <a:chExt cx="73594" cy="197890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465BCED7-C784-8E9E-42DD-CB14003DA815}"/>
                </a:ext>
              </a:extLst>
            </p:cNvPr>
            <p:cNvSpPr/>
            <p:nvPr/>
          </p:nvSpPr>
          <p:spPr>
            <a:xfrm>
              <a:off x="217745" y="3346913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A7C8F980-0226-1758-D236-F3D6E7BC5F9C}"/>
                </a:ext>
              </a:extLst>
            </p:cNvPr>
            <p:cNvSpPr/>
            <p:nvPr/>
          </p:nvSpPr>
          <p:spPr>
            <a:xfrm>
              <a:off x="216151" y="3221023"/>
              <a:ext cx="72000" cy="72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7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024361C-DC2B-9A24-55D9-0F4D4010E09C}"/>
              </a:ext>
            </a:extLst>
          </p:cNvPr>
          <p:cNvGrpSpPr/>
          <p:nvPr/>
        </p:nvGrpSpPr>
        <p:grpSpPr>
          <a:xfrm>
            <a:off x="0" y="932141"/>
            <a:ext cx="12204000" cy="363949"/>
            <a:chOff x="0" y="932141"/>
            <a:chExt cx="12204000" cy="363949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F7F8EAB5-2FFE-AB22-4F5D-EF03ABAFB25A}"/>
                </a:ext>
              </a:extLst>
            </p:cNvPr>
            <p:cNvGrpSpPr/>
            <p:nvPr/>
          </p:nvGrpSpPr>
          <p:grpSpPr>
            <a:xfrm>
              <a:off x="0" y="934984"/>
              <a:ext cx="12204000" cy="361106"/>
              <a:chOff x="0" y="934984"/>
              <a:chExt cx="12204000" cy="361106"/>
            </a:xfrm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65FEE06F-04B6-8EDC-6FD3-A06B081B6B0C}"/>
                  </a:ext>
                </a:extLst>
              </p:cNvPr>
              <p:cNvGrpSpPr/>
              <p:nvPr/>
            </p:nvGrpSpPr>
            <p:grpSpPr>
              <a:xfrm>
                <a:off x="0" y="936090"/>
                <a:ext cx="12204000" cy="360000"/>
                <a:chOff x="0" y="936090"/>
                <a:chExt cx="12204000" cy="360000"/>
              </a:xfrm>
            </p:grpSpPr>
            <p:grpSp>
              <p:nvGrpSpPr>
                <p:cNvPr id="42" name="Group 41">
                  <a:extLst>
                    <a:ext uri="{FF2B5EF4-FFF2-40B4-BE49-F238E27FC236}">
                      <a16:creationId xmlns:a16="http://schemas.microsoft.com/office/drawing/2014/main" id="{BE94AC61-BBB0-99AD-2C5A-F8BAD867BFE2}"/>
                    </a:ext>
                  </a:extLst>
                </p:cNvPr>
                <p:cNvGrpSpPr/>
                <p:nvPr/>
              </p:nvGrpSpPr>
              <p:grpSpPr>
                <a:xfrm>
                  <a:off x="0" y="936090"/>
                  <a:ext cx="12204000" cy="360000"/>
                  <a:chOff x="-2" y="2718720"/>
                  <a:chExt cx="12204000" cy="360000"/>
                </a:xfrm>
              </p:grpSpPr>
              <p:sp>
                <p:nvSpPr>
                  <p:cNvPr id="45" name="Title 63">
                    <a:extLst>
                      <a:ext uri="{FF2B5EF4-FFF2-40B4-BE49-F238E27FC236}">
                        <a16:creationId xmlns:a16="http://schemas.microsoft.com/office/drawing/2014/main" id="{72BA1A0E-8ACE-A870-DDDE-1E51B561ECE8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-2" y="2718720"/>
                    <a:ext cx="720000" cy="360000"/>
                  </a:xfrm>
                  <a:prstGeom prst="rect">
                    <a:avLst/>
                  </a:prstGeom>
                  <a:solidFill>
                    <a:srgbClr val="2D6A87"/>
                  </a:solidFill>
                  <a:ln w="38100">
                    <a:noFill/>
                  </a:ln>
                </p:spPr>
                <p:txBody>
                  <a:bodyPr anchor="ctr">
                    <a:normAutofit/>
                  </a:bodyPr>
                  <a:lstStyle>
                    <a:lvl1pPr algn="l" defTabSz="914400" rtl="0" eaLnBrk="1" latinLnBrk="0" hangingPunct="1">
                      <a:lnSpc>
                        <a:spcPts val="4200"/>
                      </a:lnSpc>
                      <a:spcBef>
                        <a:spcPct val="0"/>
                      </a:spcBef>
                      <a:buNone/>
                      <a:defRPr sz="3200" b="1" kern="1200">
                        <a:solidFill>
                          <a:schemeClr val="bg1"/>
                        </a:solidFill>
                        <a:latin typeface="+mj-lt"/>
                        <a:ea typeface="+mj-ea"/>
                        <a:cs typeface="+mj-cs"/>
                      </a:defRPr>
                    </a:lvl1pPr>
                  </a:lstStyle>
                  <a:p>
                    <a:pPr algn="ctr">
                      <a:lnSpc>
                        <a:spcPct val="100000"/>
                      </a:lnSpc>
                    </a:pPr>
                    <a:r>
                      <a:rPr lang="en-US" sz="1000" b="0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rPr>
                      <a:t>Home</a:t>
                    </a:r>
                  </a:p>
                </p:txBody>
              </p:sp>
              <p:grpSp>
                <p:nvGrpSpPr>
                  <p:cNvPr id="46" name="Group 45">
                    <a:extLst>
                      <a:ext uri="{FF2B5EF4-FFF2-40B4-BE49-F238E27FC236}">
                        <a16:creationId xmlns:a16="http://schemas.microsoft.com/office/drawing/2014/main" id="{7F1B6983-605B-4C29-C2B3-1320C1A14FF5}"/>
                      </a:ext>
                    </a:extLst>
                  </p:cNvPr>
                  <p:cNvGrpSpPr/>
                  <p:nvPr/>
                </p:nvGrpSpPr>
                <p:grpSpPr>
                  <a:xfrm>
                    <a:off x="10763998" y="2718720"/>
                    <a:ext cx="1440000" cy="360000"/>
                    <a:chOff x="4102098" y="3429000"/>
                    <a:chExt cx="1440000" cy="360000"/>
                  </a:xfrm>
                </p:grpSpPr>
                <p:sp>
                  <p:nvSpPr>
                    <p:cNvPr id="48" name="Title 63">
                      <a:extLst>
                        <a:ext uri="{FF2B5EF4-FFF2-40B4-BE49-F238E27FC236}">
                          <a16:creationId xmlns:a16="http://schemas.microsoft.com/office/drawing/2014/main" id="{03404AE7-395E-1110-2936-0922F8FB26E9}"/>
                        </a:ext>
                      </a:extLst>
                    </p:cNvPr>
                    <p:cNvSpPr txBox="1">
                      <a:spLocks/>
                    </p:cNvSpPr>
                    <p:nvPr/>
                  </p:nvSpPr>
                  <p:spPr>
                    <a:xfrm>
                      <a:off x="4102098" y="3429000"/>
                      <a:ext cx="720000" cy="360000"/>
                    </a:xfrm>
                    <a:prstGeom prst="rect">
                      <a:avLst/>
                    </a:prstGeom>
                    <a:solidFill>
                      <a:srgbClr val="2D6A87"/>
                    </a:solidFill>
                    <a:ln w="38100">
                      <a:noFill/>
                    </a:ln>
                  </p:spPr>
                  <p:txBody>
                    <a:bodyPr anchor="ctr">
                      <a:normAutofit/>
                    </a:bodyPr>
                    <a:lstStyle>
                      <a:lvl1pPr algn="l" defTabSz="914400" rtl="0" eaLnBrk="1" latinLnBrk="0" hangingPunct="1">
                        <a:lnSpc>
                          <a:spcPts val="4200"/>
                        </a:lnSpc>
                        <a:spcBef>
                          <a:spcPct val="0"/>
                        </a:spcBef>
                        <a:buNone/>
                        <a:defRPr sz="3200" b="1" kern="1200">
                          <a:solidFill>
                            <a:schemeClr val="bg1"/>
                          </a:solidFill>
                          <a:latin typeface="+mj-lt"/>
                          <a:ea typeface="+mj-ea"/>
                          <a:cs typeface="+mj-cs"/>
                        </a:defRPr>
                      </a:lvl1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Help</a:t>
                      </a:r>
                    </a:p>
                  </p:txBody>
                </p:sp>
                <p:sp>
                  <p:nvSpPr>
                    <p:cNvPr id="49" name="Title 63">
                      <a:extLst>
                        <a:ext uri="{FF2B5EF4-FFF2-40B4-BE49-F238E27FC236}">
                          <a16:creationId xmlns:a16="http://schemas.microsoft.com/office/drawing/2014/main" id="{4C9592F1-C0F0-86BC-31CD-821C45729806}"/>
                        </a:ext>
                      </a:extLst>
                    </p:cNvPr>
                    <p:cNvSpPr txBox="1">
                      <a:spLocks/>
                    </p:cNvSpPr>
                    <p:nvPr/>
                  </p:nvSpPr>
                  <p:spPr>
                    <a:xfrm>
                      <a:off x="4822098" y="3429000"/>
                      <a:ext cx="720000" cy="360000"/>
                    </a:xfrm>
                    <a:prstGeom prst="rect">
                      <a:avLst/>
                    </a:prstGeom>
                    <a:solidFill>
                      <a:srgbClr val="2D6A87"/>
                    </a:solidFill>
                    <a:ln w="38100">
                      <a:noFill/>
                    </a:ln>
                  </p:spPr>
                  <p:txBody>
                    <a:bodyPr anchor="ctr">
                      <a:normAutofit/>
                    </a:bodyPr>
                    <a:lstStyle>
                      <a:lvl1pPr algn="l" defTabSz="914400" rtl="0" eaLnBrk="1" latinLnBrk="0" hangingPunct="1">
                        <a:lnSpc>
                          <a:spcPts val="4200"/>
                        </a:lnSpc>
                        <a:spcBef>
                          <a:spcPct val="0"/>
                        </a:spcBef>
                        <a:buNone/>
                        <a:defRPr sz="3200" b="1" kern="1200">
                          <a:solidFill>
                            <a:schemeClr val="bg1"/>
                          </a:solidFill>
                          <a:latin typeface="+mj-lt"/>
                          <a:ea typeface="+mj-ea"/>
                          <a:cs typeface="+mj-cs"/>
                        </a:defRPr>
                      </a:lvl1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Logout</a:t>
                      </a:r>
                    </a:p>
                  </p:txBody>
                </p:sp>
              </p:grpSp>
              <p:sp>
                <p:nvSpPr>
                  <p:cNvPr id="47" name="Title 63">
                    <a:extLst>
                      <a:ext uri="{FF2B5EF4-FFF2-40B4-BE49-F238E27FC236}">
                        <a16:creationId xmlns:a16="http://schemas.microsoft.com/office/drawing/2014/main" id="{C6F62951-2AF7-C82D-9D13-95C00E42607F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3595617" y="2718720"/>
                    <a:ext cx="6445306" cy="360000"/>
                  </a:xfrm>
                  <a:prstGeom prst="rect">
                    <a:avLst/>
                  </a:prstGeom>
                  <a:solidFill>
                    <a:srgbClr val="2D6A87"/>
                  </a:solidFill>
                  <a:ln w="38100">
                    <a:noFill/>
                  </a:ln>
                </p:spPr>
                <p:txBody>
                  <a:bodyPr anchor="ctr">
                    <a:normAutofit/>
                  </a:bodyPr>
                  <a:lstStyle>
                    <a:lvl1pPr algn="l" defTabSz="914400" rtl="0" eaLnBrk="1" latinLnBrk="0" hangingPunct="1">
                      <a:lnSpc>
                        <a:spcPts val="4200"/>
                      </a:lnSpc>
                      <a:spcBef>
                        <a:spcPct val="0"/>
                      </a:spcBef>
                      <a:buNone/>
                      <a:defRPr sz="3200" b="1" kern="1200">
                        <a:solidFill>
                          <a:schemeClr val="bg1"/>
                        </a:solidFill>
                        <a:latin typeface="+mj-lt"/>
                        <a:ea typeface="+mj-ea"/>
                        <a:cs typeface="+mj-cs"/>
                      </a:defRPr>
                    </a:lvl1pPr>
                  </a:lstStyle>
                  <a:p>
                    <a:pPr>
                      <a:lnSpc>
                        <a:spcPct val="100000"/>
                      </a:lnSpc>
                    </a:pPr>
                    <a:endParaRPr lang="en-US" sz="1000" b="0" dirty="0">
                      <a:solidFill>
                        <a:schemeClr val="tx2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+mn-cs"/>
                    </a:endParaRPr>
                  </a:p>
                </p:txBody>
              </p:sp>
            </p:grpSp>
            <p:sp>
              <p:nvSpPr>
                <p:cNvPr id="44" name="Title 63">
                  <a:extLst>
                    <a:ext uri="{FF2B5EF4-FFF2-40B4-BE49-F238E27FC236}">
                      <a16:creationId xmlns:a16="http://schemas.microsoft.com/office/drawing/2014/main" id="{FDA23CBF-14E9-FF07-3767-8ED51B2BAEB1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720000" y="936090"/>
                  <a:ext cx="720000" cy="360000"/>
                </a:xfrm>
                <a:prstGeom prst="rect">
                  <a:avLst/>
                </a:prstGeom>
                <a:solidFill>
                  <a:srgbClr val="2D6A87"/>
                </a:solidFill>
                <a:ln w="38100">
                  <a:noFill/>
                </a:ln>
              </p:spPr>
              <p:txBody>
                <a:bodyPr anchor="ctr">
                  <a:normAutofit fontScale="92500" lnSpcReduction="10000"/>
                </a:bodyPr>
                <a:lstStyle>
                  <a:lvl1pPr algn="l" defTabSz="914400" rtl="0" eaLnBrk="1" latinLnBrk="0" hangingPunct="1">
                    <a:lnSpc>
                      <a:spcPts val="4200"/>
                    </a:lnSpc>
                    <a:spcBef>
                      <a:spcPct val="0"/>
                    </a:spcBef>
                    <a:buNone/>
                    <a:defRPr sz="3200" b="1" kern="1200">
                      <a:solidFill>
                        <a:schemeClr val="bg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:pPr algn="ctr">
                    <a:lnSpc>
                      <a:spcPct val="100000"/>
                    </a:lnSpc>
                  </a:pPr>
                  <a:r>
                    <a:rPr lang="en-US" sz="1000" b="0" dirty="0">
                      <a:solidFill>
                        <a:schemeClr val="tx2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+mn-cs"/>
                    </a:rPr>
                    <a:t>Asset Register</a:t>
                  </a:r>
                </a:p>
              </p:txBody>
            </p:sp>
          </p:grpSp>
          <p:sp>
            <p:nvSpPr>
              <p:cNvPr id="40" name="Title 63">
                <a:extLst>
                  <a:ext uri="{FF2B5EF4-FFF2-40B4-BE49-F238E27FC236}">
                    <a16:creationId xmlns:a16="http://schemas.microsoft.com/office/drawing/2014/main" id="{737D2C49-B929-041B-201E-DD35610D338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040924" y="934984"/>
                <a:ext cx="720000" cy="360000"/>
              </a:xfrm>
              <a:prstGeom prst="rect">
                <a:avLst/>
              </a:prstGeom>
              <a:solidFill>
                <a:srgbClr val="2D6A87"/>
              </a:solidFill>
              <a:ln w="38100">
                <a:noFill/>
              </a:ln>
            </p:spPr>
            <p:txBody>
              <a:bodyPr anchor="ctr">
                <a:normAutofit fontScale="92500" lnSpcReduction="10000"/>
              </a:bodyPr>
              <a:lstStyle>
                <a:lvl1pPr algn="l" defTabSz="914400" rtl="0" eaLnBrk="1" latinLnBrk="0" hangingPunct="1">
                  <a:lnSpc>
                    <a:spcPts val="4200"/>
                  </a:lnSpc>
                  <a:spcBef>
                    <a:spcPct val="0"/>
                  </a:spcBef>
                  <a:buNone/>
                  <a:defRPr sz="3200" b="1" kern="1200">
                    <a:solidFill>
                      <a:schemeClr val="bg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00000"/>
                  </a:lnSpc>
                </a:pPr>
                <a:r>
                  <a:rPr lang="en-US" sz="1000" b="0" dirty="0">
                    <a:solidFill>
                      <a:schemeClr val="tx2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rPr>
                  <a:t>Account Manager</a:t>
                </a:r>
              </a:p>
            </p:txBody>
          </p:sp>
        </p:grpSp>
        <p:sp>
          <p:nvSpPr>
            <p:cNvPr id="21" name="Title 63">
              <a:extLst>
                <a:ext uri="{FF2B5EF4-FFF2-40B4-BE49-F238E27FC236}">
                  <a16:creationId xmlns:a16="http://schemas.microsoft.com/office/drawing/2014/main" id="{1FF77A66-9E00-29D9-CD29-12EAADC01633}"/>
                </a:ext>
              </a:extLst>
            </p:cNvPr>
            <p:cNvSpPr txBox="1">
              <a:spLocks/>
            </p:cNvSpPr>
            <p:nvPr/>
          </p:nvSpPr>
          <p:spPr>
            <a:xfrm>
              <a:off x="1437809" y="932141"/>
              <a:ext cx="1440000" cy="360000"/>
            </a:xfrm>
            <a:prstGeom prst="rect">
              <a:avLst/>
            </a:prstGeom>
            <a:solidFill>
              <a:srgbClr val="2D6A87"/>
            </a:solidFill>
            <a:ln w="38100">
              <a:noFill/>
            </a:ln>
          </p:spPr>
          <p:txBody>
            <a:bodyPr anchor="ctr">
              <a:normAutofit fontScale="77500" lnSpcReduction="20000"/>
            </a:bodyPr>
            <a:lstStyle>
              <a:lvl1pPr algn="l" defTabSz="914400" rtl="0" eaLnBrk="1" latinLnBrk="0" hangingPunct="1">
                <a:lnSpc>
                  <a:spcPts val="4200"/>
                </a:lnSpc>
                <a:spcBef>
                  <a:spcPct val="0"/>
                </a:spcBef>
                <a:buNone/>
                <a:defRPr sz="3200" b="1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>
                <a:lnSpc>
                  <a:spcPct val="100000"/>
                </a:lnSpc>
              </a:pPr>
              <a:r>
                <a:rPr lang="en-US" sz="1000" dirty="0">
                  <a:solidFill>
                    <a:schemeClr val="accent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Risk Based Inspection Planning</a:t>
              </a:r>
            </a:p>
          </p:txBody>
        </p:sp>
        <p:sp>
          <p:nvSpPr>
            <p:cNvPr id="22" name="Title 63">
              <a:extLst>
                <a:ext uri="{FF2B5EF4-FFF2-40B4-BE49-F238E27FC236}">
                  <a16:creationId xmlns:a16="http://schemas.microsoft.com/office/drawing/2014/main" id="{020AC631-B73E-0779-2996-8BA1B1FECBA4}"/>
                </a:ext>
              </a:extLst>
            </p:cNvPr>
            <p:cNvSpPr txBox="1">
              <a:spLocks/>
            </p:cNvSpPr>
            <p:nvPr/>
          </p:nvSpPr>
          <p:spPr>
            <a:xfrm>
              <a:off x="2877809" y="932141"/>
              <a:ext cx="720000" cy="360000"/>
            </a:xfrm>
            <a:prstGeom prst="rect">
              <a:avLst/>
            </a:prstGeom>
            <a:solidFill>
              <a:srgbClr val="2D6A87"/>
            </a:solidFill>
            <a:ln w="38100">
              <a:noFill/>
            </a:ln>
          </p:spPr>
          <p:txBody>
            <a:bodyPr anchor="ctr">
              <a:normAutofit fontScale="92500" lnSpcReduction="10000"/>
            </a:bodyPr>
            <a:lstStyle>
              <a:lvl1pPr algn="l" defTabSz="914400" rtl="0" eaLnBrk="1" latinLnBrk="0" hangingPunct="1">
                <a:lnSpc>
                  <a:spcPts val="4200"/>
                </a:lnSpc>
                <a:spcBef>
                  <a:spcPct val="0"/>
                </a:spcBef>
                <a:buNone/>
                <a:defRPr sz="3200" b="1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>
                <a:lnSpc>
                  <a:spcPct val="100000"/>
                </a:lnSpc>
              </a:pPr>
              <a:r>
                <a:rPr lang="en-US" sz="1000" b="0" dirty="0">
                  <a:solidFill>
                    <a:schemeClr val="tx2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Add</a:t>
              </a:r>
            </a:p>
            <a:p>
              <a:pPr algn="ctr">
                <a:lnSpc>
                  <a:spcPct val="100000"/>
                </a:lnSpc>
              </a:pPr>
              <a:r>
                <a:rPr lang="en-US" sz="1000" b="0" dirty="0">
                  <a:solidFill>
                    <a:schemeClr val="tx2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Module</a:t>
              </a:r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2BC1E88E-6EE2-6E8C-DCCD-59E7D89F13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2608169" y="1237874"/>
            <a:ext cx="360000" cy="323076"/>
          </a:xfrm>
          <a:prstGeom prst="ellipse">
            <a:avLst/>
          </a:prstGeom>
          <a:ln w="3175" cap="rnd">
            <a:solidFill>
              <a:srgbClr val="00B050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A7B1024E-693C-BC21-B418-3C46B143B481}"/>
              </a:ext>
            </a:extLst>
          </p:cNvPr>
          <p:cNvGrpSpPr/>
          <p:nvPr/>
        </p:nvGrpSpPr>
        <p:grpSpPr>
          <a:xfrm>
            <a:off x="5437775" y="3173884"/>
            <a:ext cx="2160000" cy="2109669"/>
            <a:chOff x="5437775" y="3173884"/>
            <a:chExt cx="2160000" cy="2109669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41100AE-F4B9-7930-1F15-A0783E4D3A4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5833506" y="3173884"/>
              <a:ext cx="1368539" cy="1800000"/>
            </a:xfrm>
            <a:prstGeom prst="rect">
              <a:avLst/>
            </a:prstGeom>
          </p:spPr>
        </p:pic>
        <p:sp>
          <p:nvSpPr>
            <p:cNvPr id="11" name="Title 63">
              <a:extLst>
                <a:ext uri="{FF2B5EF4-FFF2-40B4-BE49-F238E27FC236}">
                  <a16:creationId xmlns:a16="http://schemas.microsoft.com/office/drawing/2014/main" id="{7419BE48-90AC-38EB-9EB4-382B798E1D19}"/>
                </a:ext>
              </a:extLst>
            </p:cNvPr>
            <p:cNvSpPr txBox="1">
              <a:spLocks/>
            </p:cNvSpPr>
            <p:nvPr/>
          </p:nvSpPr>
          <p:spPr>
            <a:xfrm>
              <a:off x="5437775" y="5033291"/>
              <a:ext cx="2160000" cy="250262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>
              <a:noAutofit/>
            </a:bodyPr>
            <a:lstStyle>
              <a:lvl1pPr algn="l" defTabSz="914400" rtl="0" eaLnBrk="1" latinLnBrk="0" hangingPunct="1">
                <a:lnSpc>
                  <a:spcPts val="4200"/>
                </a:lnSpc>
                <a:spcBef>
                  <a:spcPct val="0"/>
                </a:spcBef>
                <a:buNone/>
                <a:defRPr sz="3200" b="1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>
                <a:lnSpc>
                  <a:spcPct val="100000"/>
                </a:lnSpc>
              </a:pPr>
              <a:r>
                <a:rPr lang="en-US" sz="1050" dirty="0">
                  <a:solidFill>
                    <a:schemeClr val="tx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Module Locked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90227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1_Office Theme">
  <a:themeElements>
    <a:clrScheme name="Custom 2">
      <a:dk1>
        <a:sysClr val="windowText" lastClr="000000"/>
      </a:dk1>
      <a:lt1>
        <a:srgbClr val="3D485D"/>
      </a:lt1>
      <a:dk2>
        <a:srgbClr val="FFFFFF"/>
      </a:dk2>
      <a:lt2>
        <a:srgbClr val="85898F"/>
      </a:lt2>
      <a:accent1>
        <a:srgbClr val="72C6EF"/>
      </a:accent1>
      <a:accent2>
        <a:srgbClr val="5A6783"/>
      </a:accent2>
      <a:accent3>
        <a:srgbClr val="B5B5B5"/>
      </a:accent3>
      <a:accent4>
        <a:srgbClr val="B5B5B5"/>
      </a:accent4>
      <a:accent5>
        <a:srgbClr val="B5B5B5"/>
      </a:accent5>
      <a:accent6>
        <a:srgbClr val="B5B5B5"/>
      </a:accent6>
      <a:hlink>
        <a:srgbClr val="B5B5B5"/>
      </a:hlink>
      <a:folHlink>
        <a:srgbClr val="B5B5B5"/>
      </a:folHlink>
    </a:clrScheme>
    <a:fontScheme name="Style_Awesome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24209</TotalTime>
  <Words>6070</Words>
  <Application>Microsoft Office PowerPoint</Application>
  <PresentationFormat>Widescreen</PresentationFormat>
  <Paragraphs>1665</Paragraphs>
  <Slides>27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27</vt:i4>
      </vt:variant>
    </vt:vector>
  </HeadingPairs>
  <TitlesOfParts>
    <vt:vector size="35" baseType="lpstr">
      <vt:lpstr>Arial</vt:lpstr>
      <vt:lpstr>Calibri</vt:lpstr>
      <vt:lpstr>Calibri Light</vt:lpstr>
      <vt:lpstr>Courier New</vt:lpstr>
      <vt:lpstr>Verdana</vt:lpstr>
      <vt:lpstr>Wingdings</vt:lpstr>
      <vt:lpstr>1_Office Theme</vt:lpstr>
      <vt:lpstr>2_Office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Philip</dc:creator>
  <cp:lastModifiedBy>Wira Herucakra</cp:lastModifiedBy>
  <cp:revision>626</cp:revision>
  <dcterms:created xsi:type="dcterms:W3CDTF">2018-10-15T05:46:03Z</dcterms:created>
  <dcterms:modified xsi:type="dcterms:W3CDTF">2026-07-06T02:09:47Z</dcterms:modified>
</cp:coreProperties>
</file>